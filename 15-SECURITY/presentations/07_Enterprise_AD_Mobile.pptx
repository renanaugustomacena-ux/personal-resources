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Enterprise Security —</a:t>
            </a:r>
            <a:br/>
            <a:r>
              <a:t>Active Directory, Windows &amp;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Domains 14-15  ·  AD Attacks  ·  Kerberos  ·  ADCS  ·  iOS/Android  ·  5G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3383280"/>
            <a:ext cx="66751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0584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97280" y="1280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1.  Active Directory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2.  AD Attack Kill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3.  Kerberoasting &amp; AS-REP Roasting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4.  AD CS Abuse (ESC1-ESC8)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5.  Delegation Attacks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6.  NTLM Coercion &amp; Relay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023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7.  Golden/Silver Ticket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8.  DCSync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9.  Exchange/M365 Attack Surface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94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10.  Android Security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52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11.  iOS Security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6309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12.  iOS Exploit Chains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6766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13.  Mobile Threats &amp; 5G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7223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14.  Enterprise Mobile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Active Directory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657600" y="1188720"/>
            <a:ext cx="45720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Forest: corp.example.com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32004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Domain: na.corp.example.com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103120"/>
            <a:ext cx="32004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Domain: eu.corp.example.com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103120"/>
            <a:ext cx="27432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Child / Trust</a:t>
            </a:r>
          </a:p>
        </p:txBody>
      </p:sp>
      <p:sp>
        <p:nvSpPr>
          <p:cNvPr id="8" name="Down Arrow 7"/>
          <p:cNvSpPr/>
          <p:nvPr/>
        </p:nvSpPr>
        <p:spPr>
          <a:xfrm>
            <a:off x="2743200" y="1737360"/>
            <a:ext cx="274320" cy="274320"/>
          </a:xfrm>
          <a:prstGeom prst="down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6400800" y="1737360"/>
            <a:ext cx="274320" cy="274320"/>
          </a:xfrm>
          <a:prstGeom prst="down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Domain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NTDS.dit, SYSVOL, Group Policy, Kerberos KDC, LDAP, DNS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Organizational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20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Hierarchical containers for users, computers, groups. GPO linkage.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Trusts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233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Parent-child (transitive), forest (selective), external (NTLM). Direction matters.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8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Group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26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GPO → SYSVOL → client pull. Attack: GPO abuse, SYSVOL share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2920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ADCS / PKI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029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Enterprise CA, certificate templates, auto-enrollment. ESC1-ESC8 vulns.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AD Attack Kill 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201168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Initial Access</a:t>
            </a:r>
            <a:br/>
            <a:r>
              <a:t>Phishing, RDP, VPN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164592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51760" y="1280160"/>
            <a:ext cx="201168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Reconnaissance</a:t>
            </a:r>
            <a:br/>
            <a:r>
              <a:t>BloodHound, LDAP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880" y="164592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201168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Privilege Escalation</a:t>
            </a:r>
            <a:br/>
            <a:r>
              <a:t>Kerberoast, ADCS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64592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1280160"/>
            <a:ext cx="201168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Lateral Movement</a:t>
            </a:r>
            <a:br/>
            <a:r>
              <a:t>PsExec, WMI, RDP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09760" y="164592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1280160"/>
            <a:ext cx="201168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Domain Dominance</a:t>
            </a:r>
            <a:br/>
            <a:r>
              <a:t>DCSync, Golden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Tools at each stage:</a:t>
            </a:r>
            <a:br/>
            <a:r>
              <a:t>▸ Initial Access: phishing (Evilginx2, GoPhish), exposed RDP (Shodan), VPN cred stuffing</a:t>
            </a:r>
            <a:br/>
            <a:r>
              <a:t>▸ Recon: BloodHound/SharpHound (graph-based path finding), ADRecon, ldapsearch, PowerView</a:t>
            </a:r>
            <a:br/>
            <a:r>
              <a:t>▸ PrivEsc: Rubeus (Kerberoast/AS-REP), Certify/Certipy (ADCS), PrintSpooler/EfsPotato</a:t>
            </a:r>
            <a:br/>
            <a:r>
              <a:t>▸ Lateral: Impacket (psexec/wmiexec/smbexec), CrackMapExec, Evil-WinRM, PsExec</a:t>
            </a:r>
            <a:br/>
            <a:r>
              <a:t>▸ Dominance: Mimikatz (DCSync, Golden/Silver), Impacket secretsdump, DCShadow</a:t>
            </a:r>
            <a:br/>
            <a:br/>
            <a:r>
              <a:t>Detection: monitor Kerberos TGS requests (4769), LDAP queries for sensitive attributes,</a:t>
            </a:r>
            <a:br/>
            <a:r>
              <a:t>DRSUAPI replication (4662), lateral movement signatures (4624 type 3/10), honey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Kerberoasting Attack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Any domain</a:t>
            </a:r>
            <a:br/>
            <a:r>
              <a:t>user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Request TGS</a:t>
            </a:r>
            <a:br/>
            <a:r>
              <a:t>for SPN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KDC returns</a:t>
            </a:r>
            <a:br/>
            <a:r>
              <a:t>RC4/AES ticket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Extract</a:t>
            </a:r>
            <a:br/>
            <a:r>
              <a:t>ticket hash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Offline crack</a:t>
            </a:r>
            <a:br/>
            <a:r>
              <a:t>(hashcat)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Any authenticated domain user can request a TGS ticket for any SPN.</a:t>
            </a:r>
            <a:br/>
            <a:r>
              <a:t>The TGS is encrypted with the service account's NTLM hash → offline crackable.</a:t>
            </a:r>
            <a:br/>
            <a:br/>
            <a:r>
              <a:t>Tools: Rubeus kerberoast, Impacket GetUserSPNs.py, PowerView Get-DomainSPNTicket</a:t>
            </a:r>
            <a:br/>
            <a:r>
              <a:t>Crack: hashcat -m 13100 (RC4) or -m 19700 (AES256) — RC4 tickets crack ~10x faster.</a:t>
            </a:r>
            <a:br/>
            <a:br/>
            <a:r>
              <a:t>Defense:</a:t>
            </a:r>
            <a:br/>
            <a:r>
              <a:t>▸ Enforce AES-only encryption (harder to crack, larger key space)</a:t>
            </a:r>
            <a:br/>
            <a:r>
              <a:t>▸ 25+ character random passwords on service accounts</a:t>
            </a:r>
            <a:br/>
            <a:r>
              <a:t>▸ gMSA (Group Managed Service Accounts) — auto-rotated 120+ char passwords</a:t>
            </a:r>
            <a:br/>
            <a:r>
              <a:t>▸ Monitor event 4769 for anomalous TGS request patterns (many SPNs, RC4 downgrade)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AS-REP Roasting Attack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Find users with</a:t>
            </a:r>
            <a:br/>
            <a:r>
              <a:t>DONT_REQ_PREAUTH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Send AS-REQ</a:t>
            </a:r>
            <a:br/>
            <a:r>
              <a:t>without pre-auth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KDC returns</a:t>
            </a:r>
            <a:br/>
            <a:r>
              <a:t>AS-REP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Extract encrypted</a:t>
            </a:r>
            <a:br/>
            <a:r>
              <a:t>timestamp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Offline crack</a:t>
            </a:r>
            <a:br/>
            <a:r>
              <a:t>(hashcat -m 18200)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Kerberos pre-authentication: client proves identity by encrypting timestamp with password hash.</a:t>
            </a:r>
            <a:br/>
            <a:r>
              <a:t>DONT_REQUIRE_PREAUTH flag disables this → KDC sends encrypted data without proof of identity.</a:t>
            </a:r>
            <a:br/>
            <a:br/>
            <a:r>
              <a:t>Unlike Kerberoasting, requires specific account misconfiguration. Often legacy accounts.</a:t>
            </a:r>
            <a:br/>
            <a:r>
              <a:t>Detection: monitor event 4768 with pre-authentication failure, audit DONT_REQUIRE_PREAUTH flag.</a:t>
            </a:r>
            <a:br/>
            <a:r>
              <a:t>Fix: remove DONT_REQUIRE_PREAUTH from all accounts. Strong passwords on any remaining.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AD CS Abuse — ESC1 through ESC8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ESC1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Template allows SAN (Subject Alt Name) + low-priv enrollment → impersonate any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ESC2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361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Template has Any Purpose EKU or SubCA → create arbitrary certificates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75104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ESC3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751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Certificate request agent template → enroll on behalf of others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14016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ESC4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1401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Template ACL misconfiguration → modify template to add SAN/EKU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52928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ESC6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52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CA has EDITF_ATTRIBUTESUBJECTALTNAME2 flag → SAN in any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ESC7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91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CA ACL allows ManageCA/ManageCertificates → approve pending + ESC6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30752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ESC8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307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HTTP enrollment endpoint → NTLM relay to CA web enrollment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9664"/>
            <a:ext cx="9144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ESC9-13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6966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Newer variants: CT_FLAG_NO_SECURITY_EXTENSION, schema abuse, OID group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0016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</a:defRPr>
            </a:pPr>
            <a:r>
              <a:t>Tools: Certify (C#), Certipy (Python), ForgeCert. ESC1 = most common and most impactful.</a:t>
            </a:r>
            <a:br/>
            <a:r>
              <a:t>Defense: audit templates (Certify find), remove SAN from unnecessary templates, restrict enrollment.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Kerberos Delegation Attacks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188720"/>
            <a:ext cx="201168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4444"/>
                </a:solidFill>
              </a:defRPr>
            </a:pPr>
            <a:r>
              <a:t>Unconstrained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1887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Service stores user's full TGT. Compromise service → impersonate anyone who connected.</a:t>
            </a:r>
            <a:br/>
            <a:r>
              <a:t>Coerce (PrinterBug/PetitPotam) DC → DC TGT → DCSync.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Constrained (S4U)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msDS-AllowedToDelegateTo specifies target SPNs.</a:t>
            </a:r>
            <a:br/>
            <a:r>
              <a:t>S4U2Self + S4U2Proxy → get ticket for allowed service as any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01168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00FF88"/>
                </a:solidFill>
              </a:defRPr>
            </a:pPr>
            <a:r>
              <a:t>RBCD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8346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msDS-AllowedToActOnBehalfOfOtherIdentity on TARGET (not source).</a:t>
            </a:r>
            <a:br/>
            <a:r>
              <a:t>If you can write this attribute → full S4U chain → access target as any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RBCD is the most abused because:</a:t>
            </a:r>
            <a:br/>
            <a:r>
              <a:t>▸ Any user with WriteProperty on a computer's msDS-AllowedToActOnBehalfOfOtherIdentity can set it</a:t>
            </a:r>
            <a:br/>
            <a:r>
              <a:t>▸ Computer accounts created by users (default: 10 per user via ms-DS-MachineAccountQuota)</a:t>
            </a:r>
            <a:br/>
            <a:r>
              <a:t>▸ No need for SeEnableDelegationPrivilege (required for unconstrained/constrained)</a:t>
            </a:r>
            <a:br/>
            <a:br/>
            <a:r>
              <a:t>Tools: Rubeus s4u, Impacket getST.py, StandIn.exe</a:t>
            </a:r>
            <a:br/>
            <a:r>
              <a:t>Detection: monitor 4662 for writes to msDS-AllowedToActOnBehalfOfOtherIdentity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NTLM Coercion &amp; Relay Attacks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18872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PetitPotam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EfsRpcOpenFileRaw → DC authenticates to attacker. CVE-2021-36942.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PrinterBug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916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RpcRemoteFindFirstPrinterChangeNotification → force auth callback.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DFSCoerce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945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NetrDfsRemoveStdRoot → abuse DFS namespace for coercion.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ShadowCoerce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974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MS-FSRVP FileServerVSSAgent → VSS-based coercion.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Relay chain: Coerce DC → relay NTLM to AD CS (ESC8) → get DC certificate → authenticate as DC → DCSync.</a:t>
            </a:r>
            <a:br/>
            <a:br/>
            <a:r>
              <a:t>This is a complete domain takeover from any network position that can reach the DC.</a:t>
            </a:r>
            <a:br/>
            <a:br/>
            <a:r>
              <a:t>Defense:</a:t>
            </a:r>
            <a:br/>
            <a:r>
              <a:t>▸ Enforce EPA (Extended Protection for Authentication) on all services</a:t>
            </a:r>
            <a:br/>
            <a:r>
              <a:t>▸ Require LDAP signing and LDAP channel binding</a:t>
            </a:r>
            <a:br/>
            <a:r>
              <a:t>▸ Disable NTLM where possible (Kerberos only)</a:t>
            </a:r>
            <a:br/>
            <a:r>
              <a:t>▸ Remove HTTP enrollment endpoints from CAs</a:t>
            </a:r>
            <a:br/>
            <a:r>
              <a:t>▸ Monitor 4624 logon events for NTLM from DC computer accounts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Golden Ticket vs Silver Ticket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188720"/>
            <a:ext cx="530352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Golden Ticket (TGT forgery)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Requires: krbtgt NTLM hash (from DCSync)</a:t>
            </a:r>
            <a:br/>
            <a:r>
              <a:t>▸ Forges TGT for ANY user, ANY group</a:t>
            </a:r>
            <a:br/>
            <a:r>
              <a:t>▸ Valid for 10 years (default TGT lifetime)</a:t>
            </a:r>
            <a:br/>
            <a:r>
              <a:t>▸ Works across entire domain</a:t>
            </a:r>
            <a:br/>
            <a:r>
              <a:t>▸ Survives password resets (except krbtgt 2x)</a:t>
            </a:r>
            <a:br/>
            <a:r>
              <a:t>▸ Detection: TGT with unusual lifetime, no AS-REQ</a:t>
            </a:r>
            <a:br/>
            <a:r>
              <a:t>▸ Remediation: reset krbtgt TWICE (12h apart)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BB86FC"/>
                </a:solidFill>
              </a:defRPr>
            </a:pPr>
            <a:r>
              <a:t>Silver Ticket (TGS forgery)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Requires: service account NTLM hash</a:t>
            </a:r>
            <a:br/>
            <a:r>
              <a:t>▸ Forges TGS for specific service only</a:t>
            </a:r>
            <a:br/>
            <a:r>
              <a:t>▸ Never touches KDC → harder to detect</a:t>
            </a:r>
            <a:br/>
            <a:r>
              <a:t>▸ Limited to single service (CIFS, HTTP, etc.)</a:t>
            </a:r>
            <a:br/>
            <a:r>
              <a:t>▸ PAC validation bypass (service trusts TGS)</a:t>
            </a:r>
            <a:br/>
            <a:r>
              <a:t>▸ Detection: TGS without corresponding TGT</a:t>
            </a:r>
            <a:br/>
            <a:r>
              <a:t>▸ Defense: enable PAC validation on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Diamond Ticket: modify legitimate TGT (Rubeus diamond) — harder to detect than Golden.</a:t>
            </a:r>
            <a:br/>
            <a:r>
              <a:t>Sapphire Ticket: S4U2Self with krbtgt → get legitimate PAC → even stealthier.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DCSync Attack Mechanism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Attacker with</a:t>
            </a:r>
            <a:br/>
            <a:r>
              <a:t>replication rights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1554480"/>
            <a:ext cx="36576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DRS GetNCChanges</a:t>
            </a:r>
            <a:br/>
            <a:r>
              <a:t>(DRSUAPI)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1554480"/>
            <a:ext cx="36576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DC replicates</a:t>
            </a:r>
            <a:br/>
            <a:r>
              <a:t>NTDS.dit 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61120" y="1554480"/>
            <a:ext cx="36576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Extract all</a:t>
            </a:r>
            <a:br/>
            <a:r>
              <a:t>hashes (krbtgt)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Required privileges: DS-Replication-Get-Changes + DS-Replication-Get-Changes-All</a:t>
            </a:r>
            <a:br/>
            <a:r>
              <a:t>Default holders: Domain Admins, Enterprise Admins, DC computer accounts, replication partners.</a:t>
            </a:r>
            <a:br/>
            <a:br/>
            <a:r>
              <a:t>Tools: Mimikatz lsadump::dcsync, Impacket secretsdump.py, DSInternals</a:t>
            </a:r>
            <a:br/>
            <a:br/>
            <a:r>
              <a:t>Detection:</a:t>
            </a:r>
            <a:br/>
            <a:r>
              <a:t>▸ Event 4662: DS-Replication operations from non-DC source</a:t>
            </a:r>
            <a:br/>
            <a:r>
              <a:t>▸ Network: DRSUAPI traffic from workstation IPs</a:t>
            </a:r>
            <a:br/>
            <a:r>
              <a:t>▸ Honey: deploy decoy replication rights → alert on use</a:t>
            </a:r>
            <a:br/>
            <a:br/>
            <a:r>
              <a:t>DCSync extracts: NTLM hashes, Kerberos keys, password history, supplemental credentials.</a:t>
            </a:r>
            <a:br/>
            <a:r>
              <a:t>Follow-up: forge Golden Ticket (krbtgt), crack passwords offline, access any resource.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Exchange Server &amp; M365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ProxyLogon (CVE-2021-26855)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0972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SSRF → bypass auth → write webshell. Pre-auth RCE. HAFNIUM campaign.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81912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ProxyShell (CVE-2021-34473)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8191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SSRF + path confusion + PowerShell deserialization. Pre-auth 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66544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ProxyNotShell (CVE-2022-41040)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6654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SSRF + RCE but requires authentication. Abuses Autodiscover.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51176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OWASSRF (CVE-2022-41080)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5117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OWA SSRF → bypass ProxyNotShell patches. Privilege escalation.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35808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M365: Consent Phishing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3580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Trick user into granting app permissions → read mail, files, calendar.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M365: Token Theft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Steal OAuth refresh token → persistent access. AiTM proxy (Evilginx2).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05072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M365: Business Email Compromise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00507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Compromised mailbox → invoice fraud, wire transfer redirect.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Mobile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Android Security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01168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Each app = unique UID + separate process. Permission model (runtime + install).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201168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Activity Manager, Package Manager, Content Providers. Intent-based IPC.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201168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ART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AOT + JIT compilation. Memory safety improvements in each release.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201168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HAL / 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71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Camera, Audio, Sensors. Vendor blobs. HIDL/AIDL interfaces.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201168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Linux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66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SELinux (mandatory), seccomp-bpf, dm-verity, GKI (Generic Kernel Image).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Security features by version:</a:t>
            </a:r>
            <a:br/>
            <a:r>
              <a:t>▸ Android 10: scoped storage, BiometricPrompt API, TLS 1.3 default</a:t>
            </a:r>
            <a:br/>
            <a:r>
              <a:t>▸ Android 12: approximate location, Rust in platform, Bluetooth privacy</a:t>
            </a:r>
            <a:br/>
            <a:r>
              <a:t>▸ Android 13: photo picker, notification permissions, per-app language</a:t>
            </a:r>
            <a:br/>
            <a:r>
              <a:t>▸ Android 14: credential manager, MTE support, minimum SDK enforcement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Android Application Sandbox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09728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Process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Each app runs in own process with unique Linux UID/GID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SELinux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Mandatory Access Control — app_data_file type for each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Seccomp-BPF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Restrict available syscalls per process (zygote policy)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App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/data/data/&lt;package&gt; — only readable by app's UID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Verified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dm-verity ensures system partition integrity. AVB 2.0.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KeyStore (TEE)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118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Hardware-backed key storage in TrustZone / StrongBox.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Escape vectors: kernel vuln (dirty pipe/COW), driver bugs (GPU/camera), binder deserialization,</a:t>
            </a:r>
            <a:br/>
            <a:r>
              <a:t>WebView RCE → sandbox escape, accessibility service abuse, device admin abuse.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iOS Security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Secure Enclave (SEP)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Separate processor. Key management, biometrics, boot verification. Own 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KTRR / CTRR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Kernel Text Readonly Region — hardware-enforced kernel code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PAC (ARMv8.3)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Pointer Authentication — forward/backward edge CFI in kernel + userspace.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PPL (Page Protection Layer)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Protects code signing enforcement. Kernel can't modify code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Sandbox (Seatbelt)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Per-app sandbox profiles. Mandatory for App Store apps.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Data Protection (NSFileProtection)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118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Per-file encryption classes tied to device passcode + hardware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iOS 16+: Lockdown Mode (reduces attack surface), Rapid Security Response,</a:t>
            </a:r>
            <a:br/>
            <a:r>
              <a:t>WebKit JIT disabled in Lockdown Mode, passkeys (FIDO2).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iOS Exploit Chain 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WebKit</a:t>
            </a:r>
            <a:br/>
            <a:r>
              <a:t>Type Confusion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Renderer</a:t>
            </a:r>
            <a:br/>
            <a:r>
              <a:t>Sandbox Escape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Kernel</a:t>
            </a:r>
            <a:br/>
            <a:r>
              <a:t>Exploit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PAC</a:t>
            </a:r>
            <a:br/>
            <a:r>
              <a:t>Bypass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Persistence</a:t>
            </a:r>
            <a:br/>
            <a:r>
              <a:t>(rare on iOS)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Notable exploit chains:</a:t>
            </a:r>
            <a:br/>
            <a:r>
              <a:t>▸ FORCEDENTRY (NSO/Pegasus, 2021): zero-click iMessage → CoreGraphics integer overflow</a:t>
            </a:r>
            <a:br/>
            <a:r>
              <a:t>  → JBIG2 Turing-complete sandbox → kernel exploit. No user interaction.</a:t>
            </a:r>
            <a:br/>
            <a:r>
              <a:t>▸ BLASTPASS (2023): zero-click iMessage → PassKit attachment → WebP heap overflow.</a:t>
            </a:r>
            <a:br/>
            <a:r>
              <a:t>▸ Operation Triangulation (2023): iMessage → TrueType font → kernel → hardware feature abuse.</a:t>
            </a:r>
            <a:br/>
            <a:br/>
            <a:r>
              <a:t>NSO Pegasus: commercial spyware. Full device compromise. Used against journalists, activists.</a:t>
            </a:r>
            <a:br/>
            <a:r>
              <a:t>Pricing: iOS zero-click chain worth $1.5-2M on exploit market (Zerodium, gray market).</a:t>
            </a:r>
            <a:br/>
            <a:br/>
            <a:r>
              <a:t>Detection: iVerify, Amnesty International MVT, Apple Threat Notifications.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Mobile Attack Vectors — Android vs iOS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5G Security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SUPI → SUCI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Permanent ID (SUPI) encrypted before transmission → SUCI. Prevents IMSI catching.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Network Slicing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002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Isolated virtual networks. Risk: slice isolation bypass, resource exhaustion.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SEPP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Security Edge Protection Proxy — replaces SS7 roaming with TLS+JWS. N32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PRINS/PFCP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User plane function security. GTP-U encapsulation. Risk: UPF bypass.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Edge Computing (MEC)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Compute at network edge. Risk: shared infrastructure, lateral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SBA (Service-Based)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11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HTTP/2+TLS between NFs. Risk: NF impersonation, API abuse.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5G still vulnerable to: downgrade attacks (force 4G/3G fallback), baseband exploits,</a:t>
            </a:r>
            <a:br/>
            <a:r>
              <a:t>rogue gNB, RAN sharing vulnerabilities, O-RAN open interface attacks.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Mobile Malware Family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Enterprise Mobile Defense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MDM (Mobile Device Management)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Enforce policies, remote wipe, certificate deployment. Intune, JAMF, VMware WS1.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MAM (Mobile App Management)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App-level policies without device enrollment. App protection policies, DLP.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MTD (Mobile Threat Defense)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On-device detection: network MitM, malicious apps, OS exploits. Lookout, Zimperium.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Conditional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06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Require device compliance, MFA, location-based access. Azure AD / Entra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App Vetting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Analyze apps before enterprise deployment. SAST/DAST on mobile apps.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Zero Trust Network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11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Per-app VPN, identity-aware proxy. Replace full-device VPN.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Cross-Reference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8: Web security → Exchange/OWA is primary initial access for AD compromise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10: Cloud → Azure AD/Entra ID extends AD attack surface to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11: Malware → Mimikatz, Cobalt Strike used in lateral movement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13: Cryptography → Kerberos, NTLM, certificate-based attacks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17: Physical security → mobile device hardware attacks (JTAG, chip-off)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23: Social engineering → phishing is #1 initial access for AD environments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25: Threat intel → APT groups target AD (APT29, APT41, FIN7)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27: Detection engineering → AD telemetry is core SOC data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