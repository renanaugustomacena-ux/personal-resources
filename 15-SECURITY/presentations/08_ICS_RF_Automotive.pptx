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ICS/OT Security,</a:t>
            </a:r>
            <a:br/>
            <a:r>
              <a:t>RF/SDR &amp; Automotive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</a:defRPr>
            </a:pPr>
            <a:r>
              <a:t>Domains 16, 20-21  ·  Purdue Model  ·  TRITON  ·  SDR  ·  CAN Bus  ·  V2X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3383280"/>
            <a:ext cx="667512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0584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097280" y="1280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1.  Purdue Model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37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2.  ICS Attack Timeline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3.  TRITON Attack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4.  Modbus TCP Protocol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08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5.  ICS Defense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566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6.  ICS Protocol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023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7.  SDR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480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8.  RF Signal 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937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9.  RF Attack Taxonomy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394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10.  Cellular Attack Surface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52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11.  GPS Spoofing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6309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12.  Vehicle Network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6766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13.  CAN Bus Structure &amp; Attacks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7223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14.  Keyless Entry Relay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7680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15.  ADAS Attack Surface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8138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16.  V2X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Purdue Model — ICS/OT Network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097280"/>
            <a:ext cx="10972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Level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0972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Enterprise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0972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ERP, email, internet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972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Level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60020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Site Business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6002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Historian mirror, site scheduling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10972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Level 3.5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10312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DMZ / IDMZ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0312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Data diodes, jump servers, unidirectional gateways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10972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Level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60604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Site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0604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Historian, OPC server, engineering workstation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10972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Level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10896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Area Supervisory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10896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HMI, SCADA server, alarm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10972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Level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36118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Basic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6118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PLC, RTU, DCS controllers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10972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Level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11480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11480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Sensors, actuators, field devices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Critical boundary: Level 3.5 DMZ separates IT (L4-5) from OT (L0-3).</a:t>
            </a:r>
            <a:br/>
            <a:r>
              <a:t>Attackers cross this boundary via: compromised jump servers, dual-homed hosts, USB drives,</a:t>
            </a:r>
            <a:br/>
            <a:r>
              <a:t>vendor remote access, or exposed OPC/SCADA protocols on IT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ICS/OT Attack 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TRITON/TRISIS Attack Chain (2017)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IT Network</a:t>
            </a:r>
            <a:br/>
            <a:r>
              <a:t>Initial Access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Pivot to</a:t>
            </a:r>
            <a:br/>
            <a:r>
              <a:t>OT Network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Engineering</a:t>
            </a:r>
            <a:br/>
            <a:r>
              <a:t>Workstation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Triconex SIS</a:t>
            </a:r>
            <a:br/>
            <a:r>
              <a:t>Controller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Safety Logic</a:t>
            </a:r>
            <a:br/>
            <a:r>
              <a:t>Modified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Target: Schneider Electric Triconex Safety Instrumented System (SIS) at Saudi petrochemical plant.</a:t>
            </a:r>
            <a:br/>
            <a:r>
              <a:t>Goal: Disable safety system → allow physical damage to plant. Could cause explosion/release.</a:t>
            </a:r>
            <a:br/>
            <a:br/>
            <a:r>
              <a:t>Attack details:</a:t>
            </a:r>
            <a:br/>
            <a:r>
              <a:t>▸ Custom framework: TRITON/TriStation protocol reverse-engineered</a:t>
            </a:r>
            <a:br/>
            <a:r>
              <a:t>▸ Injected rogue Triconex program via TriStation protocol (UDP port 1502)</a:t>
            </a:r>
            <a:br/>
            <a:r>
              <a:t>▸ Exploited 0-day in Triconex firmware (CVE-2018-7522)</a:t>
            </a:r>
            <a:br/>
            <a:r>
              <a:t>▸ Failed: logic bug caused SIS to enter safe state → attack detected</a:t>
            </a:r>
            <a:br/>
            <a:br/>
            <a:r>
              <a:t>Attribution: XENOTIME / TEMP.Veles → linked to Russian Central Scientific Research Institute (TsNIIkhM)</a:t>
            </a:r>
            <a:br/>
            <a:br/>
            <a:r>
              <a:t>First known attack specifically targeting safety systems — intent was physical harm.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Modbus TCP Protocol Structure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64592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Transaction ID</a:t>
            </a:r>
            <a:br/>
            <a:r>
              <a:t>(2 bytes)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280160"/>
            <a:ext cx="164592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Protocol ID</a:t>
            </a:r>
            <a:br/>
            <a:r>
              <a:t>(2 bytes, 0x0000)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280160"/>
            <a:ext cx="164592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Length</a:t>
            </a:r>
            <a:br/>
            <a:r>
              <a:t>(2 bytes)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280160"/>
            <a:ext cx="164592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Unit ID</a:t>
            </a:r>
            <a:br/>
            <a:r>
              <a:t>(1 byte)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80160"/>
            <a:ext cx="164592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Function Code</a:t>
            </a:r>
            <a:br/>
            <a:r>
              <a:t>(1 byte)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280160"/>
            <a:ext cx="164592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Data</a:t>
            </a:r>
            <a:br/>
            <a:r>
              <a:t>(N bytes)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Common Function Codes: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FC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Read Coils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560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FC 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Write Single Coil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FC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Read Discrete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880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FC 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Write Single Register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FC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Read Holding Registers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FC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Write Multiple Coils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FC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Read Input Registers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</a:defRPr>
            </a:pPr>
            <a:r>
              <a:t>FC 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Write Multiple Registers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Modbus has NO authentication, NO encryption, NO integrity checking.</a:t>
            </a:r>
            <a:br/>
            <a:r>
              <a:t>Any device on the network can read/write any register on any PLC.</a:t>
            </a:r>
            <a:br/>
            <a:br/>
            <a:r>
              <a:t>Attack: read sensor values (recon), write coils/registers (manipulate process),</a:t>
            </a:r>
            <a:br/>
            <a:r>
              <a:t>DoS via malformed packets, man-in-the-middle to forge responses.</a:t>
            </a:r>
            <a:br/>
            <a:r>
              <a:t>Defense: network segmentation, Modbus-aware IDS (e.g., Suricata), data diodes, allowlisting.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ICS/OT Defense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Data Diodes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0972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Unidirectional network gateways. Physically prevent inbound traffic to OT. Waterfall, OPSWAT.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81912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IDMZ (Industrial DMZ)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8191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Segmentation between IT/OT. Jump servers, bastion hosts, no direct routing.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66544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OT IDS/IPS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066544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Deep packet inspection for ICS protocols. Claroty, Nozomi Networks, Dragos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51176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Asset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51176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Passive discovery of all OT assets. MAC, IP, firmware versions, vulnerabilities.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35808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Allowlisting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3580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Application allowlisting on HMI/EWS. CyberArk, Carbon Black, SELinux.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Patch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5204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Vendor-validated patches only. Test in staging OT environment. Scheduled outage windows.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05072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Backup &amp;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005072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Offline backups of PLC logic, HMI configs, historian data. Air-gapped.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ICS Protocol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RF and SDR Security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0" y="3840480"/>
            <a:ext cx="4846320" cy="0"/>
          </a:xfrm>
          <a:prstGeom prst="line">
            <a:avLst/>
          </a:prstGeom>
          <a:ln w="19050">
            <a:solidFill>
              <a:srgbClr val="BB8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Software Defined Radio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Antenna</a:t>
            </a:r>
            <a:br/>
            <a:r>
              <a:t>(Rx/Tx)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RF Frontend</a:t>
            </a:r>
            <a:br/>
            <a:r>
              <a:t>(LNA, Filter)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ADC / DAC</a:t>
            </a:r>
            <a:br/>
            <a:r>
              <a:t>Conversion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Digital Signal</a:t>
            </a:r>
            <a:br/>
            <a:r>
              <a:t>Processing (FPGA)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Host Software</a:t>
            </a:r>
            <a:br/>
            <a:r>
              <a:t>(GNU Radio)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RTL-SDR ($25)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Rx only, 24-1766 MHz, 8-bit ADC, 2.4 MSPS. Great for beginners.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99232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HackRF One ($300)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992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Tx+Rx, 1-6000 MHz, 8-bit, 20 MSPS. Half-duplex. Most popular.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38144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USRP B200 ($1000+)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3814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Full duplex, 70-6000 MHz, 12-bit, 56 MSPS. Professional.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77056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BladeRF 2.0 ($480)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7705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Full duplex, 47-6000 MHz, 12-bit, 61.44 MSPS. FPGA flexibility.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15968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LimeSDR ($300)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3159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Full duplex, 100 kHz-3.8 GHz, 12-bit, 61.44 MSPS. Open 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RF Signal Processing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RF</a:t>
            </a:r>
            <a:br/>
            <a:r>
              <a:t>Capture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IQ</a:t>
            </a:r>
            <a:br/>
            <a:r>
              <a:t>Recording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Demodulation</a:t>
            </a:r>
            <a:br/>
            <a:r>
              <a:t>(AM/FM/PSK)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Protocol</a:t>
            </a:r>
            <a:br/>
            <a:r>
              <a:t>Decoding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Data</a:t>
            </a:r>
            <a:br/>
            <a: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GNU Radio flow: Source → Channel Filter → Demod → Clock Recovery → Slicer → Decoder</a:t>
            </a:r>
            <a:br/>
            <a:br/>
            <a:r>
              <a:t>Key analysis tools:</a:t>
            </a:r>
            <a:br/>
            <a:r>
              <a:t>▸ Inspectrum: spectrogram analysis, manual bit extraction</a:t>
            </a:r>
            <a:br/>
            <a:r>
              <a:t>▸ Universal Radio Hacker (URH): automated signal analysis and protocol RE</a:t>
            </a:r>
            <a:br/>
            <a:r>
              <a:t>▸ SigDigger: real-time signal inspection with GNU Radio backend</a:t>
            </a:r>
            <a:br/>
            <a:r>
              <a:t>▸ rtl_433: automated decoding of 400+ IoT protocols (weather stations, TPMS, doorbells)</a:t>
            </a:r>
            <a:br/>
            <a:r>
              <a:t>▸ gr-lora / gr-lorawan: LoRa demodulation and decoding</a:t>
            </a:r>
            <a:br/>
            <a:br/>
            <a:r>
              <a:t>IQ data: In-phase + Quadrature representation of RF signal. Complex samples.</a:t>
            </a:r>
            <a:br/>
            <a:r>
              <a:t>Sample rate = bandwidth. Nyquist: sample at ≥ 2× signal bandwidth.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RF Protocol Attack Taxonomy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09728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0972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Record and retransmit valid signal. Effective vs fixed-code systems (garage doors, old car fobs).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002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Real-time relay of signal over distance. Keyless entry attack (extends range to 100m+).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Jamming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031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Overwhelm legitimate signal. Selective jamming (jam response, not request) for stealthiness.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Spoofing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060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Generate fake signal (GPS, ADS-B, cellular). Can redirect navigation, fake aircraft.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Eavesdropping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089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Passive interception. Analog: trivial. Digital: depends on encryption (often none).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8080FF"/>
                </a:solidFill>
              </a:defRPr>
            </a:pPr>
            <a:r>
              <a:t>Protocol Exploitation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6118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Fuzzing wireless protocols. Discover parsing bugs in firmware receivers.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Cellular Network Attack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0972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IMSI Catcher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0972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Fake BTS (Stingray). Phone connects to strongest signal. Intercept calls, SMS, location.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A5/1 Crack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002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GSM encryption broken. Rainbow tables (Kraken project). Real-time decryption.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Downgrade Attack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Force phone from 4G/5G to 2G (no auth). Then IMSI catch or intercept.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Baseband Exploit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Attack modem processor directly via OTA messages. No user interaction.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SIM Swapping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08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Social engineer carrier to port number. Bypass SMS 2FA. Account takeover.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TETRA:BURST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11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TETRA radio encryption broken (2023). Affects police, military, utilities globally.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GPS Spoofing Attack Mechanism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SDR Transmitter</a:t>
            </a:r>
            <a:br/>
            <a:r>
              <a:t>(HackRF/USRP)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91840" y="1554480"/>
            <a:ext cx="36576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4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Generate Fake</a:t>
            </a:r>
            <a:br/>
            <a:r>
              <a:t>GPS L1 Signal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26480" y="1554480"/>
            <a:ext cx="36576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Overpower Real</a:t>
            </a:r>
            <a:br/>
            <a:r>
              <a:t>Satellite Signal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961120" y="1554480"/>
            <a:ext cx="36576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0" y="1280160"/>
            <a:ext cx="2286000" cy="7315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Victim GPS Lock</a:t>
            </a:r>
            <a:br/>
            <a:r>
              <a:t>on Fake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GPS signals are weak (~-130 dBm at surface). A few watts of TX power can overpower them.</a:t>
            </a:r>
            <a:br/>
            <a:br/>
            <a:r>
              <a:t>Targets: drones (forced landing/redirect), shipping (route manipulation), financial timestamps,</a:t>
            </a:r>
            <a:br/>
            <a:r>
              <a:t>autonomous vehicles, precision agriculture, cellular network timing.</a:t>
            </a:r>
            <a:br/>
            <a:br/>
            <a:r>
              <a:t>Tools: gps-sdr-sim + HackRF, Spirent (commercial), custom USRP setups.</a:t>
            </a:r>
            <a:br/>
            <a:br/>
            <a:r>
              <a:t>Defense: multi-constellation (GPS+Galileo+GLONASS+BeiDou), chipset-level spoofing detection,</a:t>
            </a:r>
            <a:br/>
            <a:r>
              <a:t>antenna arrays for direction-of-arrival, authenticated civil signals (Galileo OSNMA).</a:t>
            </a:r>
            <a:br/>
            <a:r>
              <a:t>CAUTION: GPS spoofing transmission is illegal in most jurisdictions (federal offense in US).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Automotive Security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0" y="3840480"/>
            <a:ext cx="4846320" cy="0"/>
          </a:xfrm>
          <a:prstGeom prst="line">
            <a:avLst/>
          </a:prstGeom>
          <a:ln w="19050">
            <a:solidFill>
              <a:srgbClr val="BB8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Vehicle Network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CAN Bus (Classic)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500 kbps, broadcast, no auth. Powertrain, chassis. Dominant bus.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CAN FD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Up to 8 Mbps data phase, 64-byte payload. Backward compatible.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Automotive Ethernet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100BASE-T1/1000BASE-T1. Point-to-point. ADAS, infotainment. TCP/IP 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LIN 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20 kbps, single-wire. Low-cost: mirrors, seats, windows.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FlexRay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108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10 Mbps, time-triggered. Safety-critical: steer-by-wire, brake-by-wire.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Central Gateway ECU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Bridges all buses. Firewall rules between domains. Attack bottleneck.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Modern vehicles: 70-150 ECUs, 100M+ lines of code. Attack surface spans OBD-II, Bluetooth,</a:t>
            </a:r>
            <a:br/>
            <a:r>
              <a:t>Wi-Fi, cellular (telematics), USB, TPMS (tire pressure), key fob, and OTA update channels.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CAN Bus Frame Structure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18872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SOF</a:t>
            </a:r>
            <a:br/>
            <a:r>
              <a:t>1 bit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1280160"/>
            <a:ext cx="13716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Arb ID</a:t>
            </a:r>
            <a:br/>
            <a:r>
              <a:t>11/29 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280160"/>
            <a:ext cx="118872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Control</a:t>
            </a:r>
            <a:br/>
            <a:r>
              <a:t>6 bits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80160"/>
            <a:ext cx="137160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Data</a:t>
            </a:r>
            <a:br/>
            <a:r>
              <a:t>0-8 bytes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80160"/>
            <a:ext cx="118872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CRC</a:t>
            </a:r>
            <a:br/>
            <a:r>
              <a:t>15 bits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280160"/>
            <a:ext cx="118872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ACK</a:t>
            </a:r>
            <a:br/>
            <a:r>
              <a:t>2 bits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280160"/>
            <a:ext cx="1188720" cy="640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EOF</a:t>
            </a:r>
            <a:br/>
            <a:r>
              <a:t>7 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CAN bus security problems:</a:t>
            </a:r>
            <a:br/>
            <a:r>
              <a:t>▸ No authentication: any node can send any arbitration ID</a:t>
            </a:r>
            <a:br/>
            <a:r>
              <a:t>▸ No encryption: all data transmitted in plaintext on shared bus</a:t>
            </a:r>
            <a:br/>
            <a:r>
              <a:t>▸ Broadcast: every node sees every message</a:t>
            </a:r>
            <a:br/>
            <a:r>
              <a:t>▸ Priority by ID: lower arbitration ID = higher priority → DoS via ID 0x000</a:t>
            </a:r>
            <a:br/>
            <a:r>
              <a:t>▸ No source identification: impossible to determine which ECU sent a frame</a:t>
            </a:r>
            <a:br/>
            <a:br/>
            <a:r>
              <a:t>SecOC (Secure Onboard Communication) — AUTOSAR standard:</a:t>
            </a:r>
            <a:br/>
            <a:r>
              <a:t>▸ Adds MAC (Message Authentication Code) to CAN frames</a:t>
            </a:r>
            <a:br/>
            <a:r>
              <a:t>▸ Freshness value prevents replay</a:t>
            </a:r>
            <a:br/>
            <a:r>
              <a:t>▸ Challenge: limited payload space (8 bytes classic CAN), key distribution</a:t>
            </a:r>
            <a:br/>
            <a:r>
              <a:t>▸ Adoption: new vehicles from 2023+, but retrofit impossible for existing fleet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CAN Bus Attack Classification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09728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Replay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0972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Record valid CAN frames → retransmit. Unlock doors, start engine, disable brakes.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002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Send crafted CAN messages. Steer, accelerate, apply brakes (Miller &amp; Valasek, 2015 Jeep).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Bus-Off 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031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Trigger error frames → increment error counter → target ECU enters bus-off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Fuzzing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060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Send random CAN IDs/data. Discover undocumented commands. Map ECU responses.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Diagnostic Abuse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089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UDS (Unified Diagnostic Services) commands: flash ECU, disable immobilizer.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1828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Masquerade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6118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Impersonate legitimate ECU after disabling it. Undetectable without sender 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Tools: can-utils (Linux), SavvyCAN, CANtact, PCAN adapters, python-can, caringcaribou.</a:t>
            </a:r>
            <a:br/>
            <a:r>
              <a:t>Access: OBD-II port (physical), compromised telematics unit (remote — Jeep hack 2015).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Keyless Entry Relay Attack (PKES)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Key Fob</a:t>
            </a:r>
            <a:br/>
            <a:r>
              <a:t>(in house)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Relay Device 1</a:t>
            </a:r>
            <a:br/>
            <a:r>
              <a:t>(near key)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RF Signal</a:t>
            </a:r>
            <a:br/>
            <a:r>
              <a:t>Amplified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Relay Device 2</a:t>
            </a:r>
            <a:br/>
            <a:r>
              <a:t>(near car)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Car Unlocks</a:t>
            </a:r>
            <a:br/>
            <a:r>
              <a:t>+ Starts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PKES (Passive Keyless Entry and Start): car sends LF challenge → key responds UHF.</a:t>
            </a:r>
            <a:br/>
            <a:r>
              <a:t>Relay extends the range from ~2m to 100m+. Key thinks it's next to car.</a:t>
            </a:r>
            <a:br/>
            <a:br/>
            <a:r>
              <a:t>Equipment: ~$50-200 (Bluetooth relay boards, RTL-SDR + amplifier, or commercial kits).</a:t>
            </a:r>
            <a:br/>
            <a:r>
              <a:t>Time to steal: &lt;60 seconds. No forensic evidence on the vehicle.</a:t>
            </a:r>
            <a:br/>
            <a:br/>
            <a:r>
              <a:t>Defense:</a:t>
            </a:r>
            <a:br/>
            <a:r>
              <a:t>▸ UWB (Ultra-Wideband) ranging — measures actual distance, not just presence. Apple AirTag tech.</a:t>
            </a:r>
            <a:br/>
            <a:r>
              <a:t>▸ Motion sensor in key fob — disable transmission when fob is stationary</a:t>
            </a:r>
            <a:br/>
            <a:r>
              <a:t>▸ Faraday pouch for key storage at home</a:t>
            </a:r>
            <a:br/>
            <a:r>
              <a:t>▸ BLE + UWB combo (BMW Digital Key Plus, Apple Car Key)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ADAS / Autonomous Vehicle Attack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Camera (Vision)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0972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Adversarial patches on signs → misclassify STOP as speed limit. Physical adversarial ML.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LiDAR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002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Spoofing with IR laser → inject ghost objects. Relay attack → remove real objects.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Radar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031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Jamming → blind the sensor. Spoofing with signal generator. Less explored.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GPS/GNSS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060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Position spoofing → incorrect localization. Route manipulation. Drift attacks.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V2X 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089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Forge BSM (Basic Safety Messages) → phantom vehicles, fake hazard warnings.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21031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OTA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6118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Compromise update server or intercept update → flash malicious firmware.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Sensor fusion: combining camera+LiDAR+radar should increase robustness.</a:t>
            </a:r>
            <a:br/>
            <a:r>
              <a:t>But: if attacker can affect multiple sensors consistently, fusion can be fooled.</a:t>
            </a:r>
            <a:br/>
            <a:r>
              <a:t>ISO/SAE 21434: automotive cybersecurity engineering standard. UNECE WP.29 R155/R156.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V2X Communication Security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DSRC (IEEE 802.11p)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5.9 GHz, 10 MHz channels. Low latency. US originally. WAVE/1609.x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C-V2X (3GPP)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PC5 sidelink (direct) + Uu (network-assisted). Cellular ecosystem. Gaining adoption.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PKI (SCMS)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Security Credential Management System. Pseudonym certificates for privacy.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Misbehavior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V2X messages signed but can be semantically false. ML-based detection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108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Rotating pseudonym certificates prevent long-term tracking. Certificate change strategy.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V2X attacks: forge BSM (collision avoidance manipulation), Sybil (fake multiple vehicles),</a:t>
            </a:r>
            <a:br/>
            <a:r>
              <a:t>replay old BSMs, DoS via channel flooding, position falsification.</a:t>
            </a:r>
            <a:br/>
            <a:br/>
            <a:r>
              <a:t>Challenge: real-time verification. 10 Hz BSM rate × hundreds of vehicles = thousands of</a:t>
            </a:r>
            <a:br/>
            <a:r>
              <a:t>signature verifications per second. Hardware crypto acceleration required (e.g., Infineon SLI 97).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ICS/RF/Automotive Defense Recommendations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097280"/>
            <a:ext cx="105156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ICS: Implement Purdue Model segmentation with IDMZ, deploy OT-specific IDS (Dragos/Claroty)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81912"/>
            <a:ext cx="105156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ICS: Data diodes for historian replication, never allow inbound IT→OT unless through bastion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66544"/>
            <a:ext cx="105156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RF: Monitor spectrum for unauthorized transmissions, use frequency hopping where possible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51176"/>
            <a:ext cx="105156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RF: Encrypt all wireless links, mutual authentication, rolling codes instead of fixed codes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35808"/>
            <a:ext cx="105156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Auto: Implement SecOC on all safety-critical CAN messages, UWB for keyless entry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105156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Auto: Segment vehicle buses via gateway ECU, IDS on CAN bus for anomaly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05072"/>
            <a:ext cx="105156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Cross-domain: OT assets should be inventoried and monitored like IT assets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9704"/>
            <a:ext cx="105156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Compliance: IEC 62443 (ICS), ISO/SAE 21434 (auto), ETSI EN 303 645 (IoT)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Cross-Reference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9: Network security → ICS protocols are network protocols with zero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12: Reverse engineering → firmware RE is critical for ICS/automotive vuln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17: Physical security → fault injection, side channels apply to automotive ECUs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18: Adversarial ML → ADAS sensor attacks are adversarial ML in the physical 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20: RF/SDR → GPS spoofing, keyless entry, cellular attacks are RF attacks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25: Threat intel → ICS-focused APT groups (XENOTIME, SANDWORM, CHERNOVITE)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27: Defense architecture → ICS requires specialized security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0916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▸  Domain 28: IoT → vehicle telematics units are IoT devices with automotive constraints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