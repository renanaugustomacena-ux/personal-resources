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54864"/>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ounded Rectangle 2"/>
          <p:cNvSpPr/>
          <p:nvPr/>
        </p:nvSpPr>
        <p:spPr>
          <a:xfrm>
            <a:off x="0" y="6803136"/>
            <a:ext cx="12191695" cy="54864"/>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4" name="Rounded Rectangle 3"/>
          <p:cNvSpPr/>
          <p:nvPr/>
        </p:nvSpPr>
        <p:spPr>
          <a:xfrm>
            <a:off x="0" y="0"/>
            <a:ext cx="73152" cy="1097280"/>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5" name="Rounded Rectangle 4"/>
          <p:cNvSpPr/>
          <p:nvPr/>
        </p:nvSpPr>
        <p:spPr>
          <a:xfrm>
            <a:off x="0" y="0"/>
            <a:ext cx="1097280"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6" name="Rounded Rectangle 5"/>
          <p:cNvSpPr/>
          <p:nvPr/>
        </p:nvSpPr>
        <p:spPr>
          <a:xfrm>
            <a:off x="0" y="0"/>
            <a:ext cx="54864" cy="6858000"/>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7" name="Rectangle 6"/>
          <p:cNvSpPr/>
          <p:nvPr/>
        </p:nvSpPr>
        <p:spPr>
          <a:xfrm>
            <a:off x="5669280" y="914400"/>
            <a:ext cx="822960" cy="82296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3200" b="1">
                <a:solidFill>
                  <a:srgbClr val="00D4FF"/>
                </a:solidFill>
              </a:defRPr>
            </a:pPr>
            <a:r>
              <a:t>◆</a:t>
            </a:r>
          </a:p>
        </p:txBody>
      </p:sp>
      <p:sp>
        <p:nvSpPr>
          <p:cNvPr id="8" name="Rounded Rectangle 7"/>
          <p:cNvSpPr/>
          <p:nvPr/>
        </p:nvSpPr>
        <p:spPr>
          <a:xfrm>
            <a:off x="4572000" y="2011680"/>
            <a:ext cx="3017520" cy="365760"/>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D4FF"/>
                </a:solidFill>
              </a:defRPr>
            </a:pPr>
            <a:r>
              <a:t>DOMAIN 1 — BINARY FORMATS</a:t>
            </a:r>
          </a:p>
        </p:txBody>
      </p:sp>
      <p:sp>
        <p:nvSpPr>
          <p:cNvPr id="9" name="TextBox 8"/>
          <p:cNvSpPr txBox="1"/>
          <p:nvPr/>
        </p:nvSpPr>
        <p:spPr>
          <a:xfrm>
            <a:off x="1371600" y="2560320"/>
            <a:ext cx="9418320" cy="1828800"/>
          </a:xfrm>
          <a:prstGeom prst="rect">
            <a:avLst/>
          </a:prstGeom>
          <a:noFill/>
        </p:spPr>
        <p:txBody>
          <a:bodyPr wrap="square" anchor="t"/>
          <a:lstStyle/>
          <a:p>
            <a:pPr algn="ctr">
              <a:defRPr sz="3800" b="1" i="0">
                <a:solidFill>
                  <a:srgbClr val="FFFFFF"/>
                </a:solidFill>
              </a:defRPr>
            </a:pPr>
            <a:r>
              <a:t>ELF Foundations &amp;</a:t>
            </a:r>
            <a:br/>
            <a:r>
              <a:t>Dynamic Linking Core</a:t>
            </a:r>
          </a:p>
        </p:txBody>
      </p:sp>
      <p:cxnSp>
        <p:nvCxnSpPr>
          <p:cNvPr id="10" name="Connector 9"/>
          <p:cNvCxnSpPr/>
          <p:nvPr/>
        </p:nvCxnSpPr>
        <p:spPr>
          <a:xfrm>
            <a:off x="3657600" y="4480560"/>
            <a:ext cx="4846320" cy="0"/>
          </a:xfrm>
          <a:prstGeom prst="line">
            <a:avLst/>
          </a:prstGeom>
          <a:ln w="19050">
            <a:solidFill>
              <a:srgbClr val="00D4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371600" y="4663440"/>
            <a:ext cx="9418320" cy="914400"/>
          </a:xfrm>
          <a:prstGeom prst="rect">
            <a:avLst/>
          </a:prstGeom>
          <a:noFill/>
        </p:spPr>
        <p:txBody>
          <a:bodyPr wrap="square" anchor="t"/>
          <a:lstStyle/>
          <a:p>
            <a:pPr algn="ctr">
              <a:defRPr sz="1800" b="0" i="0">
                <a:solidFill>
                  <a:srgbClr val="CCCCCC"/>
                </a:solidFill>
              </a:defRPr>
            </a:pPr>
            <a:r>
              <a:t>File Header · Program Headers · Segments · Sections · Kernel→Loader Handoff</a:t>
            </a:r>
            <a:br/>
            <a:r>
              <a:t>.dynamic · .dynsym · Hash Tables · Relocations · GOT/PLT · Lazy Binding</a:t>
            </a:r>
          </a:p>
        </p:txBody>
      </p:sp>
      <p:sp>
        <p:nvSpPr>
          <p:cNvPr id="12" name="TextBox 11"/>
          <p:cNvSpPr txBox="1"/>
          <p:nvPr/>
        </p:nvSpPr>
        <p:spPr>
          <a:xfrm>
            <a:off x="1371600" y="5669280"/>
            <a:ext cx="9418320" cy="457200"/>
          </a:xfrm>
          <a:prstGeom prst="rect">
            <a:avLst/>
          </a:prstGeom>
          <a:noFill/>
        </p:spPr>
        <p:txBody>
          <a:bodyPr wrap="square" anchor="t"/>
          <a:lstStyle/>
          <a:p>
            <a:pPr algn="ctr">
              <a:defRPr sz="1200" b="0" i="0">
                <a:solidFill>
                  <a:srgbClr val="555566"/>
                </a:solidFill>
              </a:defRPr>
            </a:pPr>
            <a:r>
              <a:t>Chapter 1A · Part 1 of 2 · ELF Structure &amp; Loading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AGENDA</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188720"/>
            <a:ext cx="457200" cy="384048"/>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D4FF"/>
                </a:solidFill>
              </a:defRPr>
            </a:pPr>
            <a:r>
              <a:t>1</a:t>
            </a:r>
          </a:p>
        </p:txBody>
      </p:sp>
      <p:sp>
        <p:nvSpPr>
          <p:cNvPr id="6" name="TextBox 5"/>
          <p:cNvSpPr txBox="1"/>
          <p:nvPr/>
        </p:nvSpPr>
        <p:spPr>
          <a:xfrm>
            <a:off x="1325880" y="1188720"/>
            <a:ext cx="4572000" cy="384048"/>
          </a:xfrm>
          <a:prstGeom prst="rect">
            <a:avLst/>
          </a:prstGeom>
          <a:noFill/>
        </p:spPr>
        <p:txBody>
          <a:bodyPr wrap="square" anchor="t"/>
          <a:lstStyle/>
          <a:p>
            <a:pPr algn="l">
              <a:defRPr sz="1200" b="0" i="0">
                <a:solidFill>
                  <a:srgbClr val="CCCCCC"/>
                </a:solidFill>
              </a:defRPr>
            </a:pPr>
            <a:r>
              <a:t>ELF Dual-View Architecture (Sections vs Segments)</a:t>
            </a:r>
          </a:p>
        </p:txBody>
      </p:sp>
      <p:sp>
        <p:nvSpPr>
          <p:cNvPr id="7" name="Rounded Rectangle 6"/>
          <p:cNvSpPr/>
          <p:nvPr/>
        </p:nvSpPr>
        <p:spPr>
          <a:xfrm>
            <a:off x="731520" y="1627632"/>
            <a:ext cx="457200" cy="384048"/>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FF88"/>
                </a:solidFill>
              </a:defRPr>
            </a:pPr>
            <a:r>
              <a:t>2</a:t>
            </a:r>
          </a:p>
        </p:txBody>
      </p:sp>
      <p:sp>
        <p:nvSpPr>
          <p:cNvPr id="8" name="TextBox 7"/>
          <p:cNvSpPr txBox="1"/>
          <p:nvPr/>
        </p:nvSpPr>
        <p:spPr>
          <a:xfrm>
            <a:off x="1325880" y="1627632"/>
            <a:ext cx="4572000" cy="384048"/>
          </a:xfrm>
          <a:prstGeom prst="rect">
            <a:avLst/>
          </a:prstGeom>
          <a:noFill/>
        </p:spPr>
        <p:txBody>
          <a:bodyPr wrap="square" anchor="t"/>
          <a:lstStyle/>
          <a:p>
            <a:pPr algn="l">
              <a:defRPr sz="1200" b="0" i="0">
                <a:solidFill>
                  <a:srgbClr val="CCCCCC"/>
                </a:solidFill>
              </a:defRPr>
            </a:pPr>
            <a:r>
              <a:t>The ELF File Header (Elf64_Ehdr) — Every Field Explained</a:t>
            </a:r>
          </a:p>
        </p:txBody>
      </p:sp>
      <p:sp>
        <p:nvSpPr>
          <p:cNvPr id="9" name="Rounded Rectangle 8"/>
          <p:cNvSpPr/>
          <p:nvPr/>
        </p:nvSpPr>
        <p:spPr>
          <a:xfrm>
            <a:off x="731520" y="2066544"/>
            <a:ext cx="457200" cy="384048"/>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D700"/>
                </a:solidFill>
              </a:defRPr>
            </a:pPr>
            <a:r>
              <a:t>3</a:t>
            </a:r>
          </a:p>
        </p:txBody>
      </p:sp>
      <p:sp>
        <p:nvSpPr>
          <p:cNvPr id="10" name="TextBox 9"/>
          <p:cNvSpPr txBox="1"/>
          <p:nvPr/>
        </p:nvSpPr>
        <p:spPr>
          <a:xfrm>
            <a:off x="1325880" y="2066544"/>
            <a:ext cx="4572000" cy="384048"/>
          </a:xfrm>
          <a:prstGeom prst="rect">
            <a:avLst/>
          </a:prstGeom>
          <a:noFill/>
        </p:spPr>
        <p:txBody>
          <a:bodyPr wrap="square" anchor="t"/>
          <a:lstStyle/>
          <a:p>
            <a:pPr algn="l">
              <a:defRPr sz="1200" b="0" i="0">
                <a:solidFill>
                  <a:srgbClr val="CCCCCC"/>
                </a:solidFill>
              </a:defRPr>
            </a:pPr>
            <a:r>
              <a:t>Program Headers &amp; Segment Types (PT_LOAD → PT_GNU_PROPERTY)</a:t>
            </a:r>
          </a:p>
        </p:txBody>
      </p:sp>
      <p:sp>
        <p:nvSpPr>
          <p:cNvPr id="11" name="Rounded Rectangle 10"/>
          <p:cNvSpPr/>
          <p:nvPr/>
        </p:nvSpPr>
        <p:spPr>
          <a:xfrm>
            <a:off x="731520" y="2505456"/>
            <a:ext cx="457200" cy="384048"/>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4444"/>
                </a:solidFill>
              </a:defRPr>
            </a:pPr>
            <a:r>
              <a:t>4</a:t>
            </a:r>
          </a:p>
        </p:txBody>
      </p:sp>
      <p:sp>
        <p:nvSpPr>
          <p:cNvPr id="12" name="TextBox 11"/>
          <p:cNvSpPr txBox="1"/>
          <p:nvPr/>
        </p:nvSpPr>
        <p:spPr>
          <a:xfrm>
            <a:off x="1325880" y="2505456"/>
            <a:ext cx="4572000" cy="384048"/>
          </a:xfrm>
          <a:prstGeom prst="rect">
            <a:avLst/>
          </a:prstGeom>
          <a:noFill/>
        </p:spPr>
        <p:txBody>
          <a:bodyPr wrap="square" anchor="t"/>
          <a:lstStyle/>
          <a:p>
            <a:pPr algn="l">
              <a:defRPr sz="1200" b="0" i="0">
                <a:solidFill>
                  <a:srgbClr val="CCCCCC"/>
                </a:solidFill>
              </a:defRPr>
            </a:pPr>
            <a:r>
              <a:t>Section Headers &amp; Link-Time Semantics</a:t>
            </a:r>
          </a:p>
        </p:txBody>
      </p:sp>
      <p:sp>
        <p:nvSpPr>
          <p:cNvPr id="13" name="Rounded Rectangle 12"/>
          <p:cNvSpPr/>
          <p:nvPr/>
        </p:nvSpPr>
        <p:spPr>
          <a:xfrm>
            <a:off x="731520" y="2944368"/>
            <a:ext cx="457200" cy="384048"/>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BB86FC"/>
                </a:solidFill>
              </a:defRPr>
            </a:pPr>
            <a:r>
              <a:t>5</a:t>
            </a:r>
          </a:p>
        </p:txBody>
      </p:sp>
      <p:sp>
        <p:nvSpPr>
          <p:cNvPr id="14" name="TextBox 13"/>
          <p:cNvSpPr txBox="1"/>
          <p:nvPr/>
        </p:nvSpPr>
        <p:spPr>
          <a:xfrm>
            <a:off x="1325880" y="2944368"/>
            <a:ext cx="4572000" cy="384048"/>
          </a:xfrm>
          <a:prstGeom prst="rect">
            <a:avLst/>
          </a:prstGeom>
          <a:noFill/>
        </p:spPr>
        <p:txBody>
          <a:bodyPr wrap="square" anchor="t"/>
          <a:lstStyle/>
          <a:p>
            <a:pPr algn="l">
              <a:defRPr sz="1200" b="0" i="0">
                <a:solidFill>
                  <a:srgbClr val="CCCCCC"/>
                </a:solidFill>
              </a:defRPr>
            </a:pPr>
            <a:r>
              <a:t>Kernel→Loader Handoff &amp; Auxiliary Vector</a:t>
            </a:r>
          </a:p>
        </p:txBody>
      </p:sp>
      <p:sp>
        <p:nvSpPr>
          <p:cNvPr id="15" name="Rounded Rectangle 14"/>
          <p:cNvSpPr/>
          <p:nvPr/>
        </p:nvSpPr>
        <p:spPr>
          <a:xfrm>
            <a:off x="731520" y="3383280"/>
            <a:ext cx="457200" cy="384048"/>
          </a:xfrm>
          <a:prstGeom prst="roundRect">
            <a:avLst/>
          </a:prstGeom>
          <a:solidFill>
            <a:srgbClr val="1C1C34"/>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8C00"/>
                </a:solidFill>
              </a:defRPr>
            </a:pPr>
            <a:r>
              <a:t>6</a:t>
            </a:r>
          </a:p>
        </p:txBody>
      </p:sp>
      <p:sp>
        <p:nvSpPr>
          <p:cNvPr id="16" name="TextBox 15"/>
          <p:cNvSpPr txBox="1"/>
          <p:nvPr/>
        </p:nvSpPr>
        <p:spPr>
          <a:xfrm>
            <a:off x="1325880" y="3383280"/>
            <a:ext cx="4572000" cy="384048"/>
          </a:xfrm>
          <a:prstGeom prst="rect">
            <a:avLst/>
          </a:prstGeom>
          <a:noFill/>
        </p:spPr>
        <p:txBody>
          <a:bodyPr wrap="square" anchor="t"/>
          <a:lstStyle/>
          <a:p>
            <a:pPr algn="l">
              <a:defRPr sz="1200" b="0" i="0">
                <a:solidFill>
                  <a:srgbClr val="CCCCCC"/>
                </a:solidFill>
              </a:defRPr>
            </a:pPr>
            <a:r>
              <a:t>The Dynamic Linker (ld.so) Boot Sequence</a:t>
            </a:r>
          </a:p>
        </p:txBody>
      </p:sp>
      <p:sp>
        <p:nvSpPr>
          <p:cNvPr id="17" name="Rounded Rectangle 16"/>
          <p:cNvSpPr/>
          <p:nvPr/>
        </p:nvSpPr>
        <p:spPr>
          <a:xfrm>
            <a:off x="731520" y="3822192"/>
            <a:ext cx="457200" cy="384048"/>
          </a:xfrm>
          <a:prstGeom prst="roundRect">
            <a:avLst/>
          </a:prstGeom>
          <a:solidFill>
            <a:srgbClr val="1C1C34"/>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E5A0"/>
                </a:solidFill>
              </a:defRPr>
            </a:pPr>
            <a:r>
              <a:t>7</a:t>
            </a:r>
          </a:p>
        </p:txBody>
      </p:sp>
      <p:sp>
        <p:nvSpPr>
          <p:cNvPr id="18" name="TextBox 17"/>
          <p:cNvSpPr txBox="1"/>
          <p:nvPr/>
        </p:nvSpPr>
        <p:spPr>
          <a:xfrm>
            <a:off x="1325880" y="3822192"/>
            <a:ext cx="4572000" cy="384048"/>
          </a:xfrm>
          <a:prstGeom prst="rect">
            <a:avLst/>
          </a:prstGeom>
          <a:noFill/>
        </p:spPr>
        <p:txBody>
          <a:bodyPr wrap="square" anchor="t"/>
          <a:lstStyle/>
          <a:p>
            <a:pPr algn="l">
              <a:defRPr sz="1200" b="0" i="0">
                <a:solidFill>
                  <a:srgbClr val="CCCCCC"/>
                </a:solidFill>
              </a:defRPr>
            </a:pPr>
            <a:r>
              <a:t>The .dynamic Section — Table of Contents</a:t>
            </a:r>
          </a:p>
        </p:txBody>
      </p:sp>
      <p:sp>
        <p:nvSpPr>
          <p:cNvPr id="19" name="Rounded Rectangle 18"/>
          <p:cNvSpPr/>
          <p:nvPr/>
        </p:nvSpPr>
        <p:spPr>
          <a:xfrm>
            <a:off x="731520" y="4261104"/>
            <a:ext cx="457200" cy="384048"/>
          </a:xfrm>
          <a:prstGeom prst="roundRect">
            <a:avLst/>
          </a:prstGeom>
          <a:solidFill>
            <a:srgbClr val="1C1C34"/>
          </a:solidFill>
          <a:ln w="12700">
            <a:solidFill>
              <a:srgbClr val="FF008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0080"/>
                </a:solidFill>
              </a:defRPr>
            </a:pPr>
            <a:r>
              <a:t>8</a:t>
            </a:r>
          </a:p>
        </p:txBody>
      </p:sp>
      <p:sp>
        <p:nvSpPr>
          <p:cNvPr id="20" name="TextBox 19"/>
          <p:cNvSpPr txBox="1"/>
          <p:nvPr/>
        </p:nvSpPr>
        <p:spPr>
          <a:xfrm>
            <a:off x="1325880" y="4261104"/>
            <a:ext cx="4572000" cy="384048"/>
          </a:xfrm>
          <a:prstGeom prst="rect">
            <a:avLst/>
          </a:prstGeom>
          <a:noFill/>
        </p:spPr>
        <p:txBody>
          <a:bodyPr wrap="square" anchor="t"/>
          <a:lstStyle/>
          <a:p>
            <a:pPr algn="l">
              <a:defRPr sz="1200" b="0" i="0">
                <a:solidFill>
                  <a:srgbClr val="CCCCCC"/>
                </a:solidFill>
              </a:defRPr>
            </a:pPr>
            <a:r>
              <a:t>Symbol Tables (.dynsym) &amp; String Tables (.dynstr)</a:t>
            </a:r>
          </a:p>
        </p:txBody>
      </p:sp>
      <p:sp>
        <p:nvSpPr>
          <p:cNvPr id="21" name="Rounded Rectangle 20"/>
          <p:cNvSpPr/>
          <p:nvPr/>
        </p:nvSpPr>
        <p:spPr>
          <a:xfrm>
            <a:off x="6400800" y="1188720"/>
            <a:ext cx="457200" cy="384048"/>
          </a:xfrm>
          <a:prstGeom prst="roundRect">
            <a:avLst/>
          </a:prstGeom>
          <a:solidFill>
            <a:srgbClr val="1C1C34"/>
          </a:solidFill>
          <a:ln w="12700">
            <a:solidFill>
              <a:srgbClr val="4488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4488FF"/>
                </a:solidFill>
              </a:defRPr>
            </a:pPr>
            <a:r>
              <a:t>9</a:t>
            </a:r>
          </a:p>
        </p:txBody>
      </p:sp>
      <p:sp>
        <p:nvSpPr>
          <p:cNvPr id="22" name="TextBox 21"/>
          <p:cNvSpPr txBox="1"/>
          <p:nvPr/>
        </p:nvSpPr>
        <p:spPr>
          <a:xfrm>
            <a:off x="6995160" y="1188720"/>
            <a:ext cx="4572000" cy="384048"/>
          </a:xfrm>
          <a:prstGeom prst="rect">
            <a:avLst/>
          </a:prstGeom>
          <a:noFill/>
        </p:spPr>
        <p:txBody>
          <a:bodyPr wrap="square" anchor="t"/>
          <a:lstStyle/>
          <a:p>
            <a:pPr algn="l">
              <a:defRPr sz="1200" b="0" i="0">
                <a:solidFill>
                  <a:srgbClr val="CCCCCC"/>
                </a:solidFill>
              </a:defRPr>
            </a:pPr>
            <a:r>
              <a:t>Hash Tables: SysV .hash vs GNU .gnu.hash</a:t>
            </a:r>
          </a:p>
        </p:txBody>
      </p:sp>
      <p:sp>
        <p:nvSpPr>
          <p:cNvPr id="23" name="Rounded Rectangle 22"/>
          <p:cNvSpPr/>
          <p:nvPr/>
        </p:nvSpPr>
        <p:spPr>
          <a:xfrm>
            <a:off x="6400800" y="1627632"/>
            <a:ext cx="457200" cy="384048"/>
          </a:xfrm>
          <a:prstGeom prst="roundRect">
            <a:avLst/>
          </a:prstGeom>
          <a:solidFill>
            <a:srgbClr val="1C1C34"/>
          </a:solidFill>
          <a:ln w="12700">
            <a:solidFill>
              <a:srgbClr val="FF6BB5"/>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6BB5"/>
                </a:solidFill>
              </a:defRPr>
            </a:pPr>
            <a:r>
              <a:t>10</a:t>
            </a:r>
          </a:p>
        </p:txBody>
      </p:sp>
      <p:sp>
        <p:nvSpPr>
          <p:cNvPr id="24" name="TextBox 23"/>
          <p:cNvSpPr txBox="1"/>
          <p:nvPr/>
        </p:nvSpPr>
        <p:spPr>
          <a:xfrm>
            <a:off x="6995160" y="1627632"/>
            <a:ext cx="4572000" cy="384048"/>
          </a:xfrm>
          <a:prstGeom prst="rect">
            <a:avLst/>
          </a:prstGeom>
          <a:noFill/>
        </p:spPr>
        <p:txBody>
          <a:bodyPr wrap="square" anchor="t"/>
          <a:lstStyle/>
          <a:p>
            <a:pPr algn="l">
              <a:defRPr sz="1200" b="0" i="0">
                <a:solidFill>
                  <a:srgbClr val="CCCCCC"/>
                </a:solidFill>
              </a:defRPr>
            </a:pPr>
            <a:r>
              <a:t>Relocation Types on x86_64</a:t>
            </a:r>
          </a:p>
        </p:txBody>
      </p:sp>
      <p:sp>
        <p:nvSpPr>
          <p:cNvPr id="25" name="Rounded Rectangle 24"/>
          <p:cNvSpPr/>
          <p:nvPr/>
        </p:nvSpPr>
        <p:spPr>
          <a:xfrm>
            <a:off x="6400800" y="2066544"/>
            <a:ext cx="457200" cy="384048"/>
          </a:xfrm>
          <a:prstGeom prst="roundRect">
            <a:avLst/>
          </a:prstGeom>
          <a:solidFill>
            <a:srgbClr val="1C1C34"/>
          </a:solidFill>
          <a:ln w="12700">
            <a:solidFill>
              <a:srgbClr val="664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6644FF"/>
                </a:solidFill>
              </a:defRPr>
            </a:pPr>
            <a:r>
              <a:t>11</a:t>
            </a:r>
          </a:p>
        </p:txBody>
      </p:sp>
      <p:sp>
        <p:nvSpPr>
          <p:cNvPr id="26" name="TextBox 25"/>
          <p:cNvSpPr txBox="1"/>
          <p:nvPr/>
        </p:nvSpPr>
        <p:spPr>
          <a:xfrm>
            <a:off x="6995160" y="2066544"/>
            <a:ext cx="4572000" cy="384048"/>
          </a:xfrm>
          <a:prstGeom prst="rect">
            <a:avLst/>
          </a:prstGeom>
          <a:noFill/>
        </p:spPr>
        <p:txBody>
          <a:bodyPr wrap="square" anchor="t"/>
          <a:lstStyle/>
          <a:p>
            <a:pPr algn="l">
              <a:defRPr sz="1200" b="0" i="0">
                <a:solidFill>
                  <a:srgbClr val="CCCCCC"/>
                </a:solidFill>
              </a:defRPr>
            </a:pPr>
            <a:r>
              <a:t>The Two GOTs: .got vs .got.plt</a:t>
            </a:r>
          </a:p>
        </p:txBody>
      </p:sp>
      <p:sp>
        <p:nvSpPr>
          <p:cNvPr id="27" name="Rounded Rectangle 26"/>
          <p:cNvSpPr/>
          <p:nvPr/>
        </p:nvSpPr>
        <p:spPr>
          <a:xfrm>
            <a:off x="6400800" y="2505456"/>
            <a:ext cx="457200" cy="384048"/>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D4FF"/>
                </a:solidFill>
              </a:defRPr>
            </a:pPr>
            <a:r>
              <a:t>12</a:t>
            </a:r>
          </a:p>
        </p:txBody>
      </p:sp>
      <p:sp>
        <p:nvSpPr>
          <p:cNvPr id="28" name="TextBox 27"/>
          <p:cNvSpPr txBox="1"/>
          <p:nvPr/>
        </p:nvSpPr>
        <p:spPr>
          <a:xfrm>
            <a:off x="6995160" y="2505456"/>
            <a:ext cx="4572000" cy="384048"/>
          </a:xfrm>
          <a:prstGeom prst="rect">
            <a:avLst/>
          </a:prstGeom>
          <a:noFill/>
        </p:spPr>
        <p:txBody>
          <a:bodyPr wrap="square" anchor="t"/>
          <a:lstStyle/>
          <a:p>
            <a:pPr algn="l">
              <a:defRPr sz="1200" b="0" i="0">
                <a:solidFill>
                  <a:srgbClr val="CCCCCC"/>
                </a:solidFill>
              </a:defRPr>
            </a:pPr>
            <a:r>
              <a:t>The PLT &amp; Lazy Binding Mechanism</a:t>
            </a:r>
          </a:p>
        </p:txBody>
      </p:sp>
      <p:sp>
        <p:nvSpPr>
          <p:cNvPr id="29" name="Rounded Rectangle 28"/>
          <p:cNvSpPr/>
          <p:nvPr/>
        </p:nvSpPr>
        <p:spPr>
          <a:xfrm>
            <a:off x="6400800" y="2944368"/>
            <a:ext cx="457200" cy="384048"/>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FF88"/>
                </a:solidFill>
              </a:defRPr>
            </a:pPr>
            <a:r>
              <a:t>13</a:t>
            </a:r>
          </a:p>
        </p:txBody>
      </p:sp>
      <p:sp>
        <p:nvSpPr>
          <p:cNvPr id="30" name="TextBox 29"/>
          <p:cNvSpPr txBox="1"/>
          <p:nvPr/>
        </p:nvSpPr>
        <p:spPr>
          <a:xfrm>
            <a:off x="6995160" y="2944368"/>
            <a:ext cx="4572000" cy="384048"/>
          </a:xfrm>
          <a:prstGeom prst="rect">
            <a:avLst/>
          </a:prstGeom>
          <a:noFill/>
        </p:spPr>
        <p:txBody>
          <a:bodyPr wrap="square" anchor="t"/>
          <a:lstStyle/>
          <a:p>
            <a:pPr algn="l">
              <a:defRPr sz="1200" b="0" i="0">
                <a:solidFill>
                  <a:srgbClr val="CCCCCC"/>
                </a:solidFill>
              </a:defRPr>
            </a:pPr>
            <a:r>
              <a:t>Symbol Resolution Scope &amp; Order</a:t>
            </a:r>
          </a:p>
        </p:txBody>
      </p:sp>
      <p:sp>
        <p:nvSpPr>
          <p:cNvPr id="31" name="Rounded Rectangle 30"/>
          <p:cNvSpPr/>
          <p:nvPr/>
        </p:nvSpPr>
        <p:spPr>
          <a:xfrm>
            <a:off x="6400800" y="3383280"/>
            <a:ext cx="457200" cy="384048"/>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D700"/>
                </a:solidFill>
              </a:defRPr>
            </a:pPr>
            <a:r>
              <a:t>14</a:t>
            </a:r>
          </a:p>
        </p:txBody>
      </p:sp>
      <p:sp>
        <p:nvSpPr>
          <p:cNvPr id="32" name="TextBox 31"/>
          <p:cNvSpPr txBox="1"/>
          <p:nvPr/>
        </p:nvSpPr>
        <p:spPr>
          <a:xfrm>
            <a:off x="6995160" y="3383280"/>
            <a:ext cx="4572000" cy="384048"/>
          </a:xfrm>
          <a:prstGeom prst="rect">
            <a:avLst/>
          </a:prstGeom>
          <a:noFill/>
        </p:spPr>
        <p:txBody>
          <a:bodyPr wrap="square" anchor="t"/>
          <a:lstStyle/>
          <a:p>
            <a:pPr algn="l">
              <a:defRPr sz="1200" b="0" i="0">
                <a:solidFill>
                  <a:srgbClr val="CCCCCC"/>
                </a:solidFill>
              </a:defRPr>
            </a:pPr>
            <a:r>
              <a:t>Why Lazy Binding Is Dying: Full RELRO</a:t>
            </a:r>
          </a:p>
        </p:txBody>
      </p:sp>
      <p:sp>
        <p:nvSpPr>
          <p:cNvPr id="33" name="Rounded Rectangle 32"/>
          <p:cNvSpPr/>
          <p:nvPr/>
        </p:nvSpPr>
        <p:spPr>
          <a:xfrm>
            <a:off x="6400800" y="3822192"/>
            <a:ext cx="457200" cy="384048"/>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4444"/>
                </a:solidFill>
              </a:defRPr>
            </a:pPr>
            <a:r>
              <a:t>15</a:t>
            </a:r>
          </a:p>
        </p:txBody>
      </p:sp>
      <p:sp>
        <p:nvSpPr>
          <p:cNvPr id="34" name="TextBox 33"/>
          <p:cNvSpPr txBox="1"/>
          <p:nvPr/>
        </p:nvSpPr>
        <p:spPr>
          <a:xfrm>
            <a:off x="6995160" y="3822192"/>
            <a:ext cx="4572000" cy="384048"/>
          </a:xfrm>
          <a:prstGeom prst="rect">
            <a:avLst/>
          </a:prstGeom>
          <a:noFill/>
        </p:spPr>
        <p:txBody>
          <a:bodyPr wrap="square" anchor="t"/>
          <a:lstStyle/>
          <a:p>
            <a:pPr algn="l">
              <a:defRPr sz="1200" b="0" i="0">
                <a:solidFill>
                  <a:srgbClr val="CCCCCC"/>
                </a:solidFill>
              </a:defRPr>
            </a:pPr>
            <a:r>
              <a:t>Complete ELF Load Sequence Timeline</a:t>
            </a:r>
          </a:p>
        </p:txBody>
      </p:sp>
      <p:cxnSp>
        <p:nvCxnSpPr>
          <p:cNvPr id="35" name="Connector 34"/>
          <p:cNvCxnSpPr/>
          <p:nvPr/>
        </p:nvCxnSpPr>
        <p:spPr>
          <a:xfrm>
            <a:off x="5943600" y="1097280"/>
            <a:ext cx="0" cy="512064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 Format at a Glance</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63727" y="1371600"/>
            <a:ext cx="2560320" cy="1463040"/>
          </a:xfrm>
          <a:prstGeom prst="roundRect">
            <a:avLst/>
          </a:prstGeom>
          <a:solidFill>
            <a:srgbClr val="1C1C34"/>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6" name="TextBox 5"/>
          <p:cNvSpPr txBox="1"/>
          <p:nvPr/>
        </p:nvSpPr>
        <p:spPr>
          <a:xfrm>
            <a:off x="563727" y="1554480"/>
            <a:ext cx="2560320" cy="640080"/>
          </a:xfrm>
          <a:prstGeom prst="rect">
            <a:avLst/>
          </a:prstGeom>
          <a:noFill/>
        </p:spPr>
        <p:txBody>
          <a:bodyPr wrap="square" anchor="t"/>
          <a:lstStyle/>
          <a:p>
            <a:pPr algn="ctr">
              <a:defRPr sz="3200" b="1" i="0">
                <a:solidFill>
                  <a:srgbClr val="00D4FF"/>
                </a:solidFill>
              </a:defRPr>
            </a:pPr>
            <a:r>
              <a:t>64 B</a:t>
            </a:r>
          </a:p>
        </p:txBody>
      </p:sp>
      <p:sp>
        <p:nvSpPr>
          <p:cNvPr id="7" name="TextBox 6"/>
          <p:cNvSpPr txBox="1"/>
          <p:nvPr/>
        </p:nvSpPr>
        <p:spPr>
          <a:xfrm>
            <a:off x="563727" y="2240280"/>
            <a:ext cx="2560320" cy="457200"/>
          </a:xfrm>
          <a:prstGeom prst="rect">
            <a:avLst/>
          </a:prstGeom>
          <a:noFill/>
        </p:spPr>
        <p:txBody>
          <a:bodyPr wrap="square" anchor="t"/>
          <a:lstStyle/>
          <a:p>
            <a:pPr algn="ctr">
              <a:defRPr sz="1100" b="0" i="0">
                <a:solidFill>
                  <a:srgbClr val="CCCCCC"/>
                </a:solidFill>
              </a:defRPr>
            </a:pPr>
            <a:r>
              <a:t>ELF Header Size (64-bit)</a:t>
            </a:r>
          </a:p>
        </p:txBody>
      </p:sp>
      <p:sp>
        <p:nvSpPr>
          <p:cNvPr id="8" name="Rounded Rectangle 7"/>
          <p:cNvSpPr/>
          <p:nvPr/>
        </p:nvSpPr>
        <p:spPr>
          <a:xfrm>
            <a:off x="3398367" y="1371600"/>
            <a:ext cx="2560320" cy="1463040"/>
          </a:xfrm>
          <a:prstGeom prst="roundRect">
            <a:avLst/>
          </a:prstGeom>
          <a:solidFill>
            <a:srgbClr val="1C1C34"/>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TextBox 8"/>
          <p:cNvSpPr txBox="1"/>
          <p:nvPr/>
        </p:nvSpPr>
        <p:spPr>
          <a:xfrm>
            <a:off x="3398367" y="1554480"/>
            <a:ext cx="2560320" cy="640080"/>
          </a:xfrm>
          <a:prstGeom prst="rect">
            <a:avLst/>
          </a:prstGeom>
          <a:noFill/>
        </p:spPr>
        <p:txBody>
          <a:bodyPr wrap="square" anchor="t"/>
          <a:lstStyle/>
          <a:p>
            <a:pPr algn="ctr">
              <a:defRPr sz="3200" b="1" i="0">
                <a:solidFill>
                  <a:srgbClr val="00FF88"/>
                </a:solidFill>
              </a:defRPr>
            </a:pPr>
            <a:r>
              <a:t>56 B</a:t>
            </a:r>
          </a:p>
        </p:txBody>
      </p:sp>
      <p:sp>
        <p:nvSpPr>
          <p:cNvPr id="10" name="TextBox 9"/>
          <p:cNvSpPr txBox="1"/>
          <p:nvPr/>
        </p:nvSpPr>
        <p:spPr>
          <a:xfrm>
            <a:off x="3398367" y="2240280"/>
            <a:ext cx="2560320" cy="457200"/>
          </a:xfrm>
          <a:prstGeom prst="rect">
            <a:avLst/>
          </a:prstGeom>
          <a:noFill/>
        </p:spPr>
        <p:txBody>
          <a:bodyPr wrap="square" anchor="t"/>
          <a:lstStyle/>
          <a:p>
            <a:pPr algn="ctr">
              <a:defRPr sz="1100" b="0" i="0">
                <a:solidFill>
                  <a:srgbClr val="CCCCCC"/>
                </a:solidFill>
              </a:defRPr>
            </a:pPr>
            <a:r>
              <a:t>Program Header Entry Size</a:t>
            </a:r>
          </a:p>
        </p:txBody>
      </p:sp>
      <p:sp>
        <p:nvSpPr>
          <p:cNvPr id="11" name="Rounded Rectangle 10"/>
          <p:cNvSpPr/>
          <p:nvPr/>
        </p:nvSpPr>
        <p:spPr>
          <a:xfrm>
            <a:off x="6233007" y="1371600"/>
            <a:ext cx="2560320" cy="1463040"/>
          </a:xfrm>
          <a:prstGeom prst="roundRect">
            <a:avLst/>
          </a:prstGeom>
          <a:solidFill>
            <a:srgbClr val="1C1C34"/>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2" name="TextBox 11"/>
          <p:cNvSpPr txBox="1"/>
          <p:nvPr/>
        </p:nvSpPr>
        <p:spPr>
          <a:xfrm>
            <a:off x="6233007" y="1554480"/>
            <a:ext cx="2560320" cy="640080"/>
          </a:xfrm>
          <a:prstGeom prst="rect">
            <a:avLst/>
          </a:prstGeom>
          <a:noFill/>
        </p:spPr>
        <p:txBody>
          <a:bodyPr wrap="square" anchor="t"/>
          <a:lstStyle/>
          <a:p>
            <a:pPr algn="ctr">
              <a:defRPr sz="3200" b="1" i="0">
                <a:solidFill>
                  <a:srgbClr val="FFD700"/>
                </a:solidFill>
              </a:defRPr>
            </a:pPr>
            <a:r>
              <a:t>64 B</a:t>
            </a:r>
          </a:p>
        </p:txBody>
      </p:sp>
      <p:sp>
        <p:nvSpPr>
          <p:cNvPr id="13" name="TextBox 12"/>
          <p:cNvSpPr txBox="1"/>
          <p:nvPr/>
        </p:nvSpPr>
        <p:spPr>
          <a:xfrm>
            <a:off x="6233007" y="2240280"/>
            <a:ext cx="2560320" cy="457200"/>
          </a:xfrm>
          <a:prstGeom prst="rect">
            <a:avLst/>
          </a:prstGeom>
          <a:noFill/>
        </p:spPr>
        <p:txBody>
          <a:bodyPr wrap="square" anchor="t"/>
          <a:lstStyle/>
          <a:p>
            <a:pPr algn="ctr">
              <a:defRPr sz="1100" b="0" i="0">
                <a:solidFill>
                  <a:srgbClr val="CCCCCC"/>
                </a:solidFill>
              </a:defRPr>
            </a:pPr>
            <a:r>
              <a:t>Section Header Entry Size</a:t>
            </a:r>
          </a:p>
        </p:txBody>
      </p:sp>
      <p:sp>
        <p:nvSpPr>
          <p:cNvPr id="14" name="Rounded Rectangle 13"/>
          <p:cNvSpPr/>
          <p:nvPr/>
        </p:nvSpPr>
        <p:spPr>
          <a:xfrm>
            <a:off x="9067647" y="1371600"/>
            <a:ext cx="2560320" cy="1463040"/>
          </a:xfrm>
          <a:prstGeom prst="roundRect">
            <a:avLst/>
          </a:prstGeom>
          <a:solidFill>
            <a:srgbClr val="1C1C34"/>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5" name="TextBox 14"/>
          <p:cNvSpPr txBox="1"/>
          <p:nvPr/>
        </p:nvSpPr>
        <p:spPr>
          <a:xfrm>
            <a:off x="9067647" y="1554480"/>
            <a:ext cx="2560320" cy="640080"/>
          </a:xfrm>
          <a:prstGeom prst="rect">
            <a:avLst/>
          </a:prstGeom>
          <a:noFill/>
        </p:spPr>
        <p:txBody>
          <a:bodyPr wrap="square" anchor="t"/>
          <a:lstStyle/>
          <a:p>
            <a:pPr algn="ctr">
              <a:defRPr sz="3200" b="1" i="0">
                <a:solidFill>
                  <a:srgbClr val="BB86FC"/>
                </a:solidFill>
              </a:defRPr>
            </a:pPr>
            <a:r>
              <a:t>24 B</a:t>
            </a:r>
          </a:p>
        </p:txBody>
      </p:sp>
      <p:sp>
        <p:nvSpPr>
          <p:cNvPr id="16" name="TextBox 15"/>
          <p:cNvSpPr txBox="1"/>
          <p:nvPr/>
        </p:nvSpPr>
        <p:spPr>
          <a:xfrm>
            <a:off x="9067647" y="2240280"/>
            <a:ext cx="2560320" cy="457200"/>
          </a:xfrm>
          <a:prstGeom prst="rect">
            <a:avLst/>
          </a:prstGeom>
          <a:noFill/>
        </p:spPr>
        <p:txBody>
          <a:bodyPr wrap="square" anchor="t"/>
          <a:lstStyle/>
          <a:p>
            <a:pPr algn="ctr">
              <a:defRPr sz="1100" b="0" i="0">
                <a:solidFill>
                  <a:srgbClr val="CCCCCC"/>
                </a:solidFill>
              </a:defRPr>
            </a:pPr>
            <a:r>
              <a:t>Symbol Table Entry Size</a:t>
            </a:r>
          </a:p>
        </p:txBody>
      </p:sp>
      <p:sp>
        <p:nvSpPr>
          <p:cNvPr id="17" name="Rounded Rectangle 16"/>
          <p:cNvSpPr/>
          <p:nvPr/>
        </p:nvSpPr>
        <p:spPr>
          <a:xfrm>
            <a:off x="563727" y="3108960"/>
            <a:ext cx="2560320" cy="1463040"/>
          </a:xfrm>
          <a:prstGeom prst="roundRect">
            <a:avLst/>
          </a:prstGeom>
          <a:solidFill>
            <a:srgbClr val="1C1C3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8" name="TextBox 17"/>
          <p:cNvSpPr txBox="1"/>
          <p:nvPr/>
        </p:nvSpPr>
        <p:spPr>
          <a:xfrm>
            <a:off x="563727" y="3291840"/>
            <a:ext cx="2560320" cy="640080"/>
          </a:xfrm>
          <a:prstGeom prst="rect">
            <a:avLst/>
          </a:prstGeom>
          <a:noFill/>
        </p:spPr>
        <p:txBody>
          <a:bodyPr wrap="square" anchor="t"/>
          <a:lstStyle/>
          <a:p>
            <a:pPr algn="ctr">
              <a:defRPr sz="3200" b="1" i="0">
                <a:solidFill>
                  <a:srgbClr val="FF4444"/>
                </a:solidFill>
              </a:defRPr>
            </a:pPr>
            <a:r>
              <a:t>24 B</a:t>
            </a:r>
          </a:p>
        </p:txBody>
      </p:sp>
      <p:sp>
        <p:nvSpPr>
          <p:cNvPr id="19" name="TextBox 18"/>
          <p:cNvSpPr txBox="1"/>
          <p:nvPr/>
        </p:nvSpPr>
        <p:spPr>
          <a:xfrm>
            <a:off x="563727" y="3977640"/>
            <a:ext cx="2560320" cy="457200"/>
          </a:xfrm>
          <a:prstGeom prst="rect">
            <a:avLst/>
          </a:prstGeom>
          <a:noFill/>
        </p:spPr>
        <p:txBody>
          <a:bodyPr wrap="square" anchor="t"/>
          <a:lstStyle/>
          <a:p>
            <a:pPr algn="ctr">
              <a:defRPr sz="1100" b="0" i="0">
                <a:solidFill>
                  <a:srgbClr val="CCCCCC"/>
                </a:solidFill>
              </a:defRPr>
            </a:pPr>
            <a:r>
              <a:t>Relocation Entry Size (Rela)</a:t>
            </a:r>
          </a:p>
        </p:txBody>
      </p:sp>
      <p:sp>
        <p:nvSpPr>
          <p:cNvPr id="20" name="Rounded Rectangle 19"/>
          <p:cNvSpPr/>
          <p:nvPr/>
        </p:nvSpPr>
        <p:spPr>
          <a:xfrm>
            <a:off x="3398367" y="3108960"/>
            <a:ext cx="2560320" cy="1463040"/>
          </a:xfrm>
          <a:prstGeom prst="roundRect">
            <a:avLst/>
          </a:prstGeom>
          <a:solidFill>
            <a:srgbClr val="1C1C34"/>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1" name="TextBox 20"/>
          <p:cNvSpPr txBox="1"/>
          <p:nvPr/>
        </p:nvSpPr>
        <p:spPr>
          <a:xfrm>
            <a:off x="3398367" y="3291840"/>
            <a:ext cx="2560320" cy="640080"/>
          </a:xfrm>
          <a:prstGeom prst="rect">
            <a:avLst/>
          </a:prstGeom>
          <a:noFill/>
        </p:spPr>
        <p:txBody>
          <a:bodyPr wrap="square" anchor="t"/>
          <a:lstStyle/>
          <a:p>
            <a:pPr algn="ctr">
              <a:defRPr sz="3200" b="1" i="0">
                <a:solidFill>
                  <a:srgbClr val="FF8C00"/>
                </a:solidFill>
              </a:defRPr>
            </a:pPr>
            <a:r>
              <a:t>4</a:t>
            </a:r>
          </a:p>
        </p:txBody>
      </p:sp>
      <p:sp>
        <p:nvSpPr>
          <p:cNvPr id="22" name="TextBox 21"/>
          <p:cNvSpPr txBox="1"/>
          <p:nvPr/>
        </p:nvSpPr>
        <p:spPr>
          <a:xfrm>
            <a:off x="3398367" y="3977640"/>
            <a:ext cx="2560320" cy="457200"/>
          </a:xfrm>
          <a:prstGeom prst="rect">
            <a:avLst/>
          </a:prstGeom>
          <a:noFill/>
        </p:spPr>
        <p:txBody>
          <a:bodyPr wrap="square" anchor="t"/>
          <a:lstStyle/>
          <a:p>
            <a:pPr algn="ctr">
              <a:defRPr sz="1100" b="0" i="0">
                <a:solidFill>
                  <a:srgbClr val="CCCCCC"/>
                </a:solidFill>
              </a:defRPr>
            </a:pPr>
            <a:r>
              <a:t>Typical PT_LOAD Segments</a:t>
            </a:r>
          </a:p>
        </p:txBody>
      </p:sp>
      <p:sp>
        <p:nvSpPr>
          <p:cNvPr id="23" name="Rounded Rectangle 22"/>
          <p:cNvSpPr/>
          <p:nvPr/>
        </p:nvSpPr>
        <p:spPr>
          <a:xfrm>
            <a:off x="6233007" y="3108960"/>
            <a:ext cx="2560320" cy="1463040"/>
          </a:xfrm>
          <a:prstGeom prst="roundRect">
            <a:avLst/>
          </a:prstGeom>
          <a:solidFill>
            <a:srgbClr val="1C1C34"/>
          </a:solidFill>
          <a:ln w="190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4" name="TextBox 23"/>
          <p:cNvSpPr txBox="1"/>
          <p:nvPr/>
        </p:nvSpPr>
        <p:spPr>
          <a:xfrm>
            <a:off x="6233007" y="3291840"/>
            <a:ext cx="2560320" cy="640080"/>
          </a:xfrm>
          <a:prstGeom prst="rect">
            <a:avLst/>
          </a:prstGeom>
          <a:noFill/>
        </p:spPr>
        <p:txBody>
          <a:bodyPr wrap="square" anchor="t"/>
          <a:lstStyle/>
          <a:p>
            <a:pPr algn="ctr">
              <a:defRPr sz="3200" b="1" i="0">
                <a:solidFill>
                  <a:srgbClr val="00E5A0"/>
                </a:solidFill>
              </a:defRPr>
            </a:pPr>
            <a:r>
              <a:t>16 B</a:t>
            </a:r>
          </a:p>
        </p:txBody>
      </p:sp>
      <p:sp>
        <p:nvSpPr>
          <p:cNvPr id="25" name="TextBox 24"/>
          <p:cNvSpPr txBox="1"/>
          <p:nvPr/>
        </p:nvSpPr>
        <p:spPr>
          <a:xfrm>
            <a:off x="6233007" y="3977640"/>
            <a:ext cx="2560320" cy="457200"/>
          </a:xfrm>
          <a:prstGeom prst="rect">
            <a:avLst/>
          </a:prstGeom>
          <a:noFill/>
        </p:spPr>
        <p:txBody>
          <a:bodyPr wrap="square" anchor="t"/>
          <a:lstStyle/>
          <a:p>
            <a:pPr algn="ctr">
              <a:defRPr sz="1100" b="0" i="0">
                <a:solidFill>
                  <a:srgbClr val="CCCCCC"/>
                </a:solidFill>
              </a:defRPr>
            </a:pPr>
            <a:r>
              <a:t>Elf64_Dyn Entry Size</a:t>
            </a:r>
          </a:p>
        </p:txBody>
      </p:sp>
      <p:sp>
        <p:nvSpPr>
          <p:cNvPr id="26" name="Rounded Rectangle 25"/>
          <p:cNvSpPr/>
          <p:nvPr/>
        </p:nvSpPr>
        <p:spPr>
          <a:xfrm>
            <a:off x="9067647" y="3108960"/>
            <a:ext cx="2560320" cy="1463040"/>
          </a:xfrm>
          <a:prstGeom prst="roundRect">
            <a:avLst/>
          </a:prstGeom>
          <a:solidFill>
            <a:srgbClr val="1C1C34"/>
          </a:solidFill>
          <a:ln w="19050">
            <a:solidFill>
              <a:srgbClr val="FF008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7" name="TextBox 26"/>
          <p:cNvSpPr txBox="1"/>
          <p:nvPr/>
        </p:nvSpPr>
        <p:spPr>
          <a:xfrm>
            <a:off x="9067647" y="3291840"/>
            <a:ext cx="2560320" cy="640080"/>
          </a:xfrm>
          <a:prstGeom prst="rect">
            <a:avLst/>
          </a:prstGeom>
          <a:noFill/>
        </p:spPr>
        <p:txBody>
          <a:bodyPr wrap="square" anchor="t"/>
          <a:lstStyle/>
          <a:p>
            <a:pPr algn="ctr">
              <a:defRPr sz="3200" b="1" i="0">
                <a:solidFill>
                  <a:srgbClr val="FF0080"/>
                </a:solidFill>
              </a:defRPr>
            </a:pPr>
            <a:r>
              <a:t>0x7F454C46</a:t>
            </a:r>
          </a:p>
        </p:txBody>
      </p:sp>
      <p:sp>
        <p:nvSpPr>
          <p:cNvPr id="28" name="TextBox 27"/>
          <p:cNvSpPr txBox="1"/>
          <p:nvPr/>
        </p:nvSpPr>
        <p:spPr>
          <a:xfrm>
            <a:off x="9067647" y="3977640"/>
            <a:ext cx="2560320" cy="457200"/>
          </a:xfrm>
          <a:prstGeom prst="rect">
            <a:avLst/>
          </a:prstGeom>
          <a:noFill/>
        </p:spPr>
        <p:txBody>
          <a:bodyPr wrap="square" anchor="t"/>
          <a:lstStyle/>
          <a:p>
            <a:pPr algn="ctr">
              <a:defRPr sz="1100" b="0" i="0">
                <a:solidFill>
                  <a:srgbClr val="CCCCCC"/>
                </a:solidFill>
              </a:defRPr>
            </a:pPr>
            <a:r>
              <a:t>ELF Magic Number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1</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The Dual-View Architecture</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Same bytes, two descriptions — the fundamental ELF asymmetry</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Sections vs Segments — Two Views of One Binary</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097280"/>
            <a:ext cx="5029200" cy="457200"/>
          </a:xfrm>
          <a:prstGeom prst="roundRect">
            <a:avLst/>
          </a:prstGeom>
          <a:solidFill>
            <a:srgbClr val="1C1C34"/>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600" b="1">
                <a:solidFill>
                  <a:srgbClr val="FFD700"/>
                </a:solidFill>
              </a:defRPr>
            </a:pPr>
            <a:r>
              <a:t>Section Headers (Linker View)</a:t>
            </a:r>
          </a:p>
        </p:txBody>
      </p:sp>
      <p:sp>
        <p:nvSpPr>
          <p:cNvPr id="6" name="Rectangle 5"/>
          <p:cNvSpPr/>
          <p:nvPr/>
        </p:nvSpPr>
        <p:spPr>
          <a:xfrm>
            <a:off x="548640" y="1737360"/>
            <a:ext cx="54864" cy="32918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 y="173736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Describe what ld needs to combine .o files</a:t>
            </a:r>
          </a:p>
        </p:txBody>
      </p:sp>
      <p:sp>
        <p:nvSpPr>
          <p:cNvPr id="8" name="Rectangle 7"/>
          <p:cNvSpPr/>
          <p:nvPr/>
        </p:nvSpPr>
        <p:spPr>
          <a:xfrm>
            <a:off x="548640" y="2121408"/>
            <a:ext cx="54864" cy="32918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212140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Can be stripped/zeroed — binary still runs</a:t>
            </a:r>
          </a:p>
        </p:txBody>
      </p:sp>
      <p:sp>
        <p:nvSpPr>
          <p:cNvPr id="10" name="Rectangle 9"/>
          <p:cNvSpPr/>
          <p:nvPr/>
        </p:nvSpPr>
        <p:spPr>
          <a:xfrm>
            <a:off x="548640" y="2505456"/>
            <a:ext cx="54864" cy="32918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 y="2505456"/>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Carry symbol names, debug info, exception tables</a:t>
            </a:r>
          </a:p>
        </p:txBody>
      </p:sp>
      <p:sp>
        <p:nvSpPr>
          <p:cNvPr id="12" name="Rectangle 11"/>
          <p:cNvSpPr/>
          <p:nvPr/>
        </p:nvSpPr>
        <p:spPr>
          <a:xfrm>
            <a:off x="548640" y="2889504"/>
            <a:ext cx="54864" cy="32918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 y="2889504"/>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Organize content by purpose: .text, .data, .bss, .rodata</a:t>
            </a:r>
          </a:p>
        </p:txBody>
      </p:sp>
      <p:sp>
        <p:nvSpPr>
          <p:cNvPr id="14" name="Rectangle 13"/>
          <p:cNvSpPr/>
          <p:nvPr/>
        </p:nvSpPr>
        <p:spPr>
          <a:xfrm>
            <a:off x="548640" y="3273552"/>
            <a:ext cx="54864" cy="32918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 y="3273552"/>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sh_flags: SHF_ALLOC, SHF_WRITE, SHF_EXECINSTR</a:t>
            </a:r>
          </a:p>
        </p:txBody>
      </p:sp>
      <p:sp>
        <p:nvSpPr>
          <p:cNvPr id="16" name="Rectangle 15"/>
          <p:cNvSpPr/>
          <p:nvPr/>
        </p:nvSpPr>
        <p:spPr>
          <a:xfrm>
            <a:off x="548640" y="3657600"/>
            <a:ext cx="54864" cy="32918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 y="365760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Indexed by e_shoff/e_shnum from ELF header</a:t>
            </a:r>
          </a:p>
        </p:txBody>
      </p:sp>
      <p:sp>
        <p:nvSpPr>
          <p:cNvPr id="18" name="Rectangle 17"/>
          <p:cNvSpPr/>
          <p:nvPr/>
        </p:nvSpPr>
        <p:spPr>
          <a:xfrm>
            <a:off x="548640" y="4041648"/>
            <a:ext cx="54864" cy="32918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 y="404164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Not consulted by kernel binfmt_elf at all</a:t>
            </a:r>
          </a:p>
        </p:txBody>
      </p:sp>
      <p:sp>
        <p:nvSpPr>
          <p:cNvPr id="20" name="Rectangle 19"/>
          <p:cNvSpPr/>
          <p:nvPr/>
        </p:nvSpPr>
        <p:spPr>
          <a:xfrm>
            <a:off x="548640" y="4425696"/>
            <a:ext cx="54864" cy="32918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792" y="4425696"/>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Tools relying only on sections are trivially fooled</a:t>
            </a:r>
          </a:p>
        </p:txBody>
      </p:sp>
      <p:sp>
        <p:nvSpPr>
          <p:cNvPr id="22" name="Rectangle 21"/>
          <p:cNvSpPr/>
          <p:nvPr/>
        </p:nvSpPr>
        <p:spPr>
          <a:xfrm>
            <a:off x="548640" y="4809744"/>
            <a:ext cx="54864" cy="32918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1792" y="4809744"/>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Section 0 is always the NULL section (reserved)</a:t>
            </a:r>
          </a:p>
        </p:txBody>
      </p:sp>
      <p:sp>
        <p:nvSpPr>
          <p:cNvPr id="24" name="Rectangle 23"/>
          <p:cNvSpPr/>
          <p:nvPr/>
        </p:nvSpPr>
        <p:spPr>
          <a:xfrm>
            <a:off x="5623560" y="2743200"/>
            <a:ext cx="914400" cy="914400"/>
          </a:xfrm>
          <a:prstGeom prst="rect">
            <a:avLst/>
          </a:prstGeom>
          <a:solidFill>
            <a:srgbClr val="0A0A1A"/>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800" b="1">
                <a:solidFill>
                  <a:srgbClr val="FFD700"/>
                </a:solidFill>
              </a:defRPr>
            </a:pPr>
            <a:r>
              <a:t>≠</a:t>
            </a:r>
          </a:p>
        </p:txBody>
      </p:sp>
      <p:sp>
        <p:nvSpPr>
          <p:cNvPr id="25" name="Rounded Rectangle 24"/>
          <p:cNvSpPr/>
          <p:nvPr/>
        </p:nvSpPr>
        <p:spPr>
          <a:xfrm>
            <a:off x="6583680" y="1097280"/>
            <a:ext cx="5029200" cy="457200"/>
          </a:xfrm>
          <a:prstGeom prst="roundRect">
            <a:avLst/>
          </a:prstGeom>
          <a:solidFill>
            <a:srgbClr val="1C1C34"/>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600" b="1">
                <a:solidFill>
                  <a:srgbClr val="00D4FF"/>
                </a:solidFill>
              </a:defRPr>
            </a:pPr>
            <a:r>
              <a:t>Program Headers (Loader View)</a:t>
            </a:r>
          </a:p>
        </p:txBody>
      </p:sp>
      <p:sp>
        <p:nvSpPr>
          <p:cNvPr id="26" name="Rectangle 25"/>
          <p:cNvSpPr/>
          <p:nvPr/>
        </p:nvSpPr>
        <p:spPr>
          <a:xfrm>
            <a:off x="6583680" y="1737360"/>
            <a:ext cx="54864" cy="32918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656832" y="173736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Describe what kernel/ld.so needs to mmap &amp; execute</a:t>
            </a:r>
          </a:p>
        </p:txBody>
      </p:sp>
      <p:sp>
        <p:nvSpPr>
          <p:cNvPr id="28" name="Rectangle 27"/>
          <p:cNvSpPr/>
          <p:nvPr/>
        </p:nvSpPr>
        <p:spPr>
          <a:xfrm>
            <a:off x="6583680" y="2121408"/>
            <a:ext cx="54864" cy="32918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656832" y="212140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Cannot be removed — binary won't load without them</a:t>
            </a:r>
          </a:p>
        </p:txBody>
      </p:sp>
      <p:sp>
        <p:nvSpPr>
          <p:cNvPr id="30" name="Rectangle 29"/>
          <p:cNvSpPr/>
          <p:nvPr/>
        </p:nvSpPr>
        <p:spPr>
          <a:xfrm>
            <a:off x="6583680" y="2505456"/>
            <a:ext cx="54864" cy="32918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656832" y="2505456"/>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Define memory regions with permissions (R/W/X)</a:t>
            </a:r>
          </a:p>
        </p:txBody>
      </p:sp>
      <p:sp>
        <p:nvSpPr>
          <p:cNvPr id="32" name="Rectangle 31"/>
          <p:cNvSpPr/>
          <p:nvPr/>
        </p:nvSpPr>
        <p:spPr>
          <a:xfrm>
            <a:off x="6583680" y="2889504"/>
            <a:ext cx="54864" cy="32918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656832" y="2889504"/>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Organize content by runtime behavior: LOAD, DYNAMIC, INTERP</a:t>
            </a:r>
          </a:p>
        </p:txBody>
      </p:sp>
      <p:sp>
        <p:nvSpPr>
          <p:cNvPr id="34" name="Rectangle 33"/>
          <p:cNvSpPr/>
          <p:nvPr/>
        </p:nvSpPr>
        <p:spPr>
          <a:xfrm>
            <a:off x="6583680" y="3273552"/>
            <a:ext cx="54864" cy="32918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656832" y="3273552"/>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p_flags: PF_R, PF_W, PF_X (page permissions)</a:t>
            </a:r>
          </a:p>
        </p:txBody>
      </p:sp>
      <p:sp>
        <p:nvSpPr>
          <p:cNvPr id="36" name="Rectangle 35"/>
          <p:cNvSpPr/>
          <p:nvPr/>
        </p:nvSpPr>
        <p:spPr>
          <a:xfrm>
            <a:off x="6583680" y="3657600"/>
            <a:ext cx="54864" cy="32918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656832" y="365760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Indexed by e_phoff/e_phnum from ELF header</a:t>
            </a:r>
          </a:p>
        </p:txBody>
      </p:sp>
      <p:sp>
        <p:nvSpPr>
          <p:cNvPr id="38" name="Rectangle 37"/>
          <p:cNvSpPr/>
          <p:nvPr/>
        </p:nvSpPr>
        <p:spPr>
          <a:xfrm>
            <a:off x="6583680" y="4041648"/>
            <a:ext cx="54864" cy="32918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656832" y="404164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The ONLY thing the kernel reads for execution</a:t>
            </a:r>
          </a:p>
        </p:txBody>
      </p:sp>
      <p:sp>
        <p:nvSpPr>
          <p:cNvPr id="40" name="Rectangle 39"/>
          <p:cNvSpPr/>
          <p:nvPr/>
        </p:nvSpPr>
        <p:spPr>
          <a:xfrm>
            <a:off x="6583680" y="4425696"/>
            <a:ext cx="54864" cy="32918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656832" y="4425696"/>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Load-bearing for execution — everything runs through segments</a:t>
            </a:r>
          </a:p>
        </p:txBody>
      </p:sp>
      <p:sp>
        <p:nvSpPr>
          <p:cNvPr id="42" name="Rectangle 41"/>
          <p:cNvSpPr/>
          <p:nvPr/>
        </p:nvSpPr>
        <p:spPr>
          <a:xfrm>
            <a:off x="6583680" y="4809744"/>
            <a:ext cx="54864" cy="32918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656832" y="4809744"/>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A byte may belong to 1 segment and 0+ sections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 Dual-View Mental Model</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Segments are what runs; sections are what the linker arranged for segments to contain</a:t>
            </a:r>
          </a:p>
        </p:txBody>
      </p:sp>
      <p:sp>
        <p:nvSpPr>
          <p:cNvPr id="6" name="Rounded Rectangle 5"/>
          <p:cNvSpPr/>
          <p:nvPr/>
        </p:nvSpPr>
        <p:spPr>
          <a:xfrm>
            <a:off x="1371600" y="1371600"/>
            <a:ext cx="4572000" cy="640080"/>
          </a:xfrm>
          <a:prstGeom prst="roundRect">
            <a:avLst/>
          </a:prstGeom>
          <a:solidFill>
            <a:srgbClr val="1C1C34"/>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D4FF"/>
                </a:solidFill>
              </a:defRPr>
            </a:pPr>
            <a:r>
              <a:t>ELF File Header (Elf64_Ehdr)</a:t>
            </a:r>
          </a:p>
        </p:txBody>
      </p:sp>
      <p:sp>
        <p:nvSpPr>
          <p:cNvPr id="7" name="TextBox 6"/>
          <p:cNvSpPr txBox="1"/>
          <p:nvPr/>
        </p:nvSpPr>
        <p:spPr>
          <a:xfrm>
            <a:off x="6217920" y="1371600"/>
            <a:ext cx="5486400" cy="640080"/>
          </a:xfrm>
          <a:prstGeom prst="rect">
            <a:avLst/>
          </a:prstGeom>
          <a:noFill/>
        </p:spPr>
        <p:txBody>
          <a:bodyPr wrap="square" anchor="t"/>
          <a:lstStyle/>
          <a:p>
            <a:pPr algn="l">
              <a:defRPr sz="1100" b="0" i="0">
                <a:solidFill>
                  <a:srgbClr val="CCCCCC"/>
                </a:solidFill>
              </a:defRPr>
            </a:pPr>
            <a:r>
              <a:t>Entry point to both views: e_phoff → segments, e_shoff → sections</a:t>
            </a:r>
          </a:p>
        </p:txBody>
      </p:sp>
      <p:sp>
        <p:nvSpPr>
          <p:cNvPr id="8" name="Rounded Rectangle 7"/>
          <p:cNvSpPr/>
          <p:nvPr/>
        </p:nvSpPr>
        <p:spPr>
          <a:xfrm>
            <a:off x="1440180" y="2057400"/>
            <a:ext cx="4434840" cy="640080"/>
          </a:xfrm>
          <a:prstGeom prst="roundRect">
            <a:avLst/>
          </a:prstGeom>
          <a:solidFill>
            <a:srgbClr val="1C1C34"/>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FF88"/>
                </a:solidFill>
              </a:defRPr>
            </a:pPr>
            <a:r>
              <a:t>Program Header Table</a:t>
            </a:r>
          </a:p>
        </p:txBody>
      </p:sp>
      <p:sp>
        <p:nvSpPr>
          <p:cNvPr id="9" name="TextBox 8"/>
          <p:cNvSpPr txBox="1"/>
          <p:nvPr/>
        </p:nvSpPr>
        <p:spPr>
          <a:xfrm>
            <a:off x="6149340" y="2057400"/>
            <a:ext cx="5486400" cy="640080"/>
          </a:xfrm>
          <a:prstGeom prst="rect">
            <a:avLst/>
          </a:prstGeom>
          <a:noFill/>
        </p:spPr>
        <p:txBody>
          <a:bodyPr wrap="square" anchor="t"/>
          <a:lstStyle/>
          <a:p>
            <a:pPr algn="l">
              <a:defRPr sz="1100" b="0" i="0">
                <a:solidFill>
                  <a:srgbClr val="CCCCCC"/>
                </a:solidFill>
              </a:defRPr>
            </a:pPr>
            <a:r>
              <a:t>Array of Elf64_Phdr — kernel reads ONLY this for execution</a:t>
            </a:r>
          </a:p>
        </p:txBody>
      </p:sp>
      <p:sp>
        <p:nvSpPr>
          <p:cNvPr id="10" name="Rounded Rectangle 9"/>
          <p:cNvSpPr/>
          <p:nvPr/>
        </p:nvSpPr>
        <p:spPr>
          <a:xfrm>
            <a:off x="1508760" y="2743200"/>
            <a:ext cx="4297680" cy="640080"/>
          </a:xfrm>
          <a:prstGeom prst="roundRect">
            <a:avLst/>
          </a:prstGeom>
          <a:solidFill>
            <a:srgbClr val="1C1C34"/>
          </a:solidFill>
          <a:ln w="19050">
            <a:solidFill>
              <a:srgbClr val="4488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4488FF"/>
                </a:solidFill>
              </a:defRPr>
            </a:pPr>
            <a:r>
              <a:t>PT_LOAD Segment 1 (R-X)</a:t>
            </a:r>
          </a:p>
        </p:txBody>
      </p:sp>
      <p:sp>
        <p:nvSpPr>
          <p:cNvPr id="11" name="TextBox 10"/>
          <p:cNvSpPr txBox="1"/>
          <p:nvPr/>
        </p:nvSpPr>
        <p:spPr>
          <a:xfrm>
            <a:off x="6080760" y="2743200"/>
            <a:ext cx="5486400" cy="640080"/>
          </a:xfrm>
          <a:prstGeom prst="rect">
            <a:avLst/>
          </a:prstGeom>
          <a:noFill/>
        </p:spPr>
        <p:txBody>
          <a:bodyPr wrap="square" anchor="t"/>
          <a:lstStyle/>
          <a:p>
            <a:pPr algn="l">
              <a:defRPr sz="1100" b="0" i="0">
                <a:solidFill>
                  <a:srgbClr val="CCCCCC"/>
                </a:solidFill>
              </a:defRPr>
            </a:pPr>
            <a:r>
              <a:t>Contains .text, .plt, .init, .fini — executable code</a:t>
            </a:r>
          </a:p>
        </p:txBody>
      </p:sp>
      <p:sp>
        <p:nvSpPr>
          <p:cNvPr id="12" name="Rounded Rectangle 11"/>
          <p:cNvSpPr/>
          <p:nvPr/>
        </p:nvSpPr>
        <p:spPr>
          <a:xfrm>
            <a:off x="1577340" y="3429000"/>
            <a:ext cx="4160520" cy="640080"/>
          </a:xfrm>
          <a:prstGeom prst="roundRect">
            <a:avLst/>
          </a:prstGeom>
          <a:solidFill>
            <a:srgbClr val="1C1C34"/>
          </a:solidFill>
          <a:ln w="190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E5A0"/>
                </a:solidFill>
              </a:defRPr>
            </a:pPr>
            <a:r>
              <a:t>PT_LOAD Segment 2 (R--)</a:t>
            </a:r>
          </a:p>
        </p:txBody>
      </p:sp>
      <p:sp>
        <p:nvSpPr>
          <p:cNvPr id="13" name="TextBox 12"/>
          <p:cNvSpPr txBox="1"/>
          <p:nvPr/>
        </p:nvSpPr>
        <p:spPr>
          <a:xfrm>
            <a:off x="6012180" y="3429000"/>
            <a:ext cx="5486400" cy="640080"/>
          </a:xfrm>
          <a:prstGeom prst="rect">
            <a:avLst/>
          </a:prstGeom>
          <a:noFill/>
        </p:spPr>
        <p:txBody>
          <a:bodyPr wrap="square" anchor="t"/>
          <a:lstStyle/>
          <a:p>
            <a:pPr algn="l">
              <a:defRPr sz="1100" b="0" i="0">
                <a:solidFill>
                  <a:srgbClr val="CCCCCC"/>
                </a:solidFill>
              </a:defRPr>
            </a:pPr>
            <a:r>
              <a:t>Contains .rodata, .eh_frame, .gcc_except_table</a:t>
            </a:r>
          </a:p>
        </p:txBody>
      </p:sp>
      <p:sp>
        <p:nvSpPr>
          <p:cNvPr id="14" name="Rounded Rectangle 13"/>
          <p:cNvSpPr/>
          <p:nvPr/>
        </p:nvSpPr>
        <p:spPr>
          <a:xfrm>
            <a:off x="1645920" y="4114800"/>
            <a:ext cx="4023360" cy="640080"/>
          </a:xfrm>
          <a:prstGeom prst="roundRect">
            <a:avLst/>
          </a:prstGeom>
          <a:solidFill>
            <a:srgbClr val="1C1C34"/>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D700"/>
                </a:solidFill>
              </a:defRPr>
            </a:pPr>
            <a:r>
              <a:t>PT_LOAD Segment 3 (RW- → R-- after RELRO)</a:t>
            </a:r>
          </a:p>
        </p:txBody>
      </p:sp>
      <p:sp>
        <p:nvSpPr>
          <p:cNvPr id="15" name="TextBox 14"/>
          <p:cNvSpPr txBox="1"/>
          <p:nvPr/>
        </p:nvSpPr>
        <p:spPr>
          <a:xfrm>
            <a:off x="5943600" y="4114800"/>
            <a:ext cx="5486400" cy="640080"/>
          </a:xfrm>
          <a:prstGeom prst="rect">
            <a:avLst/>
          </a:prstGeom>
          <a:noFill/>
        </p:spPr>
        <p:txBody>
          <a:bodyPr wrap="square" anchor="t"/>
          <a:lstStyle/>
          <a:p>
            <a:pPr algn="l">
              <a:defRPr sz="1100" b="0" i="0">
                <a:solidFill>
                  <a:srgbClr val="CCCCCC"/>
                </a:solidFill>
              </a:defRPr>
            </a:pPr>
            <a:r>
              <a:t>Contains .dynamic, .got, .data.rel.ro — RELRO region</a:t>
            </a:r>
          </a:p>
        </p:txBody>
      </p:sp>
      <p:sp>
        <p:nvSpPr>
          <p:cNvPr id="16" name="Rounded Rectangle 15"/>
          <p:cNvSpPr/>
          <p:nvPr/>
        </p:nvSpPr>
        <p:spPr>
          <a:xfrm>
            <a:off x="1714500" y="4800600"/>
            <a:ext cx="3886200" cy="640080"/>
          </a:xfrm>
          <a:prstGeom prst="roundRect">
            <a:avLst/>
          </a:prstGeom>
          <a:solidFill>
            <a:srgbClr val="1C1C3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4444"/>
                </a:solidFill>
              </a:defRPr>
            </a:pPr>
            <a:r>
              <a:t>PT_LOAD Segment 4 (RW-)</a:t>
            </a:r>
          </a:p>
        </p:txBody>
      </p:sp>
      <p:sp>
        <p:nvSpPr>
          <p:cNvPr id="17" name="TextBox 16"/>
          <p:cNvSpPr txBox="1"/>
          <p:nvPr/>
        </p:nvSpPr>
        <p:spPr>
          <a:xfrm>
            <a:off x="5875020" y="4800600"/>
            <a:ext cx="5486400" cy="640080"/>
          </a:xfrm>
          <a:prstGeom prst="rect">
            <a:avLst/>
          </a:prstGeom>
          <a:noFill/>
        </p:spPr>
        <p:txBody>
          <a:bodyPr wrap="square" anchor="t"/>
          <a:lstStyle/>
          <a:p>
            <a:pPr algn="l">
              <a:defRPr sz="1100" b="0" i="0">
                <a:solidFill>
                  <a:srgbClr val="CCCCCC"/>
                </a:solidFill>
              </a:defRPr>
            </a:pPr>
            <a:r>
              <a:t>Contains .data, .got.plt, .bss — writable data</a:t>
            </a:r>
          </a:p>
        </p:txBody>
      </p:sp>
      <p:sp>
        <p:nvSpPr>
          <p:cNvPr id="18" name="Rounded Rectangle 17"/>
          <p:cNvSpPr/>
          <p:nvPr/>
        </p:nvSpPr>
        <p:spPr>
          <a:xfrm>
            <a:off x="1783080" y="5486400"/>
            <a:ext cx="3749040" cy="640080"/>
          </a:xfrm>
          <a:prstGeom prst="roundRect">
            <a:avLst/>
          </a:prstGeom>
          <a:solidFill>
            <a:srgbClr val="1C1C34"/>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BB86FC"/>
                </a:solidFill>
              </a:defRPr>
            </a:pPr>
            <a:r>
              <a:t>Section Header Table</a:t>
            </a:r>
          </a:p>
        </p:txBody>
      </p:sp>
      <p:sp>
        <p:nvSpPr>
          <p:cNvPr id="19" name="TextBox 18"/>
          <p:cNvSpPr txBox="1"/>
          <p:nvPr/>
        </p:nvSpPr>
        <p:spPr>
          <a:xfrm>
            <a:off x="5806440" y="5486400"/>
            <a:ext cx="5486400" cy="640080"/>
          </a:xfrm>
          <a:prstGeom prst="rect">
            <a:avLst/>
          </a:prstGeom>
          <a:noFill/>
        </p:spPr>
        <p:txBody>
          <a:bodyPr wrap="square" anchor="t"/>
          <a:lstStyle/>
          <a:p>
            <a:pPr algn="l">
              <a:defRPr sz="1100" b="0" i="0">
                <a:solidFill>
                  <a:srgbClr val="CCCCCC"/>
                </a:solidFill>
              </a:defRPr>
            </a:pPr>
            <a:r>
              <a:t>Array of Elf64_Shdr — optional, analysis-time only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Security Implications of the Dual-View Design</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234440"/>
            <a:ext cx="1097280" cy="292608"/>
          </a:xfrm>
          <a:prstGeom prst="roundRect">
            <a:avLst/>
          </a:prstGeom>
          <a:solidFill>
            <a:srgbClr val="FF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CRITICAL</a:t>
            </a:r>
          </a:p>
        </p:txBody>
      </p:sp>
      <p:sp>
        <p:nvSpPr>
          <p:cNvPr id="6" name="TextBox 5"/>
          <p:cNvSpPr txBox="1"/>
          <p:nvPr/>
        </p:nvSpPr>
        <p:spPr>
          <a:xfrm>
            <a:off x="2011680" y="1188720"/>
            <a:ext cx="9326880" cy="384048"/>
          </a:xfrm>
          <a:prstGeom prst="rect">
            <a:avLst/>
          </a:prstGeom>
          <a:noFill/>
        </p:spPr>
        <p:txBody>
          <a:bodyPr wrap="square" anchor="t"/>
          <a:lstStyle/>
          <a:p>
            <a:pPr algn="l">
              <a:defRPr sz="1200" b="0" i="0">
                <a:solidFill>
                  <a:srgbClr val="CCCCCC"/>
                </a:solidFill>
              </a:defRPr>
            </a:pPr>
            <a:r>
              <a:t>Section headers can be stripped/forged — tools relying only on sections are trivially fooled</a:t>
            </a:r>
          </a:p>
        </p:txBody>
      </p:sp>
      <p:sp>
        <p:nvSpPr>
          <p:cNvPr id="7" name="Rounded Rectangle 6"/>
          <p:cNvSpPr/>
          <p:nvPr/>
        </p:nvSpPr>
        <p:spPr>
          <a:xfrm>
            <a:off x="731520" y="1691640"/>
            <a:ext cx="1097280" cy="292608"/>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HIGH</a:t>
            </a:r>
          </a:p>
        </p:txBody>
      </p:sp>
      <p:sp>
        <p:nvSpPr>
          <p:cNvPr id="8" name="TextBox 7"/>
          <p:cNvSpPr txBox="1"/>
          <p:nvPr/>
        </p:nvSpPr>
        <p:spPr>
          <a:xfrm>
            <a:off x="2011680" y="1645920"/>
            <a:ext cx="9326880" cy="384048"/>
          </a:xfrm>
          <a:prstGeom prst="rect">
            <a:avLst/>
          </a:prstGeom>
          <a:noFill/>
        </p:spPr>
        <p:txBody>
          <a:bodyPr wrap="square" anchor="t"/>
          <a:lstStyle/>
          <a:p>
            <a:pPr algn="l">
              <a:defRPr sz="1200" b="0" i="0">
                <a:solidFill>
                  <a:srgbClr val="CCCCCC"/>
                </a:solidFill>
              </a:defRPr>
            </a:pPr>
            <a:r>
              <a:t>YARA rules matching section names miss binaries with stripped section tables</a:t>
            </a:r>
          </a:p>
        </p:txBody>
      </p:sp>
      <p:sp>
        <p:nvSpPr>
          <p:cNvPr id="9" name="Rounded Rectangle 8"/>
          <p:cNvSpPr/>
          <p:nvPr/>
        </p:nvSpPr>
        <p:spPr>
          <a:xfrm>
            <a:off x="731520" y="2148840"/>
            <a:ext cx="1097280" cy="292608"/>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HIGH</a:t>
            </a:r>
          </a:p>
        </p:txBody>
      </p:sp>
      <p:sp>
        <p:nvSpPr>
          <p:cNvPr id="10" name="TextBox 9"/>
          <p:cNvSpPr txBox="1"/>
          <p:nvPr/>
        </p:nvSpPr>
        <p:spPr>
          <a:xfrm>
            <a:off x="2011680" y="2103120"/>
            <a:ext cx="9326880" cy="384048"/>
          </a:xfrm>
          <a:prstGeom prst="rect">
            <a:avLst/>
          </a:prstGeom>
          <a:noFill/>
        </p:spPr>
        <p:txBody>
          <a:bodyPr wrap="square" anchor="t"/>
          <a:lstStyle/>
          <a:p>
            <a:pPr algn="l">
              <a:defRPr sz="1200" b="0" i="0">
                <a:solidFill>
                  <a:srgbClr val="CCCCCC"/>
                </a:solidFill>
              </a:defRPr>
            </a:pPr>
            <a:r>
              <a:t>Packers routinely zero e_shoff to frustrate disassemblers like IDA/Ghidra</a:t>
            </a:r>
          </a:p>
        </p:txBody>
      </p:sp>
      <p:sp>
        <p:nvSpPr>
          <p:cNvPr id="11" name="Rounded Rectangle 10"/>
          <p:cNvSpPr/>
          <p:nvPr/>
        </p:nvSpPr>
        <p:spPr>
          <a:xfrm>
            <a:off x="731520" y="2606040"/>
            <a:ext cx="1097280" cy="292608"/>
          </a:xfrm>
          <a:prstGeom prst="round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MEDIUM</a:t>
            </a:r>
          </a:p>
        </p:txBody>
      </p:sp>
      <p:sp>
        <p:nvSpPr>
          <p:cNvPr id="12" name="TextBox 11"/>
          <p:cNvSpPr txBox="1"/>
          <p:nvPr/>
        </p:nvSpPr>
        <p:spPr>
          <a:xfrm>
            <a:off x="2011680" y="2560320"/>
            <a:ext cx="9326880" cy="384048"/>
          </a:xfrm>
          <a:prstGeom prst="rect">
            <a:avLst/>
          </a:prstGeom>
          <a:noFill/>
        </p:spPr>
        <p:txBody>
          <a:bodyPr wrap="square" anchor="t"/>
          <a:lstStyle/>
          <a:p>
            <a:pPr algn="l">
              <a:defRPr sz="1200" b="0" i="0">
                <a:solidFill>
                  <a:srgbClr val="CCCCCC"/>
                </a:solidFill>
              </a:defRPr>
            </a:pPr>
            <a:r>
              <a:t>Section names can lie: a section named .text can contain writable data</a:t>
            </a:r>
          </a:p>
        </p:txBody>
      </p:sp>
      <p:sp>
        <p:nvSpPr>
          <p:cNvPr id="13" name="Rounded Rectangle 12"/>
          <p:cNvSpPr/>
          <p:nvPr/>
        </p:nvSpPr>
        <p:spPr>
          <a:xfrm>
            <a:off x="731520" y="3063240"/>
            <a:ext cx="1097280" cy="292608"/>
          </a:xfrm>
          <a:prstGeom prst="round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MEDIUM</a:t>
            </a:r>
          </a:p>
        </p:txBody>
      </p:sp>
      <p:sp>
        <p:nvSpPr>
          <p:cNvPr id="14" name="TextBox 13"/>
          <p:cNvSpPr txBox="1"/>
          <p:nvPr/>
        </p:nvSpPr>
        <p:spPr>
          <a:xfrm>
            <a:off x="2011680" y="3017520"/>
            <a:ext cx="9326880" cy="384048"/>
          </a:xfrm>
          <a:prstGeom prst="rect">
            <a:avLst/>
          </a:prstGeom>
          <a:noFill/>
        </p:spPr>
        <p:txBody>
          <a:bodyPr wrap="square" anchor="t"/>
          <a:lstStyle/>
          <a:p>
            <a:pPr algn="l">
              <a:defRPr sz="1200" b="0" i="0">
                <a:solidFill>
                  <a:srgbClr val="CCCCCC"/>
                </a:solidFill>
              </a:defRPr>
            </a:pPr>
            <a:r>
              <a:t>Overlapping sections (same file offset, different attributes) confuse analysis tools</a:t>
            </a:r>
          </a:p>
        </p:txBody>
      </p:sp>
      <p:sp>
        <p:nvSpPr>
          <p:cNvPr id="15" name="Rounded Rectangle 14"/>
          <p:cNvSpPr/>
          <p:nvPr/>
        </p:nvSpPr>
        <p:spPr>
          <a:xfrm>
            <a:off x="731520" y="3520440"/>
            <a:ext cx="1097280" cy="292608"/>
          </a:xfrm>
          <a:prstGeom prst="roundRect">
            <a:avLst/>
          </a:prstGeom>
          <a:solidFill>
            <a:srgbClr val="4488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INFO</a:t>
            </a:r>
          </a:p>
        </p:txBody>
      </p:sp>
      <p:sp>
        <p:nvSpPr>
          <p:cNvPr id="16" name="TextBox 15"/>
          <p:cNvSpPr txBox="1"/>
          <p:nvPr/>
        </p:nvSpPr>
        <p:spPr>
          <a:xfrm>
            <a:off x="2011680" y="3474720"/>
            <a:ext cx="9326880" cy="384048"/>
          </a:xfrm>
          <a:prstGeom prst="rect">
            <a:avLst/>
          </a:prstGeom>
          <a:noFill/>
        </p:spPr>
        <p:txBody>
          <a:bodyPr wrap="square" anchor="t"/>
          <a:lstStyle/>
          <a:p>
            <a:pPr algn="l">
              <a:defRPr sz="1200" b="0" i="0">
                <a:solidFill>
                  <a:srgbClr val="CCCCCC"/>
                </a:solidFill>
              </a:defRPr>
            </a:pPr>
            <a:r>
              <a:t>Detection strategy: always validate program headers first, sections second</a:t>
            </a:r>
          </a:p>
        </p:txBody>
      </p:sp>
      <p:sp>
        <p:nvSpPr>
          <p:cNvPr id="17" name="Rounded Rectangle 16"/>
          <p:cNvSpPr/>
          <p:nvPr/>
        </p:nvSpPr>
        <p:spPr>
          <a:xfrm>
            <a:off x="731520" y="3977640"/>
            <a:ext cx="1097280" cy="292608"/>
          </a:xfrm>
          <a:prstGeom prst="roundRect">
            <a:avLst/>
          </a:prstGeom>
          <a:solidFill>
            <a:srgbClr val="4488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INFO</a:t>
            </a:r>
          </a:p>
        </p:txBody>
      </p:sp>
      <p:sp>
        <p:nvSpPr>
          <p:cNvPr id="18" name="TextBox 17"/>
          <p:cNvSpPr txBox="1"/>
          <p:nvPr/>
        </p:nvSpPr>
        <p:spPr>
          <a:xfrm>
            <a:off x="2011680" y="3931920"/>
            <a:ext cx="9326880" cy="384048"/>
          </a:xfrm>
          <a:prstGeom prst="rect">
            <a:avLst/>
          </a:prstGeom>
          <a:noFill/>
        </p:spPr>
        <p:txBody>
          <a:bodyPr wrap="square" anchor="t"/>
          <a:lstStyle/>
          <a:p>
            <a:pPr algn="l">
              <a:defRPr sz="1200" b="0" i="0">
                <a:solidFill>
                  <a:srgbClr val="CCCCCC"/>
                </a:solidFill>
              </a:defRPr>
            </a:pPr>
            <a:r>
              <a:t>If program headers and section headers disagree, trust program headers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2</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The ELF File Header</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Elf64_Ehdr — 64 bytes that define everything about the binary's structure</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Elf64_Ehdr — The ELF File Header Structure</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9601200" y="320040"/>
            <a:ext cx="1828800" cy="274320"/>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D4FF"/>
                </a:solidFill>
              </a:defRPr>
            </a:pPr>
            <a:r>
              <a:t>C (elf.h)</a:t>
            </a:r>
          </a:p>
        </p:txBody>
      </p:sp>
      <p:sp>
        <p:nvSpPr>
          <p:cNvPr id="6" name="Rounded Rectangle 5"/>
          <p:cNvSpPr/>
          <p:nvPr/>
        </p:nvSpPr>
        <p:spPr>
          <a:xfrm>
            <a:off x="548640" y="1097280"/>
            <a:ext cx="10789920" cy="4389120"/>
          </a:xfrm>
          <a:prstGeom prst="roundRect">
            <a:avLst/>
          </a:prstGeom>
          <a:solidFill>
            <a:srgbClr val="14142A"/>
          </a:solidFill>
          <a:ln w="1270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cxnSp>
        <p:nvCxnSpPr>
          <p:cNvPr id="7" name="Connector 6"/>
          <p:cNvCxnSpPr/>
          <p:nvPr/>
        </p:nvCxnSpPr>
        <p:spPr>
          <a:xfrm>
            <a:off x="548640" y="1417320"/>
            <a:ext cx="10789920" cy="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7240" y="1207008"/>
            <a:ext cx="137160" cy="13716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Oval 8"/>
          <p:cNvSpPr/>
          <p:nvPr/>
        </p:nvSpPr>
        <p:spPr>
          <a:xfrm>
            <a:off x="1005840" y="1207008"/>
            <a:ext cx="137160" cy="1371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Oval 9"/>
          <p:cNvSpPr/>
          <p:nvPr/>
        </p:nvSpPr>
        <p:spPr>
          <a:xfrm>
            <a:off x="1234440" y="1207008"/>
            <a:ext cx="137160" cy="13716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777240" y="1508760"/>
            <a:ext cx="10332720" cy="3840480"/>
          </a:xfrm>
          <a:prstGeom prst="rect">
            <a:avLst/>
          </a:prstGeom>
          <a:noFill/>
        </p:spPr>
        <p:txBody>
          <a:bodyPr wrap="square" anchor="t"/>
          <a:lstStyle/>
          <a:p>
            <a:pPr algn="l">
              <a:defRPr sz="1000" b="0" i="0">
                <a:solidFill>
                  <a:srgbClr val="CCCCCC"/>
                </a:solidFill>
                <a:latin typeface="Consolas"/>
              </a:defRPr>
            </a:pPr>
            <a:r>
              <a:t>typedef struct {</a:t>
            </a:r>
            <a:br/>
            <a:r>
              <a:t>    unsigned char e_ident[16];   // Magic + class + endian + OS/ABI</a:t>
            </a:r>
            <a:br/>
            <a:r>
              <a:t>    Elf64_Half    e_type;        // ET_REL(1) | ET_EXEC(2) | ET_DYN(3) | ET_CORE(4)</a:t>
            </a:r>
            <a:br/>
            <a:r>
              <a:t>    Elf64_Half    e_machine;     // EM_X86_64(62) | EM_AARCH64(183) | ...</a:t>
            </a:r>
            <a:br/>
            <a:r>
              <a:t>    Elf64_Word    e_version;     // EV_CURRENT(1)</a:t>
            </a:r>
            <a:br/>
            <a:r>
              <a:t>    Elf64_Addr    e_entry;       // Virtual address of entry point</a:t>
            </a:r>
            <a:br/>
            <a:r>
              <a:t>    Elf64_Off     e_phoff;       // Program header table file offset</a:t>
            </a:r>
            <a:br/>
            <a:r>
              <a:t>    Elf64_Off     e_shoff;       // Section header table file offset</a:t>
            </a:r>
            <a:br/>
            <a:r>
              <a:t>    Elf64_Word    e_flags;       // Processor-specific flags</a:t>
            </a:r>
            <a:br/>
            <a:r>
              <a:t>    Elf64_Half    e_ehsize;      // Size of this header: 64 for ELF64</a:t>
            </a:r>
            <a:br/>
            <a:r>
              <a:t>    Elf64_Half    e_phentsize;   // Size of one phdr entry: 56 for ELF64</a:t>
            </a:r>
            <a:br/>
            <a:r>
              <a:t>    Elf64_Half    e_phnum;       // Number of program header entries</a:t>
            </a:r>
            <a:br/>
            <a:r>
              <a:t>    Elf64_Half    e_shentsize;   // Size of one shdr entry: 64 for ELF64</a:t>
            </a:r>
            <a:br/>
            <a:r>
              <a:t>    Elf64_Half    e_shnum;       // Number of section header entries</a:t>
            </a:r>
            <a:br/>
            <a:r>
              <a:t>    Elf64_Half    e_shstrndx;    // Section name string table index</a:t>
            </a:r>
            <a:br/>
            <a:r>
              <a:t>} Elf64_Ehdr;</a:t>
            </a:r>
          </a:p>
        </p:txBody>
      </p:sp>
      <p:sp>
        <p:nvSpPr>
          <p:cNvPr id="12" name="TextBox 11"/>
          <p:cNvSpPr txBox="1"/>
          <p:nvPr/>
        </p:nvSpPr>
        <p:spPr>
          <a:xfrm>
            <a:off x="731520" y="5623560"/>
            <a:ext cx="10515600" cy="274320"/>
          </a:xfrm>
          <a:prstGeom prst="rect">
            <a:avLst/>
          </a:prstGeom>
          <a:noFill/>
        </p:spPr>
        <p:txBody>
          <a:bodyPr wrap="square" anchor="t"/>
          <a:lstStyle/>
          <a:p>
            <a:pPr algn="l">
              <a:defRPr sz="1000" b="0" i="1">
                <a:solidFill>
                  <a:srgbClr val="999999"/>
                </a:solidFill>
              </a:defRPr>
            </a:pPr>
            <a:r>
              <a:t>→ First 16 bytes (e_ident): 0x7F 'E' 'L' 'F' + class/endian/version/OS-ABI</a:t>
            </a:r>
          </a:p>
        </p:txBody>
      </p:sp>
      <p:sp>
        <p:nvSpPr>
          <p:cNvPr id="13" name="TextBox 12"/>
          <p:cNvSpPr txBox="1"/>
          <p:nvPr/>
        </p:nvSpPr>
        <p:spPr>
          <a:xfrm>
            <a:off x="731520" y="5879592"/>
            <a:ext cx="10515600" cy="274320"/>
          </a:xfrm>
          <a:prstGeom prst="rect">
            <a:avLst/>
          </a:prstGeom>
          <a:noFill/>
        </p:spPr>
        <p:txBody>
          <a:bodyPr wrap="square" anchor="t"/>
          <a:lstStyle/>
          <a:p>
            <a:pPr algn="l">
              <a:defRPr sz="1000" b="0" i="1">
                <a:solidFill>
                  <a:srgbClr val="999999"/>
                </a:solidFill>
              </a:defRPr>
            </a:pPr>
            <a:r>
              <a:t>→ e_type ET_DYN is ambiguous: shared objects AND PIE executables are both ET_DYN</a:t>
            </a:r>
          </a:p>
        </p:txBody>
      </p:sp>
      <p:sp>
        <p:nvSpPr>
          <p:cNvPr id="14" name="TextBox 13"/>
          <p:cNvSpPr txBox="1"/>
          <p:nvPr/>
        </p:nvSpPr>
        <p:spPr>
          <a:xfrm>
            <a:off x="731520" y="6135624"/>
            <a:ext cx="10515600" cy="274320"/>
          </a:xfrm>
          <a:prstGeom prst="rect">
            <a:avLst/>
          </a:prstGeom>
          <a:noFill/>
        </p:spPr>
        <p:txBody>
          <a:bodyPr wrap="square" anchor="t"/>
          <a:lstStyle/>
          <a:p>
            <a:pPr algn="l">
              <a:defRPr sz="1000" b="0" i="1">
                <a:solidFill>
                  <a:srgbClr val="999999"/>
                </a:solidFill>
              </a:defRPr>
            </a:pPr>
            <a:r>
              <a:t>→ e_entry for PIE: offset from load base (not absolute VA) — kernel adds ASLR base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e_ident[16] — Magic Identification Array</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The first 16 bytes of every ELF file</a:t>
            </a:r>
          </a:p>
        </p:txBody>
      </p:sp>
      <p:sp>
        <p:nvSpPr>
          <p:cNvPr id="6" name="Rounded Rectangle 5"/>
          <p:cNvSpPr/>
          <p:nvPr/>
        </p:nvSpPr>
        <p:spPr>
          <a:xfrm>
            <a:off x="731520" y="1371600"/>
            <a:ext cx="2114296" cy="384048"/>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D4FF"/>
                </a:solidFill>
              </a:defRPr>
            </a:pPr>
            <a:r>
              <a:t>Offset</a:t>
            </a:r>
          </a:p>
        </p:txBody>
      </p:sp>
      <p:sp>
        <p:nvSpPr>
          <p:cNvPr id="7" name="Rounded Rectangle 6"/>
          <p:cNvSpPr/>
          <p:nvPr/>
        </p:nvSpPr>
        <p:spPr>
          <a:xfrm>
            <a:off x="2871216" y="1371600"/>
            <a:ext cx="2114296" cy="384048"/>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FF88"/>
                </a:solidFill>
              </a:defRPr>
            </a:pPr>
            <a:r>
              <a:t>Name</a:t>
            </a:r>
          </a:p>
        </p:txBody>
      </p:sp>
      <p:sp>
        <p:nvSpPr>
          <p:cNvPr id="8" name="Rounded Rectangle 7"/>
          <p:cNvSpPr/>
          <p:nvPr/>
        </p:nvSpPr>
        <p:spPr>
          <a:xfrm>
            <a:off x="5010912" y="1371600"/>
            <a:ext cx="2114296" cy="384048"/>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D700"/>
                </a:solidFill>
              </a:defRPr>
            </a:pPr>
            <a:r>
              <a:t>Size</a:t>
            </a:r>
          </a:p>
        </p:txBody>
      </p:sp>
      <p:sp>
        <p:nvSpPr>
          <p:cNvPr id="9" name="Rounded Rectangle 8"/>
          <p:cNvSpPr/>
          <p:nvPr/>
        </p:nvSpPr>
        <p:spPr>
          <a:xfrm>
            <a:off x="7150608" y="1371600"/>
            <a:ext cx="2114296" cy="384048"/>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4444"/>
                </a:solidFill>
              </a:defRPr>
            </a:pPr>
            <a:r>
              <a:t>Value</a:t>
            </a:r>
          </a:p>
        </p:txBody>
      </p:sp>
      <p:sp>
        <p:nvSpPr>
          <p:cNvPr id="10" name="Rounded Rectangle 9"/>
          <p:cNvSpPr/>
          <p:nvPr/>
        </p:nvSpPr>
        <p:spPr>
          <a:xfrm>
            <a:off x="9290304" y="1371600"/>
            <a:ext cx="2114296" cy="384048"/>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BB86FC"/>
                </a:solidFill>
              </a:defRPr>
            </a:pPr>
            <a:r>
              <a:t>Purpose</a:t>
            </a:r>
          </a:p>
        </p:txBody>
      </p:sp>
      <p:sp>
        <p:nvSpPr>
          <p:cNvPr id="11" name="Rounded Rectangle 10"/>
          <p:cNvSpPr/>
          <p:nvPr/>
        </p:nvSpPr>
        <p:spPr>
          <a:xfrm>
            <a:off x="731520" y="1793748"/>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0-3</a:t>
            </a:r>
          </a:p>
        </p:txBody>
      </p:sp>
      <p:sp>
        <p:nvSpPr>
          <p:cNvPr id="12" name="Rounded Rectangle 11"/>
          <p:cNvSpPr/>
          <p:nvPr/>
        </p:nvSpPr>
        <p:spPr>
          <a:xfrm>
            <a:off x="2871216" y="1793748"/>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EI_MAG0-3</a:t>
            </a:r>
          </a:p>
        </p:txBody>
      </p:sp>
      <p:sp>
        <p:nvSpPr>
          <p:cNvPr id="13" name="Rounded Rectangle 12"/>
          <p:cNvSpPr/>
          <p:nvPr/>
        </p:nvSpPr>
        <p:spPr>
          <a:xfrm>
            <a:off x="5010912" y="1793748"/>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4B</a:t>
            </a:r>
          </a:p>
        </p:txBody>
      </p:sp>
      <p:sp>
        <p:nvSpPr>
          <p:cNvPr id="14" name="Rounded Rectangle 13"/>
          <p:cNvSpPr/>
          <p:nvPr/>
        </p:nvSpPr>
        <p:spPr>
          <a:xfrm>
            <a:off x="7150608" y="1793748"/>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0x7F 'E' 'L' 'F'</a:t>
            </a:r>
          </a:p>
        </p:txBody>
      </p:sp>
      <p:sp>
        <p:nvSpPr>
          <p:cNvPr id="15" name="Rounded Rectangle 14"/>
          <p:cNvSpPr/>
          <p:nvPr/>
        </p:nvSpPr>
        <p:spPr>
          <a:xfrm>
            <a:off x="9290304" y="1793748"/>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ELF magic number</a:t>
            </a:r>
          </a:p>
        </p:txBody>
      </p:sp>
      <p:sp>
        <p:nvSpPr>
          <p:cNvPr id="16" name="Rounded Rectangle 15"/>
          <p:cNvSpPr/>
          <p:nvPr/>
        </p:nvSpPr>
        <p:spPr>
          <a:xfrm>
            <a:off x="731520" y="2166620"/>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4</a:t>
            </a:r>
          </a:p>
        </p:txBody>
      </p:sp>
      <p:sp>
        <p:nvSpPr>
          <p:cNvPr id="17" name="Rounded Rectangle 16"/>
          <p:cNvSpPr/>
          <p:nvPr/>
        </p:nvSpPr>
        <p:spPr>
          <a:xfrm>
            <a:off x="2871216" y="2166620"/>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EI_CLASS</a:t>
            </a:r>
          </a:p>
        </p:txBody>
      </p:sp>
      <p:sp>
        <p:nvSpPr>
          <p:cNvPr id="18" name="Rounded Rectangle 17"/>
          <p:cNvSpPr/>
          <p:nvPr/>
        </p:nvSpPr>
        <p:spPr>
          <a:xfrm>
            <a:off x="5010912" y="2166620"/>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1B</a:t>
            </a:r>
          </a:p>
        </p:txBody>
      </p:sp>
      <p:sp>
        <p:nvSpPr>
          <p:cNvPr id="19" name="Rounded Rectangle 18"/>
          <p:cNvSpPr/>
          <p:nvPr/>
        </p:nvSpPr>
        <p:spPr>
          <a:xfrm>
            <a:off x="7150608" y="2166620"/>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1=32-bit, 2=64-bit</a:t>
            </a:r>
          </a:p>
        </p:txBody>
      </p:sp>
      <p:sp>
        <p:nvSpPr>
          <p:cNvPr id="20" name="Rounded Rectangle 19"/>
          <p:cNvSpPr/>
          <p:nvPr/>
        </p:nvSpPr>
        <p:spPr>
          <a:xfrm>
            <a:off x="9290304" y="2166620"/>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Address size class</a:t>
            </a:r>
          </a:p>
        </p:txBody>
      </p:sp>
      <p:sp>
        <p:nvSpPr>
          <p:cNvPr id="21" name="Rounded Rectangle 20"/>
          <p:cNvSpPr/>
          <p:nvPr/>
        </p:nvSpPr>
        <p:spPr>
          <a:xfrm>
            <a:off x="731520" y="2539492"/>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5</a:t>
            </a:r>
          </a:p>
        </p:txBody>
      </p:sp>
      <p:sp>
        <p:nvSpPr>
          <p:cNvPr id="22" name="Rounded Rectangle 21"/>
          <p:cNvSpPr/>
          <p:nvPr/>
        </p:nvSpPr>
        <p:spPr>
          <a:xfrm>
            <a:off x="2871216" y="2539492"/>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EI_DATA</a:t>
            </a:r>
          </a:p>
        </p:txBody>
      </p:sp>
      <p:sp>
        <p:nvSpPr>
          <p:cNvPr id="23" name="Rounded Rectangle 22"/>
          <p:cNvSpPr/>
          <p:nvPr/>
        </p:nvSpPr>
        <p:spPr>
          <a:xfrm>
            <a:off x="5010912" y="2539492"/>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1B</a:t>
            </a:r>
          </a:p>
        </p:txBody>
      </p:sp>
      <p:sp>
        <p:nvSpPr>
          <p:cNvPr id="24" name="Rounded Rectangle 23"/>
          <p:cNvSpPr/>
          <p:nvPr/>
        </p:nvSpPr>
        <p:spPr>
          <a:xfrm>
            <a:off x="7150608" y="2539492"/>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1=LSB, 2=MSB</a:t>
            </a:r>
          </a:p>
        </p:txBody>
      </p:sp>
      <p:sp>
        <p:nvSpPr>
          <p:cNvPr id="25" name="Rounded Rectangle 24"/>
          <p:cNvSpPr/>
          <p:nvPr/>
        </p:nvSpPr>
        <p:spPr>
          <a:xfrm>
            <a:off x="9290304" y="2539492"/>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Byte order (endianness)</a:t>
            </a:r>
          </a:p>
        </p:txBody>
      </p:sp>
      <p:sp>
        <p:nvSpPr>
          <p:cNvPr id="26" name="Rounded Rectangle 25"/>
          <p:cNvSpPr/>
          <p:nvPr/>
        </p:nvSpPr>
        <p:spPr>
          <a:xfrm>
            <a:off x="731520" y="2912364"/>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6</a:t>
            </a:r>
          </a:p>
        </p:txBody>
      </p:sp>
      <p:sp>
        <p:nvSpPr>
          <p:cNvPr id="27" name="Rounded Rectangle 26"/>
          <p:cNvSpPr/>
          <p:nvPr/>
        </p:nvSpPr>
        <p:spPr>
          <a:xfrm>
            <a:off x="2871216" y="2912364"/>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EI_VERSION</a:t>
            </a:r>
          </a:p>
        </p:txBody>
      </p:sp>
      <p:sp>
        <p:nvSpPr>
          <p:cNvPr id="28" name="Rounded Rectangle 27"/>
          <p:cNvSpPr/>
          <p:nvPr/>
        </p:nvSpPr>
        <p:spPr>
          <a:xfrm>
            <a:off x="5010912" y="2912364"/>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1B</a:t>
            </a:r>
          </a:p>
        </p:txBody>
      </p:sp>
      <p:sp>
        <p:nvSpPr>
          <p:cNvPr id="29" name="Rounded Rectangle 28"/>
          <p:cNvSpPr/>
          <p:nvPr/>
        </p:nvSpPr>
        <p:spPr>
          <a:xfrm>
            <a:off x="7150608" y="2912364"/>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 (EV_CURRENT)</a:t>
            </a:r>
          </a:p>
        </p:txBody>
      </p:sp>
      <p:sp>
        <p:nvSpPr>
          <p:cNvPr id="30" name="Rounded Rectangle 29"/>
          <p:cNvSpPr/>
          <p:nvPr/>
        </p:nvSpPr>
        <p:spPr>
          <a:xfrm>
            <a:off x="9290304" y="2912364"/>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ELF version (always 1)</a:t>
            </a:r>
          </a:p>
        </p:txBody>
      </p:sp>
      <p:sp>
        <p:nvSpPr>
          <p:cNvPr id="31" name="Rounded Rectangle 30"/>
          <p:cNvSpPr/>
          <p:nvPr/>
        </p:nvSpPr>
        <p:spPr>
          <a:xfrm>
            <a:off x="731520" y="3285236"/>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7</a:t>
            </a:r>
          </a:p>
        </p:txBody>
      </p:sp>
      <p:sp>
        <p:nvSpPr>
          <p:cNvPr id="32" name="Rounded Rectangle 31"/>
          <p:cNvSpPr/>
          <p:nvPr/>
        </p:nvSpPr>
        <p:spPr>
          <a:xfrm>
            <a:off x="2871216" y="3285236"/>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EI_OSABI</a:t>
            </a:r>
          </a:p>
        </p:txBody>
      </p:sp>
      <p:sp>
        <p:nvSpPr>
          <p:cNvPr id="33" name="Rounded Rectangle 32"/>
          <p:cNvSpPr/>
          <p:nvPr/>
        </p:nvSpPr>
        <p:spPr>
          <a:xfrm>
            <a:off x="5010912" y="3285236"/>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1B</a:t>
            </a:r>
          </a:p>
        </p:txBody>
      </p:sp>
      <p:sp>
        <p:nvSpPr>
          <p:cNvPr id="34" name="Rounded Rectangle 33"/>
          <p:cNvSpPr/>
          <p:nvPr/>
        </p:nvSpPr>
        <p:spPr>
          <a:xfrm>
            <a:off x="7150608" y="3285236"/>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0=NONE, 3=GNU</a:t>
            </a:r>
          </a:p>
        </p:txBody>
      </p:sp>
      <p:sp>
        <p:nvSpPr>
          <p:cNvPr id="35" name="Rounded Rectangle 34"/>
          <p:cNvSpPr/>
          <p:nvPr/>
        </p:nvSpPr>
        <p:spPr>
          <a:xfrm>
            <a:off x="9290304" y="3285236"/>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Target OS/ABI</a:t>
            </a:r>
          </a:p>
        </p:txBody>
      </p:sp>
      <p:sp>
        <p:nvSpPr>
          <p:cNvPr id="36" name="Rounded Rectangle 35"/>
          <p:cNvSpPr/>
          <p:nvPr/>
        </p:nvSpPr>
        <p:spPr>
          <a:xfrm>
            <a:off x="731520" y="3658108"/>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8</a:t>
            </a:r>
          </a:p>
        </p:txBody>
      </p:sp>
      <p:sp>
        <p:nvSpPr>
          <p:cNvPr id="37" name="Rounded Rectangle 36"/>
          <p:cNvSpPr/>
          <p:nvPr/>
        </p:nvSpPr>
        <p:spPr>
          <a:xfrm>
            <a:off x="2871216" y="3658108"/>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EI_ABIVERSION</a:t>
            </a:r>
          </a:p>
        </p:txBody>
      </p:sp>
      <p:sp>
        <p:nvSpPr>
          <p:cNvPr id="38" name="Rounded Rectangle 37"/>
          <p:cNvSpPr/>
          <p:nvPr/>
        </p:nvSpPr>
        <p:spPr>
          <a:xfrm>
            <a:off x="5010912" y="3658108"/>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1B</a:t>
            </a:r>
          </a:p>
        </p:txBody>
      </p:sp>
      <p:sp>
        <p:nvSpPr>
          <p:cNvPr id="39" name="Rounded Rectangle 38"/>
          <p:cNvSpPr/>
          <p:nvPr/>
        </p:nvSpPr>
        <p:spPr>
          <a:xfrm>
            <a:off x="7150608" y="3658108"/>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0 (normally)</a:t>
            </a:r>
          </a:p>
        </p:txBody>
      </p:sp>
      <p:sp>
        <p:nvSpPr>
          <p:cNvPr id="40" name="Rounded Rectangle 39"/>
          <p:cNvSpPr/>
          <p:nvPr/>
        </p:nvSpPr>
        <p:spPr>
          <a:xfrm>
            <a:off x="9290304" y="3658108"/>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ABI version</a:t>
            </a:r>
          </a:p>
        </p:txBody>
      </p:sp>
      <p:sp>
        <p:nvSpPr>
          <p:cNvPr id="41" name="Rounded Rectangle 40"/>
          <p:cNvSpPr/>
          <p:nvPr/>
        </p:nvSpPr>
        <p:spPr>
          <a:xfrm>
            <a:off x="731520" y="4030980"/>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9-15</a:t>
            </a:r>
          </a:p>
        </p:txBody>
      </p:sp>
      <p:sp>
        <p:nvSpPr>
          <p:cNvPr id="42" name="Rounded Rectangle 41"/>
          <p:cNvSpPr/>
          <p:nvPr/>
        </p:nvSpPr>
        <p:spPr>
          <a:xfrm>
            <a:off x="2871216" y="4030980"/>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EI_PAD</a:t>
            </a:r>
          </a:p>
        </p:txBody>
      </p:sp>
      <p:sp>
        <p:nvSpPr>
          <p:cNvPr id="43" name="Rounded Rectangle 42"/>
          <p:cNvSpPr/>
          <p:nvPr/>
        </p:nvSpPr>
        <p:spPr>
          <a:xfrm>
            <a:off x="5010912" y="4030980"/>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7B</a:t>
            </a:r>
          </a:p>
        </p:txBody>
      </p:sp>
      <p:sp>
        <p:nvSpPr>
          <p:cNvPr id="44" name="Rounded Rectangle 43"/>
          <p:cNvSpPr/>
          <p:nvPr/>
        </p:nvSpPr>
        <p:spPr>
          <a:xfrm>
            <a:off x="7150608" y="4030980"/>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0x00...</a:t>
            </a:r>
          </a:p>
        </p:txBody>
      </p:sp>
      <p:sp>
        <p:nvSpPr>
          <p:cNvPr id="45" name="Rounded Rectangle 44"/>
          <p:cNvSpPr/>
          <p:nvPr/>
        </p:nvSpPr>
        <p:spPr>
          <a:xfrm>
            <a:off x="9290304" y="4030980"/>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Padding — can hide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e_type — The ET_DYN Ambiguity Problem</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Why PIE and .so are the same e_type — and how to tell them apart</a:t>
            </a:r>
          </a:p>
        </p:txBody>
      </p:sp>
      <p:sp>
        <p:nvSpPr>
          <p:cNvPr id="6" name="Rectangle 5"/>
          <p:cNvSpPr/>
          <p:nvPr/>
        </p:nvSpPr>
        <p:spPr>
          <a:xfrm>
            <a:off x="731520" y="1371600"/>
            <a:ext cx="54864" cy="5943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3200400" cy="274320"/>
          </a:xfrm>
          <a:prstGeom prst="rect">
            <a:avLst/>
          </a:prstGeom>
          <a:noFill/>
        </p:spPr>
        <p:txBody>
          <a:bodyPr wrap="square" anchor="t"/>
          <a:lstStyle/>
          <a:p>
            <a:pPr algn="l">
              <a:defRPr sz="1300" b="1" i="0">
                <a:solidFill>
                  <a:srgbClr val="00D4FF"/>
                </a:solidFill>
              </a:defRPr>
            </a:pPr>
            <a:r>
              <a:t>ET_REL (1) — Relocatable Object (.o)</a:t>
            </a:r>
          </a:p>
        </p:txBody>
      </p:sp>
      <p:sp>
        <p:nvSpPr>
          <p:cNvPr id="8" name="TextBox 7"/>
          <p:cNvSpPr txBox="1"/>
          <p:nvPr/>
        </p:nvSpPr>
        <p:spPr>
          <a:xfrm>
            <a:off x="914400" y="1627632"/>
            <a:ext cx="10058400" cy="365760"/>
          </a:xfrm>
          <a:prstGeom prst="rect">
            <a:avLst/>
          </a:prstGeom>
          <a:noFill/>
        </p:spPr>
        <p:txBody>
          <a:bodyPr wrap="square" anchor="t"/>
          <a:lstStyle/>
          <a:p>
            <a:pPr algn="l">
              <a:defRPr sz="1100" b="0" i="0">
                <a:solidFill>
                  <a:srgbClr val="CCCCCC"/>
                </a:solidFill>
              </a:defRPr>
            </a:pPr>
            <a:r>
              <a:t>Produced by compiler. Contains unresolved symbols. Input to the linker, never executed directly.</a:t>
            </a:r>
          </a:p>
        </p:txBody>
      </p:sp>
      <p:sp>
        <p:nvSpPr>
          <p:cNvPr id="9" name="Rectangle 8"/>
          <p:cNvSpPr/>
          <p:nvPr/>
        </p:nvSpPr>
        <p:spPr>
          <a:xfrm>
            <a:off x="731520" y="2029968"/>
            <a:ext cx="54864" cy="59436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29968"/>
            <a:ext cx="3200400" cy="274320"/>
          </a:xfrm>
          <a:prstGeom prst="rect">
            <a:avLst/>
          </a:prstGeom>
          <a:noFill/>
        </p:spPr>
        <p:txBody>
          <a:bodyPr wrap="square" anchor="t"/>
          <a:lstStyle/>
          <a:p>
            <a:pPr algn="l">
              <a:defRPr sz="1300" b="1" i="0">
                <a:solidFill>
                  <a:srgbClr val="00FF88"/>
                </a:solidFill>
              </a:defRPr>
            </a:pPr>
            <a:r>
              <a:t>ET_EXEC (2) — Fixed-Address Executable</a:t>
            </a:r>
          </a:p>
        </p:txBody>
      </p:sp>
      <p:sp>
        <p:nvSpPr>
          <p:cNvPr id="11" name="TextBox 10"/>
          <p:cNvSpPr txBox="1"/>
          <p:nvPr/>
        </p:nvSpPr>
        <p:spPr>
          <a:xfrm>
            <a:off x="914400" y="2286000"/>
            <a:ext cx="10058400" cy="365760"/>
          </a:xfrm>
          <a:prstGeom prst="rect">
            <a:avLst/>
          </a:prstGeom>
          <a:noFill/>
        </p:spPr>
        <p:txBody>
          <a:bodyPr wrap="square" anchor="t"/>
          <a:lstStyle/>
          <a:p>
            <a:pPr algn="l">
              <a:defRPr sz="1100" b="0" i="0">
                <a:solidFill>
                  <a:srgbClr val="CCCCCC"/>
                </a:solidFill>
              </a:defRPr>
            </a:pPr>
            <a:r>
              <a:t>Traditional non-PIE executable. Absolute virtual addresses. No ASLR for binary base. Legacy.</a:t>
            </a:r>
          </a:p>
        </p:txBody>
      </p:sp>
      <p:sp>
        <p:nvSpPr>
          <p:cNvPr id="12" name="Rectangle 11"/>
          <p:cNvSpPr/>
          <p:nvPr/>
        </p:nvSpPr>
        <p:spPr>
          <a:xfrm>
            <a:off x="731520" y="2688336"/>
            <a:ext cx="54864" cy="5943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688336"/>
            <a:ext cx="3200400" cy="274320"/>
          </a:xfrm>
          <a:prstGeom prst="rect">
            <a:avLst/>
          </a:prstGeom>
          <a:noFill/>
        </p:spPr>
        <p:txBody>
          <a:bodyPr wrap="square" anchor="t"/>
          <a:lstStyle/>
          <a:p>
            <a:pPr algn="l">
              <a:defRPr sz="1300" b="1" i="0">
                <a:solidFill>
                  <a:srgbClr val="FFD700"/>
                </a:solidFill>
              </a:defRPr>
            </a:pPr>
            <a:r>
              <a:t>ET_DYN (3) — Shared Object OR PIE Executable</a:t>
            </a:r>
          </a:p>
        </p:txBody>
      </p:sp>
      <p:sp>
        <p:nvSpPr>
          <p:cNvPr id="14" name="TextBox 13"/>
          <p:cNvSpPr txBox="1"/>
          <p:nvPr/>
        </p:nvSpPr>
        <p:spPr>
          <a:xfrm>
            <a:off x="914400" y="2944368"/>
            <a:ext cx="10058400" cy="365760"/>
          </a:xfrm>
          <a:prstGeom prst="rect">
            <a:avLst/>
          </a:prstGeom>
          <a:noFill/>
        </p:spPr>
        <p:txBody>
          <a:bodyPr wrap="square" anchor="t"/>
          <a:lstStyle/>
          <a:p>
            <a:pPr algn="l">
              <a:defRPr sz="1100" b="0" i="0">
                <a:solidFill>
                  <a:srgbClr val="CCCCCC"/>
                </a:solidFill>
              </a:defRPr>
            </a:pPr>
            <a:r>
              <a:t>AMBIGUOUS: both .so libraries and PIE executables use ET_DYN. Distinguishable only by: presence of PT_INTERP, DT_FLAGS_1 containing DF_1_PIE, or non-empty e_entry.</a:t>
            </a:r>
          </a:p>
        </p:txBody>
      </p:sp>
      <p:sp>
        <p:nvSpPr>
          <p:cNvPr id="15" name="Rectangle 14"/>
          <p:cNvSpPr/>
          <p:nvPr/>
        </p:nvSpPr>
        <p:spPr>
          <a:xfrm>
            <a:off x="731520" y="3346704"/>
            <a:ext cx="54864" cy="59436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346704"/>
            <a:ext cx="3200400" cy="274320"/>
          </a:xfrm>
          <a:prstGeom prst="rect">
            <a:avLst/>
          </a:prstGeom>
          <a:noFill/>
        </p:spPr>
        <p:txBody>
          <a:bodyPr wrap="square" anchor="t"/>
          <a:lstStyle/>
          <a:p>
            <a:pPr algn="l">
              <a:defRPr sz="1300" b="1" i="0">
                <a:solidFill>
                  <a:srgbClr val="FF4444"/>
                </a:solidFill>
              </a:defRPr>
            </a:pPr>
            <a:r>
              <a:t>ET_CORE (4) — Core Dump</a:t>
            </a:r>
          </a:p>
        </p:txBody>
      </p:sp>
      <p:sp>
        <p:nvSpPr>
          <p:cNvPr id="17" name="TextBox 16"/>
          <p:cNvSpPr txBox="1"/>
          <p:nvPr/>
        </p:nvSpPr>
        <p:spPr>
          <a:xfrm>
            <a:off x="914400" y="3602736"/>
            <a:ext cx="10058400" cy="365760"/>
          </a:xfrm>
          <a:prstGeom prst="rect">
            <a:avLst/>
          </a:prstGeom>
          <a:noFill/>
        </p:spPr>
        <p:txBody>
          <a:bodyPr wrap="square" anchor="t"/>
          <a:lstStyle/>
          <a:p>
            <a:pPr algn="l">
              <a:defRPr sz="1100" b="0" i="0">
                <a:solidFill>
                  <a:srgbClr val="CCCCCC"/>
                </a:solidFill>
              </a:defRPr>
            </a:pPr>
            <a:r>
              <a:t>Produced by kernel on crash. Contains PT_LOAD segments with process memory. Used for post-mortem analysis and malware unpacking (gcore).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Extended Number Encoding — Overflow Workarounds</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How ELF handles more than 65534 sections or program headers</a:t>
            </a:r>
          </a:p>
        </p:txBody>
      </p:sp>
      <p:sp>
        <p:nvSpPr>
          <p:cNvPr id="6" name="Rectangle 5"/>
          <p:cNvSpPr/>
          <p:nvPr/>
        </p:nvSpPr>
        <p:spPr>
          <a:xfrm>
            <a:off x="731520" y="1371600"/>
            <a:ext cx="54864" cy="5943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3200400" cy="274320"/>
          </a:xfrm>
          <a:prstGeom prst="rect">
            <a:avLst/>
          </a:prstGeom>
          <a:noFill/>
        </p:spPr>
        <p:txBody>
          <a:bodyPr wrap="square" anchor="t"/>
          <a:lstStyle/>
          <a:p>
            <a:pPr algn="l">
              <a:defRPr sz="1300" b="1" i="0">
                <a:solidFill>
                  <a:srgbClr val="00D4FF"/>
                </a:solidFill>
              </a:defRPr>
            </a:pPr>
            <a:r>
              <a:t>e_phnum Overflow (PN_XNUM = 0xFFFF)</a:t>
            </a:r>
          </a:p>
        </p:txBody>
      </p:sp>
      <p:sp>
        <p:nvSpPr>
          <p:cNvPr id="8" name="TextBox 7"/>
          <p:cNvSpPr txBox="1"/>
          <p:nvPr/>
        </p:nvSpPr>
        <p:spPr>
          <a:xfrm>
            <a:off x="914400" y="1627632"/>
            <a:ext cx="10058400" cy="365760"/>
          </a:xfrm>
          <a:prstGeom prst="rect">
            <a:avLst/>
          </a:prstGeom>
          <a:noFill/>
        </p:spPr>
        <p:txBody>
          <a:bodyPr wrap="square" anchor="t"/>
          <a:lstStyle/>
          <a:p>
            <a:pPr algn="l">
              <a:defRPr sz="1100" b="0" i="0">
                <a:solidFill>
                  <a:srgbClr val="CCCCCC"/>
                </a:solidFill>
              </a:defRPr>
            </a:pPr>
            <a:r>
              <a:t>When e_phnum == 0xFFFF, real count is in sh_info of section header 0. 16-bit field limit: max 65534 program headers directly.</a:t>
            </a:r>
          </a:p>
        </p:txBody>
      </p:sp>
      <p:sp>
        <p:nvSpPr>
          <p:cNvPr id="9" name="Rectangle 8"/>
          <p:cNvSpPr/>
          <p:nvPr/>
        </p:nvSpPr>
        <p:spPr>
          <a:xfrm>
            <a:off x="731520" y="2029968"/>
            <a:ext cx="54864" cy="59436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29968"/>
            <a:ext cx="3200400" cy="274320"/>
          </a:xfrm>
          <a:prstGeom prst="rect">
            <a:avLst/>
          </a:prstGeom>
          <a:noFill/>
        </p:spPr>
        <p:txBody>
          <a:bodyPr wrap="square" anchor="t"/>
          <a:lstStyle/>
          <a:p>
            <a:pPr algn="l">
              <a:defRPr sz="1300" b="1" i="0">
                <a:solidFill>
                  <a:srgbClr val="00FF88"/>
                </a:solidFill>
              </a:defRPr>
            </a:pPr>
            <a:r>
              <a:t>e_shnum Overflow</a:t>
            </a:r>
          </a:p>
        </p:txBody>
      </p:sp>
      <p:sp>
        <p:nvSpPr>
          <p:cNvPr id="11" name="TextBox 10"/>
          <p:cNvSpPr txBox="1"/>
          <p:nvPr/>
        </p:nvSpPr>
        <p:spPr>
          <a:xfrm>
            <a:off x="914400" y="2286000"/>
            <a:ext cx="10058400" cy="365760"/>
          </a:xfrm>
          <a:prstGeom prst="rect">
            <a:avLst/>
          </a:prstGeom>
          <a:noFill/>
        </p:spPr>
        <p:txBody>
          <a:bodyPr wrap="square" anchor="t"/>
          <a:lstStyle/>
          <a:p>
            <a:pPr algn="l">
              <a:defRPr sz="1100" b="0" i="0">
                <a:solidFill>
                  <a:srgbClr val="CCCCCC"/>
                </a:solidFill>
              </a:defRPr>
            </a:pPr>
            <a:r>
              <a:t>When e_shnum == 0 with non-zero e_shoff, real section count is in sh_size of section header 0.</a:t>
            </a:r>
          </a:p>
        </p:txBody>
      </p:sp>
      <p:sp>
        <p:nvSpPr>
          <p:cNvPr id="12" name="Rectangle 11"/>
          <p:cNvSpPr/>
          <p:nvPr/>
        </p:nvSpPr>
        <p:spPr>
          <a:xfrm>
            <a:off x="731520" y="2688336"/>
            <a:ext cx="54864" cy="5943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688336"/>
            <a:ext cx="3200400" cy="274320"/>
          </a:xfrm>
          <a:prstGeom prst="rect">
            <a:avLst/>
          </a:prstGeom>
          <a:noFill/>
        </p:spPr>
        <p:txBody>
          <a:bodyPr wrap="square" anchor="t"/>
          <a:lstStyle/>
          <a:p>
            <a:pPr algn="l">
              <a:defRPr sz="1300" b="1" i="0">
                <a:solidFill>
                  <a:srgbClr val="FFD700"/>
                </a:solidFill>
              </a:defRPr>
            </a:pPr>
            <a:r>
              <a:t>e_shstrndx Overflow (SHN_XINDEX = 0xFFFF)</a:t>
            </a:r>
          </a:p>
        </p:txBody>
      </p:sp>
      <p:sp>
        <p:nvSpPr>
          <p:cNvPr id="14" name="TextBox 13"/>
          <p:cNvSpPr txBox="1"/>
          <p:nvPr/>
        </p:nvSpPr>
        <p:spPr>
          <a:xfrm>
            <a:off x="914400" y="2944368"/>
            <a:ext cx="10058400" cy="365760"/>
          </a:xfrm>
          <a:prstGeom prst="rect">
            <a:avLst/>
          </a:prstGeom>
          <a:noFill/>
        </p:spPr>
        <p:txBody>
          <a:bodyPr wrap="square" anchor="t"/>
          <a:lstStyle/>
          <a:p>
            <a:pPr algn="l">
              <a:defRPr sz="1100" b="0" i="0">
                <a:solidFill>
                  <a:srgbClr val="CCCCCC"/>
                </a:solidFill>
              </a:defRPr>
            </a:pPr>
            <a:r>
              <a:t>When e_shstrndx == 0xFFFF, real string table section index is in sh_link of section header 0.</a:t>
            </a:r>
          </a:p>
        </p:txBody>
      </p:sp>
      <p:sp>
        <p:nvSpPr>
          <p:cNvPr id="15" name="Rectangle 14"/>
          <p:cNvSpPr/>
          <p:nvPr/>
        </p:nvSpPr>
        <p:spPr>
          <a:xfrm>
            <a:off x="731520" y="3346704"/>
            <a:ext cx="54864" cy="59436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346704"/>
            <a:ext cx="3200400" cy="274320"/>
          </a:xfrm>
          <a:prstGeom prst="rect">
            <a:avLst/>
          </a:prstGeom>
          <a:noFill/>
        </p:spPr>
        <p:txBody>
          <a:bodyPr wrap="square" anchor="t"/>
          <a:lstStyle/>
          <a:p>
            <a:pPr algn="l">
              <a:defRPr sz="1300" b="1" i="0">
                <a:solidFill>
                  <a:srgbClr val="FF4444"/>
                </a:solidFill>
              </a:defRPr>
            </a:pPr>
            <a:r>
              <a:t>Detection Implication</a:t>
            </a:r>
          </a:p>
        </p:txBody>
      </p:sp>
      <p:sp>
        <p:nvSpPr>
          <p:cNvPr id="17" name="TextBox 16"/>
          <p:cNvSpPr txBox="1"/>
          <p:nvPr/>
        </p:nvSpPr>
        <p:spPr>
          <a:xfrm>
            <a:off x="914400" y="3602736"/>
            <a:ext cx="10058400" cy="365760"/>
          </a:xfrm>
          <a:prstGeom prst="rect">
            <a:avLst/>
          </a:prstGeom>
          <a:noFill/>
        </p:spPr>
        <p:txBody>
          <a:bodyPr wrap="square" anchor="t"/>
          <a:lstStyle/>
          <a:p>
            <a:pPr algn="l">
              <a:defRPr sz="1100" b="0" i="0">
                <a:solidFill>
                  <a:srgbClr val="CCCCCC"/>
                </a:solidFill>
              </a:defRPr>
            </a:pPr>
            <a:r>
              <a:t>Anomalous values in these fields can be used to confuse analysis tools that don't handle the extended encoding. Malware sometimes sets these to invalid values deliberately.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 Header Anomaly Detection Signals</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188720"/>
            <a:ext cx="2286000" cy="50292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4444"/>
                </a:solidFill>
              </a:defRPr>
            </a:pPr>
            <a:r>
              <a:t>e_shoff = 0</a:t>
            </a:r>
          </a:p>
        </p:txBody>
      </p:sp>
      <p:sp>
        <p:nvSpPr>
          <p:cNvPr id="6" name="TextBox 5"/>
          <p:cNvSpPr txBox="1"/>
          <p:nvPr/>
        </p:nvSpPr>
        <p:spPr>
          <a:xfrm>
            <a:off x="3200400" y="1234440"/>
            <a:ext cx="8229600" cy="457200"/>
          </a:xfrm>
          <a:prstGeom prst="rect">
            <a:avLst/>
          </a:prstGeom>
          <a:noFill/>
        </p:spPr>
        <p:txBody>
          <a:bodyPr wrap="square" anchor="t"/>
          <a:lstStyle/>
          <a:p>
            <a:pPr algn="l">
              <a:defRPr sz="1100" b="0" i="0">
                <a:solidFill>
                  <a:srgbClr val="CCCCCC"/>
                </a:solidFill>
              </a:defRPr>
            </a:pPr>
            <a:r>
              <a:t>No section headers — binary still runs but loses analyzability. Strong anomaly signal.</a:t>
            </a:r>
          </a:p>
        </p:txBody>
      </p:sp>
      <p:sp>
        <p:nvSpPr>
          <p:cNvPr id="7" name="Rounded Rectangle 6"/>
          <p:cNvSpPr/>
          <p:nvPr/>
        </p:nvSpPr>
        <p:spPr>
          <a:xfrm>
            <a:off x="731520" y="1755648"/>
            <a:ext cx="2286000" cy="502920"/>
          </a:xfrm>
          <a:prstGeom prst="roundRect">
            <a:avLst/>
          </a:prstGeom>
          <a:solidFill>
            <a:srgbClr val="1C1C34"/>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8C00"/>
                </a:solidFill>
              </a:defRPr>
            </a:pPr>
            <a:r>
              <a:t>e_phentsize ≠ 56</a:t>
            </a:r>
          </a:p>
        </p:txBody>
      </p:sp>
      <p:sp>
        <p:nvSpPr>
          <p:cNvPr id="8" name="TextBox 7"/>
          <p:cNvSpPr txBox="1"/>
          <p:nvPr/>
        </p:nvSpPr>
        <p:spPr>
          <a:xfrm>
            <a:off x="3200400" y="1801368"/>
            <a:ext cx="8229600" cy="457200"/>
          </a:xfrm>
          <a:prstGeom prst="rect">
            <a:avLst/>
          </a:prstGeom>
          <a:noFill/>
        </p:spPr>
        <p:txBody>
          <a:bodyPr wrap="square" anchor="t"/>
          <a:lstStyle/>
          <a:p>
            <a:pPr algn="l">
              <a:defRPr sz="1100" b="0" i="0">
                <a:solidFill>
                  <a:srgbClr val="CCCCCC"/>
                </a:solidFill>
              </a:defRPr>
            </a:pPr>
            <a:r>
              <a:t>Invalid program header entry size for 64-bit (should always be 56 bytes).</a:t>
            </a:r>
          </a:p>
        </p:txBody>
      </p:sp>
      <p:sp>
        <p:nvSpPr>
          <p:cNvPr id="9" name="Rounded Rectangle 8"/>
          <p:cNvSpPr/>
          <p:nvPr/>
        </p:nvSpPr>
        <p:spPr>
          <a:xfrm>
            <a:off x="731520" y="2322576"/>
            <a:ext cx="2286000" cy="50292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D700"/>
                </a:solidFill>
              </a:defRPr>
            </a:pPr>
            <a:r>
              <a:t>e_ehsize ≠ 64</a:t>
            </a:r>
          </a:p>
        </p:txBody>
      </p:sp>
      <p:sp>
        <p:nvSpPr>
          <p:cNvPr id="10" name="TextBox 9"/>
          <p:cNvSpPr txBox="1"/>
          <p:nvPr/>
        </p:nvSpPr>
        <p:spPr>
          <a:xfrm>
            <a:off x="3200400" y="2368296"/>
            <a:ext cx="8229600" cy="457200"/>
          </a:xfrm>
          <a:prstGeom prst="rect">
            <a:avLst/>
          </a:prstGeom>
          <a:noFill/>
        </p:spPr>
        <p:txBody>
          <a:bodyPr wrap="square" anchor="t"/>
          <a:lstStyle/>
          <a:p>
            <a:pPr algn="l">
              <a:defRPr sz="1100" b="0" i="0">
                <a:solidFill>
                  <a:srgbClr val="CCCCCC"/>
                </a:solidFill>
              </a:defRPr>
            </a:pPr>
            <a:r>
              <a:t>Invalid ELF header size for 64-bit (should always be 64 bytes).</a:t>
            </a:r>
          </a:p>
        </p:txBody>
      </p:sp>
      <p:sp>
        <p:nvSpPr>
          <p:cNvPr id="11" name="Rounded Rectangle 10"/>
          <p:cNvSpPr/>
          <p:nvPr/>
        </p:nvSpPr>
        <p:spPr>
          <a:xfrm>
            <a:off x="731520" y="2889504"/>
            <a:ext cx="2286000" cy="502920"/>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BB86FC"/>
                </a:solidFill>
              </a:defRPr>
            </a:pPr>
            <a:r>
              <a:t>e_ident[9-15] ≠ 0</a:t>
            </a:r>
          </a:p>
        </p:txBody>
      </p:sp>
      <p:sp>
        <p:nvSpPr>
          <p:cNvPr id="12" name="TextBox 11"/>
          <p:cNvSpPr txBox="1"/>
          <p:nvPr/>
        </p:nvSpPr>
        <p:spPr>
          <a:xfrm>
            <a:off x="3200400" y="2935224"/>
            <a:ext cx="8229600" cy="457200"/>
          </a:xfrm>
          <a:prstGeom prst="rect">
            <a:avLst/>
          </a:prstGeom>
          <a:noFill/>
        </p:spPr>
        <p:txBody>
          <a:bodyPr wrap="square" anchor="t"/>
          <a:lstStyle/>
          <a:p>
            <a:pPr algn="l">
              <a:defRPr sz="1100" b="0" i="0">
                <a:solidFill>
                  <a:srgbClr val="CCCCCC"/>
                </a:solidFill>
              </a:defRPr>
            </a:pPr>
            <a:r>
              <a:t>Non-zero padding bytes — potential data smuggling in unused header space.</a:t>
            </a:r>
          </a:p>
        </p:txBody>
      </p:sp>
      <p:sp>
        <p:nvSpPr>
          <p:cNvPr id="13" name="Rounded Rectangle 12"/>
          <p:cNvSpPr/>
          <p:nvPr/>
        </p:nvSpPr>
        <p:spPr>
          <a:xfrm>
            <a:off x="731520" y="3456432"/>
            <a:ext cx="2286000" cy="50292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4444"/>
                </a:solidFill>
              </a:defRPr>
            </a:pPr>
            <a:r>
              <a:t>e_entry → non-X seg</a:t>
            </a:r>
          </a:p>
        </p:txBody>
      </p:sp>
      <p:sp>
        <p:nvSpPr>
          <p:cNvPr id="14" name="TextBox 13"/>
          <p:cNvSpPr txBox="1"/>
          <p:nvPr/>
        </p:nvSpPr>
        <p:spPr>
          <a:xfrm>
            <a:off x="3200400" y="3502152"/>
            <a:ext cx="8229600" cy="457200"/>
          </a:xfrm>
          <a:prstGeom prst="rect">
            <a:avLst/>
          </a:prstGeom>
          <a:noFill/>
        </p:spPr>
        <p:txBody>
          <a:bodyPr wrap="square" anchor="t"/>
          <a:lstStyle/>
          <a:p>
            <a:pPr algn="l">
              <a:defRPr sz="1100" b="0" i="0">
                <a:solidFill>
                  <a:srgbClr val="CCCCCC"/>
                </a:solidFill>
              </a:defRPr>
            </a:pPr>
            <a:r>
              <a:t>Entry point pointing into a non-executable segment — post-link modification.</a:t>
            </a:r>
          </a:p>
        </p:txBody>
      </p:sp>
      <p:sp>
        <p:nvSpPr>
          <p:cNvPr id="15" name="Rounded Rectangle 14"/>
          <p:cNvSpPr/>
          <p:nvPr/>
        </p:nvSpPr>
        <p:spPr>
          <a:xfrm>
            <a:off x="731520" y="4023360"/>
            <a:ext cx="2286000" cy="50292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D4FF"/>
                </a:solidFill>
              </a:defRPr>
            </a:pPr>
            <a:r>
              <a:t>e_phoff unusual</a:t>
            </a:r>
          </a:p>
        </p:txBody>
      </p:sp>
      <p:sp>
        <p:nvSpPr>
          <p:cNvPr id="16" name="TextBox 15"/>
          <p:cNvSpPr txBox="1"/>
          <p:nvPr/>
        </p:nvSpPr>
        <p:spPr>
          <a:xfrm>
            <a:off x="3200400" y="4069080"/>
            <a:ext cx="8229600" cy="457200"/>
          </a:xfrm>
          <a:prstGeom prst="rect">
            <a:avLst/>
          </a:prstGeom>
          <a:noFill/>
        </p:spPr>
        <p:txBody>
          <a:bodyPr wrap="square" anchor="t"/>
          <a:lstStyle/>
          <a:p>
            <a:pPr algn="l">
              <a:defRPr sz="1100" b="0" i="0">
                <a:solidFill>
                  <a:srgbClr val="CCCCCC"/>
                </a:solidFill>
              </a:defRPr>
            </a:pPr>
            <a:r>
              <a:t>Program header table not at offset 64 — custom or modified linker output.</a:t>
            </a:r>
          </a:p>
        </p:txBody>
      </p:sp>
      <p:sp>
        <p:nvSpPr>
          <p:cNvPr id="17" name="Rounded Rectangle 16"/>
          <p:cNvSpPr/>
          <p:nvPr/>
        </p:nvSpPr>
        <p:spPr>
          <a:xfrm>
            <a:off x="731520" y="4590288"/>
            <a:ext cx="2286000" cy="502920"/>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FF88"/>
                </a:solidFill>
              </a:defRPr>
            </a:pPr>
            <a:r>
              <a:t>e_type = ET_DYN</a:t>
            </a:r>
          </a:p>
        </p:txBody>
      </p:sp>
      <p:sp>
        <p:nvSpPr>
          <p:cNvPr id="18" name="TextBox 17"/>
          <p:cNvSpPr txBox="1"/>
          <p:nvPr/>
        </p:nvSpPr>
        <p:spPr>
          <a:xfrm>
            <a:off x="3200400" y="4636008"/>
            <a:ext cx="8229600" cy="457200"/>
          </a:xfrm>
          <a:prstGeom prst="rect">
            <a:avLst/>
          </a:prstGeom>
          <a:noFill/>
        </p:spPr>
        <p:txBody>
          <a:bodyPr wrap="square" anchor="t"/>
          <a:lstStyle/>
          <a:p>
            <a:pPr algn="l">
              <a:defRPr sz="1100" b="0" i="0">
                <a:solidFill>
                  <a:srgbClr val="CCCCCC"/>
                </a:solidFill>
              </a:defRPr>
            </a:pPr>
            <a:r>
              <a:t>Inspect further: is this a PIE (has PT_INTERP) or a shared library?</a:t>
            </a:r>
          </a:p>
        </p:txBody>
      </p:sp>
      <p:sp>
        <p:nvSpPr>
          <p:cNvPr id="19" name="Rounded Rectangle 18"/>
          <p:cNvSpPr/>
          <p:nvPr/>
        </p:nvSpPr>
        <p:spPr>
          <a:xfrm>
            <a:off x="731520" y="5157216"/>
            <a:ext cx="2286000" cy="502920"/>
          </a:xfrm>
          <a:prstGeom prst="roundRect">
            <a:avLst/>
          </a:prstGeom>
          <a:solidFill>
            <a:srgbClr val="1C1C34"/>
          </a:solidFill>
          <a:ln w="12700">
            <a:solidFill>
              <a:srgbClr val="FF008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0080"/>
                </a:solidFill>
              </a:defRPr>
            </a:pPr>
            <a:r>
              <a:t>Missing PT_NOTE</a:t>
            </a:r>
          </a:p>
        </p:txBody>
      </p:sp>
      <p:sp>
        <p:nvSpPr>
          <p:cNvPr id="20" name="TextBox 19"/>
          <p:cNvSpPr txBox="1"/>
          <p:nvPr/>
        </p:nvSpPr>
        <p:spPr>
          <a:xfrm>
            <a:off x="3200400" y="5202936"/>
            <a:ext cx="8229600" cy="457200"/>
          </a:xfrm>
          <a:prstGeom prst="rect">
            <a:avLst/>
          </a:prstGeom>
          <a:noFill/>
        </p:spPr>
        <p:txBody>
          <a:bodyPr wrap="square" anchor="t"/>
          <a:lstStyle/>
          <a:p>
            <a:pPr algn="l">
              <a:defRPr sz="1100" b="0" i="0">
                <a:solidFill>
                  <a:srgbClr val="CCCCCC"/>
                </a:solidFill>
              </a:defRPr>
            </a:pPr>
            <a:r>
              <a:t>If build-ID section exists but PT_NOTE is gone — possible PT_NOTE→PT_LOAD infection.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3</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Program Headers &amp;</a:t>
            </a:r>
            <a:br/>
            <a:r>
              <a:t>Segment Loading</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Elf64_Phdr — the kernel's instruction manual for building a process image</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Elf64_Phdr — Program Header Structure</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9601200" y="320040"/>
            <a:ext cx="1828800" cy="274320"/>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D4FF"/>
                </a:solidFill>
              </a:defRPr>
            </a:pPr>
            <a:r>
              <a:t>C (elf.h)</a:t>
            </a:r>
          </a:p>
        </p:txBody>
      </p:sp>
      <p:sp>
        <p:nvSpPr>
          <p:cNvPr id="6" name="Rounded Rectangle 5"/>
          <p:cNvSpPr/>
          <p:nvPr/>
        </p:nvSpPr>
        <p:spPr>
          <a:xfrm>
            <a:off x="548640" y="1097280"/>
            <a:ext cx="10789920" cy="4389120"/>
          </a:xfrm>
          <a:prstGeom prst="roundRect">
            <a:avLst/>
          </a:prstGeom>
          <a:solidFill>
            <a:srgbClr val="14142A"/>
          </a:solidFill>
          <a:ln w="1270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cxnSp>
        <p:nvCxnSpPr>
          <p:cNvPr id="7" name="Connector 6"/>
          <p:cNvCxnSpPr/>
          <p:nvPr/>
        </p:nvCxnSpPr>
        <p:spPr>
          <a:xfrm>
            <a:off x="548640" y="1417320"/>
            <a:ext cx="10789920" cy="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7240" y="1207008"/>
            <a:ext cx="137160" cy="13716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Oval 8"/>
          <p:cNvSpPr/>
          <p:nvPr/>
        </p:nvSpPr>
        <p:spPr>
          <a:xfrm>
            <a:off x="1005840" y="1207008"/>
            <a:ext cx="137160" cy="1371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Oval 9"/>
          <p:cNvSpPr/>
          <p:nvPr/>
        </p:nvSpPr>
        <p:spPr>
          <a:xfrm>
            <a:off x="1234440" y="1207008"/>
            <a:ext cx="137160" cy="13716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777240" y="1508760"/>
            <a:ext cx="10332720" cy="3840480"/>
          </a:xfrm>
          <a:prstGeom prst="rect">
            <a:avLst/>
          </a:prstGeom>
          <a:noFill/>
        </p:spPr>
        <p:txBody>
          <a:bodyPr wrap="square" anchor="t"/>
          <a:lstStyle/>
          <a:p>
            <a:pPr algn="l">
              <a:defRPr sz="1000" b="0" i="0">
                <a:solidFill>
                  <a:srgbClr val="CCCCCC"/>
                </a:solidFill>
                <a:latin typeface="Consolas"/>
              </a:defRPr>
            </a:pPr>
            <a:r>
              <a:t>typedef struct {</a:t>
            </a:r>
            <a:br/>
            <a:r>
              <a:t>    Elf64_Word  p_type;     // PT_LOAD | PT_DYNAMIC | PT_INTERP | ...</a:t>
            </a:r>
            <a:br/>
            <a:r>
              <a:t>    Elf64_Word  p_flags;    // PF_R(4) | PF_W(2) | PF_X(1)</a:t>
            </a:r>
            <a:br/>
            <a:r>
              <a:t>    Elf64_Off   p_offset;   // File offset of segment data</a:t>
            </a:r>
            <a:br/>
            <a:r>
              <a:t>    Elf64_Addr  p_vaddr;    // Virtual address in memory (+ base for PIE)</a:t>
            </a:r>
            <a:br/>
            <a:r>
              <a:t>    Elf64_Addr  p_paddr;    // Physical address (ignored on Linux userspace)</a:t>
            </a:r>
            <a:br/>
            <a:r>
              <a:t>    Elf64_Xword p_filesz;   // Size of segment data in file</a:t>
            </a:r>
            <a:br/>
            <a:r>
              <a:t>    Elf64_Xword p_memsz;    // Size in memory (&gt;= p_filesz; excess is BSS)</a:t>
            </a:r>
            <a:br/>
            <a:r>
              <a:t>    Elf64_Xword p_align;    // Alignment (page-aligned for PT_LOAD)</a:t>
            </a:r>
            <a:br/>
            <a:r>
              <a:t>} Elf64_Phdr;</a:t>
            </a:r>
          </a:p>
        </p:txBody>
      </p:sp>
      <p:sp>
        <p:nvSpPr>
          <p:cNvPr id="12" name="TextBox 11"/>
          <p:cNvSpPr txBox="1"/>
          <p:nvPr/>
        </p:nvSpPr>
        <p:spPr>
          <a:xfrm>
            <a:off x="731520" y="5623560"/>
            <a:ext cx="10515600" cy="274320"/>
          </a:xfrm>
          <a:prstGeom prst="rect">
            <a:avLst/>
          </a:prstGeom>
          <a:noFill/>
        </p:spPr>
        <p:txBody>
          <a:bodyPr wrap="square" anchor="t"/>
          <a:lstStyle/>
          <a:p>
            <a:pPr algn="l">
              <a:defRPr sz="1000" b="0" i="1">
                <a:solidFill>
                  <a:srgbClr val="999999"/>
                </a:solidFill>
              </a:defRPr>
            </a:pPr>
            <a:r>
              <a:t>→ p_memsz - p_filesz = BSS region (zero-filled, takes memory but no file space)</a:t>
            </a:r>
          </a:p>
        </p:txBody>
      </p:sp>
      <p:sp>
        <p:nvSpPr>
          <p:cNvPr id="13" name="TextBox 12"/>
          <p:cNvSpPr txBox="1"/>
          <p:nvPr/>
        </p:nvSpPr>
        <p:spPr>
          <a:xfrm>
            <a:off x="731520" y="5879592"/>
            <a:ext cx="10515600" cy="274320"/>
          </a:xfrm>
          <a:prstGeom prst="rect">
            <a:avLst/>
          </a:prstGeom>
          <a:noFill/>
        </p:spPr>
        <p:txBody>
          <a:bodyPr wrap="square" anchor="t"/>
          <a:lstStyle/>
          <a:p>
            <a:pPr algn="l">
              <a:defRPr sz="1000" b="0" i="1">
                <a:solidFill>
                  <a:srgbClr val="999999"/>
                </a:solidFill>
              </a:defRPr>
            </a:pPr>
            <a:r>
              <a:t>→ p_flags maps to mmap permissions: PF_R→PROT_READ, PF_W→PROT_WRITE, PF_X→PROT_EXEC</a:t>
            </a:r>
          </a:p>
        </p:txBody>
      </p:sp>
      <p:sp>
        <p:nvSpPr>
          <p:cNvPr id="14" name="TextBox 13"/>
          <p:cNvSpPr txBox="1"/>
          <p:nvPr/>
        </p:nvSpPr>
        <p:spPr>
          <a:xfrm>
            <a:off x="731520" y="6135624"/>
            <a:ext cx="10515600" cy="274320"/>
          </a:xfrm>
          <a:prstGeom prst="rect">
            <a:avLst/>
          </a:prstGeom>
          <a:noFill/>
        </p:spPr>
        <p:txBody>
          <a:bodyPr wrap="square" anchor="t"/>
          <a:lstStyle/>
          <a:p>
            <a:pPr algn="l">
              <a:defRPr sz="1000" b="0" i="1">
                <a:solidFill>
                  <a:srgbClr val="999999"/>
                </a:solidFill>
              </a:defRPr>
            </a:pPr>
            <a:r>
              <a:t>→ For PIE (ET_DYN): p_vaddr is offset from load base, not absolute address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PT_LOAD Segment Loading — File → Memory Mapping</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A modern binary typically has 4 PT_LOAD segments with distinct permissions</a:t>
            </a:r>
          </a:p>
        </p:txBody>
      </p:sp>
      <p:sp>
        <p:nvSpPr>
          <p:cNvPr id="6" name="Rounded Rectangle 5"/>
          <p:cNvSpPr/>
          <p:nvPr/>
        </p:nvSpPr>
        <p:spPr>
          <a:xfrm>
            <a:off x="568960" y="1803400"/>
            <a:ext cx="1879600" cy="736600"/>
          </a:xfrm>
          <a:prstGeom prst="roundRect">
            <a:avLst/>
          </a:prstGeom>
          <a:noFill/>
          <a:ln w="317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7" name="Rounded Rectangle 6"/>
          <p:cNvSpPr/>
          <p:nvPr/>
        </p:nvSpPr>
        <p:spPr>
          <a:xfrm>
            <a:off x="594360" y="1828800"/>
            <a:ext cx="1828800" cy="68580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Kernel reads</a:t>
            </a:r>
            <a:br/>
            <a:r>
              <a:t>p_offset, p_filesz</a:t>
            </a:r>
          </a:p>
        </p:txBody>
      </p:sp>
      <p:sp>
        <p:nvSpPr>
          <p:cNvPr id="8" name="Right Arrow 7"/>
          <p:cNvSpPr/>
          <p:nvPr/>
        </p:nvSpPr>
        <p:spPr>
          <a:xfrm>
            <a:off x="2473960" y="2034540"/>
            <a:ext cx="264160" cy="228600"/>
          </a:xfrm>
          <a:prstGeom prst="rightArrow">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63520" y="1803400"/>
            <a:ext cx="1879600" cy="736600"/>
          </a:xfrm>
          <a:prstGeom prst="roundRect">
            <a:avLst/>
          </a:prstGeom>
          <a:noFill/>
          <a:ln w="317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Rounded Rectangle 9"/>
          <p:cNvSpPr/>
          <p:nvPr/>
        </p:nvSpPr>
        <p:spPr>
          <a:xfrm>
            <a:off x="2788920" y="1828800"/>
            <a:ext cx="1828800" cy="685800"/>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mmap at p_vaddr</a:t>
            </a:r>
            <a:br/>
            <a:r>
              <a:t>(+ ASLR base)</a:t>
            </a:r>
          </a:p>
        </p:txBody>
      </p:sp>
      <p:sp>
        <p:nvSpPr>
          <p:cNvPr id="11" name="Right Arrow 10"/>
          <p:cNvSpPr/>
          <p:nvPr/>
        </p:nvSpPr>
        <p:spPr>
          <a:xfrm>
            <a:off x="4668520" y="2034540"/>
            <a:ext cx="264160" cy="228600"/>
          </a:xfrm>
          <a:prstGeom prst="rightArrow">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58080" y="1803400"/>
            <a:ext cx="1879600" cy="736600"/>
          </a:xfrm>
          <a:prstGeom prst="roundRect">
            <a:avLst/>
          </a:prstGeom>
          <a:noFill/>
          <a:ln w="317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3" name="Rounded Rectangle 12"/>
          <p:cNvSpPr/>
          <p:nvPr/>
        </p:nvSpPr>
        <p:spPr>
          <a:xfrm>
            <a:off x="4983480" y="1828800"/>
            <a:ext cx="1828800" cy="68580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Set permissions</a:t>
            </a:r>
            <a:br/>
            <a:r>
              <a:t>from p_flags</a:t>
            </a:r>
          </a:p>
        </p:txBody>
      </p:sp>
      <p:sp>
        <p:nvSpPr>
          <p:cNvPr id="14" name="Right Arrow 13"/>
          <p:cNvSpPr/>
          <p:nvPr/>
        </p:nvSpPr>
        <p:spPr>
          <a:xfrm>
            <a:off x="6863080" y="2034540"/>
            <a:ext cx="264160" cy="228600"/>
          </a:xfrm>
          <a:prstGeom prst="righ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52640" y="1803400"/>
            <a:ext cx="1879600" cy="736600"/>
          </a:xfrm>
          <a:prstGeom prst="roundRect">
            <a:avLst/>
          </a:prstGeom>
          <a:noFill/>
          <a:ln w="317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6" name="Rounded Rectangle 15"/>
          <p:cNvSpPr/>
          <p:nvPr/>
        </p:nvSpPr>
        <p:spPr>
          <a:xfrm>
            <a:off x="7178040" y="1828800"/>
            <a:ext cx="1828800" cy="68580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Zero-fill BSS</a:t>
            </a:r>
            <a:br/>
            <a:r>
              <a:t>(memsz - filesz)</a:t>
            </a:r>
          </a:p>
        </p:txBody>
      </p:sp>
      <p:sp>
        <p:nvSpPr>
          <p:cNvPr id="17" name="Right Arrow 16"/>
          <p:cNvSpPr/>
          <p:nvPr/>
        </p:nvSpPr>
        <p:spPr>
          <a:xfrm>
            <a:off x="9057640" y="2034540"/>
            <a:ext cx="264160" cy="228600"/>
          </a:xfrm>
          <a:prstGeom prst="rightArrow">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347200" y="1803400"/>
            <a:ext cx="1879600" cy="736600"/>
          </a:xfrm>
          <a:prstGeom prst="roundRect">
            <a:avLst/>
          </a:prstGeom>
          <a:noFill/>
          <a:ln w="317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9" name="Rounded Rectangle 18"/>
          <p:cNvSpPr/>
          <p:nvPr/>
        </p:nvSpPr>
        <p:spPr>
          <a:xfrm>
            <a:off x="9372600" y="1828800"/>
            <a:ext cx="1828800" cy="685800"/>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Segment</a:t>
            </a:r>
            <a:br/>
            <a:r>
              <a:t>ready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Modern 4-Segment Layout (Post-Hardening Linker)</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The 4-segment split enables RELRO: segment 3 is mprotect'd read-only after relocation</a:t>
            </a:r>
          </a:p>
        </p:txBody>
      </p:sp>
      <p:sp>
        <p:nvSpPr>
          <p:cNvPr id="6" name="Rounded Rectangle 5"/>
          <p:cNvSpPr/>
          <p:nvPr/>
        </p:nvSpPr>
        <p:spPr>
          <a:xfrm>
            <a:off x="731520" y="1371600"/>
            <a:ext cx="2649220" cy="384048"/>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D4FF"/>
                </a:solidFill>
              </a:defRPr>
            </a:pPr>
            <a:r>
              <a:t>Segment</a:t>
            </a:r>
          </a:p>
        </p:txBody>
      </p:sp>
      <p:sp>
        <p:nvSpPr>
          <p:cNvPr id="7" name="Rounded Rectangle 6"/>
          <p:cNvSpPr/>
          <p:nvPr/>
        </p:nvSpPr>
        <p:spPr>
          <a:xfrm>
            <a:off x="3406140" y="1371600"/>
            <a:ext cx="2649220" cy="384048"/>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FF88"/>
                </a:solidFill>
              </a:defRPr>
            </a:pPr>
            <a:r>
              <a:t>Permissions</a:t>
            </a:r>
          </a:p>
        </p:txBody>
      </p:sp>
      <p:sp>
        <p:nvSpPr>
          <p:cNvPr id="8" name="Rounded Rectangle 7"/>
          <p:cNvSpPr/>
          <p:nvPr/>
        </p:nvSpPr>
        <p:spPr>
          <a:xfrm>
            <a:off x="6080760" y="1371600"/>
            <a:ext cx="2649220" cy="384048"/>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D700"/>
                </a:solidFill>
              </a:defRPr>
            </a:pPr>
            <a:r>
              <a:t>Contents</a:t>
            </a:r>
          </a:p>
        </p:txBody>
      </p:sp>
      <p:sp>
        <p:nvSpPr>
          <p:cNvPr id="9" name="Rounded Rectangle 8"/>
          <p:cNvSpPr/>
          <p:nvPr/>
        </p:nvSpPr>
        <p:spPr>
          <a:xfrm>
            <a:off x="8755380" y="1371600"/>
            <a:ext cx="2649220" cy="384048"/>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4444"/>
                </a:solidFill>
              </a:defRPr>
            </a:pPr>
            <a:r>
              <a:t>Security Role</a:t>
            </a:r>
          </a:p>
        </p:txBody>
      </p:sp>
      <p:sp>
        <p:nvSpPr>
          <p:cNvPr id="10" name="Rounded Rectangle 9"/>
          <p:cNvSpPr/>
          <p:nvPr/>
        </p:nvSpPr>
        <p:spPr>
          <a:xfrm>
            <a:off x="73152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PT_LOAD #1</a:t>
            </a:r>
          </a:p>
        </p:txBody>
      </p:sp>
      <p:sp>
        <p:nvSpPr>
          <p:cNvPr id="11" name="Rounded Rectangle 10"/>
          <p:cNvSpPr/>
          <p:nvPr/>
        </p:nvSpPr>
        <p:spPr>
          <a:xfrm>
            <a:off x="340614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 (read-only)</a:t>
            </a:r>
          </a:p>
        </p:txBody>
      </p:sp>
      <p:sp>
        <p:nvSpPr>
          <p:cNvPr id="12" name="Rounded Rectangle 11"/>
          <p:cNvSpPr/>
          <p:nvPr/>
        </p:nvSpPr>
        <p:spPr>
          <a:xfrm>
            <a:off x="608076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.note, .gnu.hash, .dynsym, .dynstr, .rela.dyn</a:t>
            </a:r>
          </a:p>
        </p:txBody>
      </p:sp>
      <p:sp>
        <p:nvSpPr>
          <p:cNvPr id="13" name="Rounded Rectangle 12"/>
          <p:cNvSpPr/>
          <p:nvPr/>
        </p:nvSpPr>
        <p:spPr>
          <a:xfrm>
            <a:off x="875538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Headers &amp; metadata</a:t>
            </a:r>
          </a:p>
        </p:txBody>
      </p:sp>
      <p:sp>
        <p:nvSpPr>
          <p:cNvPr id="14" name="Rounded Rectangle 13"/>
          <p:cNvSpPr/>
          <p:nvPr/>
        </p:nvSpPr>
        <p:spPr>
          <a:xfrm>
            <a:off x="73152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PT_LOAD #2</a:t>
            </a:r>
          </a:p>
        </p:txBody>
      </p:sp>
      <p:sp>
        <p:nvSpPr>
          <p:cNvPr id="15" name="Rounded Rectangle 14"/>
          <p:cNvSpPr/>
          <p:nvPr/>
        </p:nvSpPr>
        <p:spPr>
          <a:xfrm>
            <a:off x="340614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R-X (exec)</a:t>
            </a:r>
          </a:p>
        </p:txBody>
      </p:sp>
      <p:sp>
        <p:nvSpPr>
          <p:cNvPr id="16" name="Rounded Rectangle 15"/>
          <p:cNvSpPr/>
          <p:nvPr/>
        </p:nvSpPr>
        <p:spPr>
          <a:xfrm>
            <a:off x="608076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.text, .plt, .plt.got, .plt.sec, .init, .fini</a:t>
            </a:r>
          </a:p>
        </p:txBody>
      </p:sp>
      <p:sp>
        <p:nvSpPr>
          <p:cNvPr id="17" name="Rounded Rectangle 16"/>
          <p:cNvSpPr/>
          <p:nvPr/>
        </p:nvSpPr>
        <p:spPr>
          <a:xfrm>
            <a:off x="875538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Executable code</a:t>
            </a:r>
          </a:p>
        </p:txBody>
      </p:sp>
      <p:sp>
        <p:nvSpPr>
          <p:cNvPr id="18" name="Rounded Rectangle 17"/>
          <p:cNvSpPr/>
          <p:nvPr/>
        </p:nvSpPr>
        <p:spPr>
          <a:xfrm>
            <a:off x="73152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PT_LOAD #3</a:t>
            </a:r>
          </a:p>
        </p:txBody>
      </p:sp>
      <p:sp>
        <p:nvSpPr>
          <p:cNvPr id="19" name="Rounded Rectangle 18"/>
          <p:cNvSpPr/>
          <p:nvPr/>
        </p:nvSpPr>
        <p:spPr>
          <a:xfrm>
            <a:off x="340614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 (after RELRO)</a:t>
            </a:r>
          </a:p>
        </p:txBody>
      </p:sp>
      <p:sp>
        <p:nvSpPr>
          <p:cNvPr id="20" name="Rounded Rectangle 19"/>
          <p:cNvSpPr/>
          <p:nvPr/>
        </p:nvSpPr>
        <p:spPr>
          <a:xfrm>
            <a:off x="608076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.dynamic, .got, .data.rel.ro, .init_array, .fini_array</a:t>
            </a:r>
          </a:p>
        </p:txBody>
      </p:sp>
      <p:sp>
        <p:nvSpPr>
          <p:cNvPr id="21" name="Rounded Rectangle 20"/>
          <p:cNvSpPr/>
          <p:nvPr/>
        </p:nvSpPr>
        <p:spPr>
          <a:xfrm>
            <a:off x="875538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RELRO-protected data</a:t>
            </a:r>
          </a:p>
        </p:txBody>
      </p:sp>
      <p:sp>
        <p:nvSpPr>
          <p:cNvPr id="22" name="Rounded Rectangle 21"/>
          <p:cNvSpPr/>
          <p:nvPr/>
        </p:nvSpPr>
        <p:spPr>
          <a:xfrm>
            <a:off x="73152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PT_LOAD #4</a:t>
            </a:r>
          </a:p>
        </p:txBody>
      </p:sp>
      <p:sp>
        <p:nvSpPr>
          <p:cNvPr id="23" name="Rounded Rectangle 22"/>
          <p:cNvSpPr/>
          <p:nvPr/>
        </p:nvSpPr>
        <p:spPr>
          <a:xfrm>
            <a:off x="340614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RW- (writable)</a:t>
            </a:r>
          </a:p>
        </p:txBody>
      </p:sp>
      <p:sp>
        <p:nvSpPr>
          <p:cNvPr id="24" name="Rounded Rectangle 23"/>
          <p:cNvSpPr/>
          <p:nvPr/>
        </p:nvSpPr>
        <p:spPr>
          <a:xfrm>
            <a:off x="608076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.data, .got.plt, .bss</a:t>
            </a:r>
          </a:p>
        </p:txBody>
      </p:sp>
      <p:sp>
        <p:nvSpPr>
          <p:cNvPr id="25" name="Rounded Rectangle 24"/>
          <p:cNvSpPr/>
          <p:nvPr/>
        </p:nvSpPr>
        <p:spPr>
          <a:xfrm>
            <a:off x="875538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Writable data + lazy GOT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Complete Program Header Type Reference</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097280"/>
            <a:ext cx="2649220" cy="384048"/>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D4FF"/>
                </a:solidFill>
              </a:defRPr>
            </a:pPr>
            <a:r>
              <a:t>p_type</a:t>
            </a:r>
          </a:p>
        </p:txBody>
      </p:sp>
      <p:sp>
        <p:nvSpPr>
          <p:cNvPr id="6" name="Rounded Rectangle 5"/>
          <p:cNvSpPr/>
          <p:nvPr/>
        </p:nvSpPr>
        <p:spPr>
          <a:xfrm>
            <a:off x="3406140" y="1097280"/>
            <a:ext cx="2649220" cy="384048"/>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FF88"/>
                </a:solidFill>
              </a:defRPr>
            </a:pPr>
            <a:r>
              <a:t>Value</a:t>
            </a:r>
          </a:p>
        </p:txBody>
      </p:sp>
      <p:sp>
        <p:nvSpPr>
          <p:cNvPr id="7" name="Rounded Rectangle 6"/>
          <p:cNvSpPr/>
          <p:nvPr/>
        </p:nvSpPr>
        <p:spPr>
          <a:xfrm>
            <a:off x="6080760" y="1097280"/>
            <a:ext cx="2649220" cy="384048"/>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D700"/>
                </a:solidFill>
              </a:defRPr>
            </a:pPr>
            <a:r>
              <a:t>Purpose</a:t>
            </a:r>
          </a:p>
        </p:txBody>
      </p:sp>
      <p:sp>
        <p:nvSpPr>
          <p:cNvPr id="8" name="Rounded Rectangle 7"/>
          <p:cNvSpPr/>
          <p:nvPr/>
        </p:nvSpPr>
        <p:spPr>
          <a:xfrm>
            <a:off x="8755380" y="1097280"/>
            <a:ext cx="2649220" cy="384048"/>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4444"/>
                </a:solidFill>
              </a:defRPr>
            </a:pPr>
            <a:r>
              <a:t>Security Relevance</a:t>
            </a:r>
          </a:p>
        </p:txBody>
      </p:sp>
      <p:sp>
        <p:nvSpPr>
          <p:cNvPr id="9" name="Rounded Rectangle 8"/>
          <p:cNvSpPr/>
          <p:nvPr/>
        </p:nvSpPr>
        <p:spPr>
          <a:xfrm>
            <a:off x="731520" y="151942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PT_LOAD</a:t>
            </a:r>
          </a:p>
        </p:txBody>
      </p:sp>
      <p:sp>
        <p:nvSpPr>
          <p:cNvPr id="10" name="Rounded Rectangle 9"/>
          <p:cNvSpPr/>
          <p:nvPr/>
        </p:nvSpPr>
        <p:spPr>
          <a:xfrm>
            <a:off x="3406140" y="151942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a:t>
            </a:r>
          </a:p>
        </p:txBody>
      </p:sp>
      <p:sp>
        <p:nvSpPr>
          <p:cNvPr id="11" name="Rounded Rectangle 10"/>
          <p:cNvSpPr/>
          <p:nvPr/>
        </p:nvSpPr>
        <p:spPr>
          <a:xfrm>
            <a:off x="6080760" y="151942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Map file region into memory</a:t>
            </a:r>
          </a:p>
        </p:txBody>
      </p:sp>
      <p:sp>
        <p:nvSpPr>
          <p:cNvPr id="12" name="Rounded Rectangle 11"/>
          <p:cNvSpPr/>
          <p:nvPr/>
        </p:nvSpPr>
        <p:spPr>
          <a:xfrm>
            <a:off x="8755380" y="151942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RWX check: both W+X is anomalous</a:t>
            </a:r>
          </a:p>
        </p:txBody>
      </p:sp>
      <p:sp>
        <p:nvSpPr>
          <p:cNvPr id="13" name="Rounded Rectangle 12"/>
          <p:cNvSpPr/>
          <p:nvPr/>
        </p:nvSpPr>
        <p:spPr>
          <a:xfrm>
            <a:off x="731520" y="189230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PT_DYNAMIC</a:t>
            </a:r>
          </a:p>
        </p:txBody>
      </p:sp>
      <p:sp>
        <p:nvSpPr>
          <p:cNvPr id="14" name="Rounded Rectangle 13"/>
          <p:cNvSpPr/>
          <p:nvPr/>
        </p:nvSpPr>
        <p:spPr>
          <a:xfrm>
            <a:off x="3406140" y="189230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2</a:t>
            </a:r>
          </a:p>
        </p:txBody>
      </p:sp>
      <p:sp>
        <p:nvSpPr>
          <p:cNvPr id="15" name="Rounded Rectangle 14"/>
          <p:cNvSpPr/>
          <p:nvPr/>
        </p:nvSpPr>
        <p:spPr>
          <a:xfrm>
            <a:off x="6080760" y="189230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Points to .dynamic array</a:t>
            </a:r>
          </a:p>
        </p:txBody>
      </p:sp>
      <p:sp>
        <p:nvSpPr>
          <p:cNvPr id="16" name="Rounded Rectangle 15"/>
          <p:cNvSpPr/>
          <p:nvPr/>
        </p:nvSpPr>
        <p:spPr>
          <a:xfrm>
            <a:off x="8755380" y="189230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Mandatory for dynamic linking</a:t>
            </a:r>
          </a:p>
        </p:txBody>
      </p:sp>
      <p:sp>
        <p:nvSpPr>
          <p:cNvPr id="17" name="Rounded Rectangle 16"/>
          <p:cNvSpPr/>
          <p:nvPr/>
        </p:nvSpPr>
        <p:spPr>
          <a:xfrm>
            <a:off x="731520" y="226517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PT_INTERP</a:t>
            </a:r>
          </a:p>
        </p:txBody>
      </p:sp>
      <p:sp>
        <p:nvSpPr>
          <p:cNvPr id="18" name="Rounded Rectangle 17"/>
          <p:cNvSpPr/>
          <p:nvPr/>
        </p:nvSpPr>
        <p:spPr>
          <a:xfrm>
            <a:off x="3406140" y="226517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3</a:t>
            </a:r>
          </a:p>
        </p:txBody>
      </p:sp>
      <p:sp>
        <p:nvSpPr>
          <p:cNvPr id="19" name="Rounded Rectangle 18"/>
          <p:cNvSpPr/>
          <p:nvPr/>
        </p:nvSpPr>
        <p:spPr>
          <a:xfrm>
            <a:off x="6080760" y="226517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Path to dynamic linker</a:t>
            </a:r>
          </a:p>
        </p:txBody>
      </p:sp>
      <p:sp>
        <p:nvSpPr>
          <p:cNvPr id="20" name="Rounded Rectangle 19"/>
          <p:cNvSpPr/>
          <p:nvPr/>
        </p:nvSpPr>
        <p:spPr>
          <a:xfrm>
            <a:off x="8755380" y="226517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Absent = static binary (no LD_PRELOAD)</a:t>
            </a:r>
          </a:p>
        </p:txBody>
      </p:sp>
      <p:sp>
        <p:nvSpPr>
          <p:cNvPr id="21" name="Rounded Rectangle 20"/>
          <p:cNvSpPr/>
          <p:nvPr/>
        </p:nvSpPr>
        <p:spPr>
          <a:xfrm>
            <a:off x="731520" y="263804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PT_NOTE</a:t>
            </a:r>
          </a:p>
        </p:txBody>
      </p:sp>
      <p:sp>
        <p:nvSpPr>
          <p:cNvPr id="22" name="Rounded Rectangle 21"/>
          <p:cNvSpPr/>
          <p:nvPr/>
        </p:nvSpPr>
        <p:spPr>
          <a:xfrm>
            <a:off x="3406140" y="263804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4</a:t>
            </a:r>
          </a:p>
        </p:txBody>
      </p:sp>
      <p:sp>
        <p:nvSpPr>
          <p:cNvPr id="23" name="Rounded Rectangle 22"/>
          <p:cNvSpPr/>
          <p:nvPr/>
        </p:nvSpPr>
        <p:spPr>
          <a:xfrm>
            <a:off x="6080760" y="263804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Build ID, ABI tags, CET/BTI</a:t>
            </a:r>
          </a:p>
        </p:txBody>
      </p:sp>
      <p:sp>
        <p:nvSpPr>
          <p:cNvPr id="24" name="Rounded Rectangle 23"/>
          <p:cNvSpPr/>
          <p:nvPr/>
        </p:nvSpPr>
        <p:spPr>
          <a:xfrm>
            <a:off x="8755380" y="263804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Target of PT_NOTE→PT_LOAD infection</a:t>
            </a:r>
          </a:p>
        </p:txBody>
      </p:sp>
      <p:sp>
        <p:nvSpPr>
          <p:cNvPr id="25" name="Rounded Rectangle 24"/>
          <p:cNvSpPr/>
          <p:nvPr/>
        </p:nvSpPr>
        <p:spPr>
          <a:xfrm>
            <a:off x="731520" y="301091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PT_PHDR</a:t>
            </a:r>
          </a:p>
        </p:txBody>
      </p:sp>
      <p:sp>
        <p:nvSpPr>
          <p:cNvPr id="26" name="Rounded Rectangle 25"/>
          <p:cNvSpPr/>
          <p:nvPr/>
        </p:nvSpPr>
        <p:spPr>
          <a:xfrm>
            <a:off x="3406140" y="301091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6</a:t>
            </a:r>
          </a:p>
        </p:txBody>
      </p:sp>
      <p:sp>
        <p:nvSpPr>
          <p:cNvPr id="27" name="Rounded Rectangle 26"/>
          <p:cNvSpPr/>
          <p:nvPr/>
        </p:nvSpPr>
        <p:spPr>
          <a:xfrm>
            <a:off x="6080760" y="301091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Self-describes phdr table</a:t>
            </a:r>
          </a:p>
        </p:txBody>
      </p:sp>
      <p:sp>
        <p:nvSpPr>
          <p:cNvPr id="28" name="Rounded Rectangle 27"/>
          <p:cNvSpPr/>
          <p:nvPr/>
        </p:nvSpPr>
        <p:spPr>
          <a:xfrm>
            <a:off x="8755380" y="301091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Used by ld.so to find own headers</a:t>
            </a:r>
          </a:p>
        </p:txBody>
      </p:sp>
      <p:sp>
        <p:nvSpPr>
          <p:cNvPr id="29" name="Rounded Rectangle 28"/>
          <p:cNvSpPr/>
          <p:nvPr/>
        </p:nvSpPr>
        <p:spPr>
          <a:xfrm>
            <a:off x="731520" y="338378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PT_TLS</a:t>
            </a:r>
          </a:p>
        </p:txBody>
      </p:sp>
      <p:sp>
        <p:nvSpPr>
          <p:cNvPr id="30" name="Rounded Rectangle 29"/>
          <p:cNvSpPr/>
          <p:nvPr/>
        </p:nvSpPr>
        <p:spPr>
          <a:xfrm>
            <a:off x="3406140" y="338378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7</a:t>
            </a:r>
          </a:p>
        </p:txBody>
      </p:sp>
      <p:sp>
        <p:nvSpPr>
          <p:cNvPr id="31" name="Rounded Rectangle 30"/>
          <p:cNvSpPr/>
          <p:nvPr/>
        </p:nvSpPr>
        <p:spPr>
          <a:xfrm>
            <a:off x="6080760" y="338378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Thread-local storage template</a:t>
            </a:r>
          </a:p>
        </p:txBody>
      </p:sp>
      <p:sp>
        <p:nvSpPr>
          <p:cNvPr id="32" name="Rounded Rectangle 31"/>
          <p:cNvSpPr/>
          <p:nvPr/>
        </p:nvSpPr>
        <p:spPr>
          <a:xfrm>
            <a:off x="8755380" y="338378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Per-thread .tdata/.tbss init image</a:t>
            </a:r>
          </a:p>
        </p:txBody>
      </p:sp>
      <p:sp>
        <p:nvSpPr>
          <p:cNvPr id="33" name="Rounded Rectangle 32"/>
          <p:cNvSpPr/>
          <p:nvPr/>
        </p:nvSpPr>
        <p:spPr>
          <a:xfrm>
            <a:off x="731520" y="375666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PT_GNU_STACK</a:t>
            </a:r>
          </a:p>
        </p:txBody>
      </p:sp>
      <p:sp>
        <p:nvSpPr>
          <p:cNvPr id="34" name="Rounded Rectangle 33"/>
          <p:cNvSpPr/>
          <p:nvPr/>
        </p:nvSpPr>
        <p:spPr>
          <a:xfrm>
            <a:off x="3406140" y="375666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0x6474e551</a:t>
            </a:r>
          </a:p>
        </p:txBody>
      </p:sp>
      <p:sp>
        <p:nvSpPr>
          <p:cNvPr id="35" name="Rounded Rectangle 34"/>
          <p:cNvSpPr/>
          <p:nvPr/>
        </p:nvSpPr>
        <p:spPr>
          <a:xfrm>
            <a:off x="6080760" y="375666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Stack permissions</a:t>
            </a:r>
          </a:p>
        </p:txBody>
      </p:sp>
      <p:sp>
        <p:nvSpPr>
          <p:cNvPr id="36" name="Rounded Rectangle 35"/>
          <p:cNvSpPr/>
          <p:nvPr/>
        </p:nvSpPr>
        <p:spPr>
          <a:xfrm>
            <a:off x="8755380" y="375666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PF_X = executable stack (anomalous)</a:t>
            </a:r>
          </a:p>
        </p:txBody>
      </p:sp>
      <p:sp>
        <p:nvSpPr>
          <p:cNvPr id="37" name="Rounded Rectangle 36"/>
          <p:cNvSpPr/>
          <p:nvPr/>
        </p:nvSpPr>
        <p:spPr>
          <a:xfrm>
            <a:off x="731520" y="4129532"/>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PT_GNU_RELRO</a:t>
            </a:r>
          </a:p>
        </p:txBody>
      </p:sp>
      <p:sp>
        <p:nvSpPr>
          <p:cNvPr id="38" name="Rounded Rectangle 37"/>
          <p:cNvSpPr/>
          <p:nvPr/>
        </p:nvSpPr>
        <p:spPr>
          <a:xfrm>
            <a:off x="3406140" y="4129532"/>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0x6474e552</a:t>
            </a:r>
          </a:p>
        </p:txBody>
      </p:sp>
      <p:sp>
        <p:nvSpPr>
          <p:cNvPr id="39" name="Rounded Rectangle 38"/>
          <p:cNvSpPr/>
          <p:nvPr/>
        </p:nvSpPr>
        <p:spPr>
          <a:xfrm>
            <a:off x="6080760" y="4129532"/>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RELRO region bounds</a:t>
            </a:r>
          </a:p>
        </p:txBody>
      </p:sp>
      <p:sp>
        <p:nvSpPr>
          <p:cNvPr id="40" name="Rounded Rectangle 39"/>
          <p:cNvSpPr/>
          <p:nvPr/>
        </p:nvSpPr>
        <p:spPr>
          <a:xfrm>
            <a:off x="8755380" y="4129532"/>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mprotect'd R-- after relocation</a:t>
            </a:r>
          </a:p>
        </p:txBody>
      </p:sp>
      <p:sp>
        <p:nvSpPr>
          <p:cNvPr id="41" name="Rounded Rectangle 40"/>
          <p:cNvSpPr/>
          <p:nvPr/>
        </p:nvSpPr>
        <p:spPr>
          <a:xfrm>
            <a:off x="731520" y="4502404"/>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PT_GNU_EH_FRAME</a:t>
            </a:r>
          </a:p>
        </p:txBody>
      </p:sp>
      <p:sp>
        <p:nvSpPr>
          <p:cNvPr id="42" name="Rounded Rectangle 41"/>
          <p:cNvSpPr/>
          <p:nvPr/>
        </p:nvSpPr>
        <p:spPr>
          <a:xfrm>
            <a:off x="3406140" y="4502404"/>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0x6474e550</a:t>
            </a:r>
          </a:p>
        </p:txBody>
      </p:sp>
      <p:sp>
        <p:nvSpPr>
          <p:cNvPr id="43" name="Rounded Rectangle 42"/>
          <p:cNvSpPr/>
          <p:nvPr/>
        </p:nvSpPr>
        <p:spPr>
          <a:xfrm>
            <a:off x="6080760" y="4502404"/>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Unwind table index</a:t>
            </a:r>
          </a:p>
        </p:txBody>
      </p:sp>
      <p:sp>
        <p:nvSpPr>
          <p:cNvPr id="44" name="Rounded Rectangle 43"/>
          <p:cNvSpPr/>
          <p:nvPr/>
        </p:nvSpPr>
        <p:spPr>
          <a:xfrm>
            <a:off x="8755380" y="4502404"/>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Points to .eh_frame_hdr</a:t>
            </a:r>
          </a:p>
        </p:txBody>
      </p:sp>
      <p:sp>
        <p:nvSpPr>
          <p:cNvPr id="45" name="Rounded Rectangle 44"/>
          <p:cNvSpPr/>
          <p:nvPr/>
        </p:nvSpPr>
        <p:spPr>
          <a:xfrm>
            <a:off x="731520" y="4875276"/>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PT_GNU_PROPERTY</a:t>
            </a:r>
          </a:p>
        </p:txBody>
      </p:sp>
      <p:sp>
        <p:nvSpPr>
          <p:cNvPr id="46" name="Rounded Rectangle 45"/>
          <p:cNvSpPr/>
          <p:nvPr/>
        </p:nvSpPr>
        <p:spPr>
          <a:xfrm>
            <a:off x="3406140" y="4875276"/>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0x6474e553</a:t>
            </a:r>
          </a:p>
        </p:txBody>
      </p:sp>
      <p:sp>
        <p:nvSpPr>
          <p:cNvPr id="47" name="Rounded Rectangle 46"/>
          <p:cNvSpPr/>
          <p:nvPr/>
        </p:nvSpPr>
        <p:spPr>
          <a:xfrm>
            <a:off x="6080760" y="4875276"/>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CET/BTI/PAC properties</a:t>
            </a:r>
          </a:p>
        </p:txBody>
      </p:sp>
      <p:sp>
        <p:nvSpPr>
          <p:cNvPr id="48" name="Rounded Rectangle 47"/>
          <p:cNvSpPr/>
          <p:nvPr/>
        </p:nvSpPr>
        <p:spPr>
          <a:xfrm>
            <a:off x="8755380" y="4875276"/>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Enables HW control-flow integrity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W^X Violation: PF_W + PF_X on PT_LOAD</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234440"/>
            <a:ext cx="1097280" cy="292608"/>
          </a:xfrm>
          <a:prstGeom prst="roundRect">
            <a:avLst/>
          </a:prstGeom>
          <a:solidFill>
            <a:srgbClr val="FF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CRITICAL</a:t>
            </a:r>
          </a:p>
        </p:txBody>
      </p:sp>
      <p:sp>
        <p:nvSpPr>
          <p:cNvPr id="6" name="TextBox 5"/>
          <p:cNvSpPr txBox="1"/>
          <p:nvPr/>
        </p:nvSpPr>
        <p:spPr>
          <a:xfrm>
            <a:off x="2011680" y="1188720"/>
            <a:ext cx="9326880" cy="384048"/>
          </a:xfrm>
          <a:prstGeom prst="rect">
            <a:avLst/>
          </a:prstGeom>
          <a:noFill/>
        </p:spPr>
        <p:txBody>
          <a:bodyPr wrap="square" anchor="t"/>
          <a:lstStyle/>
          <a:p>
            <a:pPr algn="l">
              <a:defRPr sz="1200" b="0" i="0">
                <a:solidFill>
                  <a:srgbClr val="CCCCCC"/>
                </a:solidFill>
              </a:defRPr>
            </a:pPr>
            <a:r>
              <a:t>A static PT_LOAD with both PF_W and PF_X = writable AND executable code</a:t>
            </a:r>
          </a:p>
        </p:txBody>
      </p:sp>
      <p:sp>
        <p:nvSpPr>
          <p:cNvPr id="7" name="Rounded Rectangle 6"/>
          <p:cNvSpPr/>
          <p:nvPr/>
        </p:nvSpPr>
        <p:spPr>
          <a:xfrm>
            <a:off x="731520" y="1691640"/>
            <a:ext cx="1097280" cy="292608"/>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HIGH</a:t>
            </a:r>
          </a:p>
        </p:txBody>
      </p:sp>
      <p:sp>
        <p:nvSpPr>
          <p:cNvPr id="8" name="TextBox 7"/>
          <p:cNvSpPr txBox="1"/>
          <p:nvPr/>
        </p:nvSpPr>
        <p:spPr>
          <a:xfrm>
            <a:off x="2011680" y="1645920"/>
            <a:ext cx="9326880" cy="384048"/>
          </a:xfrm>
          <a:prstGeom prst="rect">
            <a:avLst/>
          </a:prstGeom>
          <a:noFill/>
        </p:spPr>
        <p:txBody>
          <a:bodyPr wrap="square" anchor="t"/>
          <a:lstStyle/>
          <a:p>
            <a:pPr algn="l">
              <a:defRPr sz="1200" b="0" i="0">
                <a:solidFill>
                  <a:srgbClr val="CCCCCC"/>
                </a:solidFill>
              </a:defRPr>
            </a:pPr>
            <a:r>
              <a:t>Almost always indicates: packer, JIT self-modification, or malicious binary</a:t>
            </a:r>
          </a:p>
        </p:txBody>
      </p:sp>
      <p:sp>
        <p:nvSpPr>
          <p:cNvPr id="9" name="Rounded Rectangle 8"/>
          <p:cNvSpPr/>
          <p:nvPr/>
        </p:nvSpPr>
        <p:spPr>
          <a:xfrm>
            <a:off x="731520" y="2148840"/>
            <a:ext cx="1097280" cy="292608"/>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HIGH</a:t>
            </a:r>
          </a:p>
        </p:txBody>
      </p:sp>
      <p:sp>
        <p:nvSpPr>
          <p:cNvPr id="10" name="TextBox 9"/>
          <p:cNvSpPr txBox="1"/>
          <p:nvPr/>
        </p:nvSpPr>
        <p:spPr>
          <a:xfrm>
            <a:off x="2011680" y="2103120"/>
            <a:ext cx="9326880" cy="384048"/>
          </a:xfrm>
          <a:prstGeom prst="rect">
            <a:avLst/>
          </a:prstGeom>
          <a:noFill/>
        </p:spPr>
        <p:txBody>
          <a:bodyPr wrap="square" anchor="t"/>
          <a:lstStyle/>
          <a:p>
            <a:pPr algn="l">
              <a:defRPr sz="1200" b="0" i="0">
                <a:solidFill>
                  <a:srgbClr val="CCCCCC"/>
                </a:solidFill>
              </a:defRPr>
            </a:pPr>
            <a:r>
              <a:t>Normal compiled binaries NEVER have W+X segments statically</a:t>
            </a:r>
          </a:p>
        </p:txBody>
      </p:sp>
      <p:sp>
        <p:nvSpPr>
          <p:cNvPr id="11" name="Rounded Rectangle 10"/>
          <p:cNvSpPr/>
          <p:nvPr/>
        </p:nvSpPr>
        <p:spPr>
          <a:xfrm>
            <a:off x="731520" y="2606040"/>
            <a:ext cx="1097280" cy="292608"/>
          </a:xfrm>
          <a:prstGeom prst="round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MEDIUM</a:t>
            </a:r>
          </a:p>
        </p:txBody>
      </p:sp>
      <p:sp>
        <p:nvSpPr>
          <p:cNvPr id="12" name="TextBox 11"/>
          <p:cNvSpPr txBox="1"/>
          <p:nvPr/>
        </p:nvSpPr>
        <p:spPr>
          <a:xfrm>
            <a:off x="2011680" y="2560320"/>
            <a:ext cx="9326880" cy="384048"/>
          </a:xfrm>
          <a:prstGeom prst="rect">
            <a:avLst/>
          </a:prstGeom>
          <a:noFill/>
        </p:spPr>
        <p:txBody>
          <a:bodyPr wrap="square" anchor="t"/>
          <a:lstStyle/>
          <a:p>
            <a:pPr algn="l">
              <a:defRPr sz="1200" b="0" i="0">
                <a:solidFill>
                  <a:srgbClr val="CCCCCC"/>
                </a:solidFill>
              </a:defRPr>
            </a:pPr>
            <a:r>
              <a:t>Cheap detection: iterate PT_LOAD entries, flag any with (p_flags &amp; 3) == 3</a:t>
            </a:r>
          </a:p>
        </p:txBody>
      </p:sp>
      <p:sp>
        <p:nvSpPr>
          <p:cNvPr id="13" name="Rounded Rectangle 12"/>
          <p:cNvSpPr/>
          <p:nvPr/>
        </p:nvSpPr>
        <p:spPr>
          <a:xfrm>
            <a:off x="731520" y="3063240"/>
            <a:ext cx="1097280" cy="292608"/>
          </a:xfrm>
          <a:prstGeom prst="roundRect">
            <a:avLst/>
          </a:prstGeom>
          <a:solidFill>
            <a:srgbClr val="4488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INFO</a:t>
            </a:r>
          </a:p>
        </p:txBody>
      </p:sp>
      <p:sp>
        <p:nvSpPr>
          <p:cNvPr id="14" name="TextBox 13"/>
          <p:cNvSpPr txBox="1"/>
          <p:nvPr/>
        </p:nvSpPr>
        <p:spPr>
          <a:xfrm>
            <a:off x="2011680" y="3017520"/>
            <a:ext cx="9326880" cy="384048"/>
          </a:xfrm>
          <a:prstGeom prst="rect">
            <a:avLst/>
          </a:prstGeom>
          <a:noFill/>
        </p:spPr>
        <p:txBody>
          <a:bodyPr wrap="square" anchor="t"/>
          <a:lstStyle/>
          <a:p>
            <a:pPr algn="l">
              <a:defRPr sz="1200" b="0" i="0">
                <a:solidFill>
                  <a:srgbClr val="CCCCCC"/>
                </a:solidFill>
              </a:defRPr>
            </a:pPr>
            <a:r>
              <a:t>Legitimate exception: JIT engines (V8, LuaJIT) create RWX pages at runtime via mmap</a:t>
            </a:r>
          </a:p>
        </p:txBody>
      </p:sp>
      <p:sp>
        <p:nvSpPr>
          <p:cNvPr id="15" name="Rounded Rectangle 14"/>
          <p:cNvSpPr/>
          <p:nvPr/>
        </p:nvSpPr>
        <p:spPr>
          <a:xfrm>
            <a:off x="731520" y="3520440"/>
            <a:ext cx="1097280" cy="292608"/>
          </a:xfrm>
          <a:prstGeom prst="roundRect">
            <a:avLst/>
          </a:prstGeom>
          <a:solidFill>
            <a:srgbClr val="4488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INFO</a:t>
            </a:r>
          </a:p>
        </p:txBody>
      </p:sp>
      <p:sp>
        <p:nvSpPr>
          <p:cNvPr id="16" name="TextBox 15"/>
          <p:cNvSpPr txBox="1"/>
          <p:nvPr/>
        </p:nvSpPr>
        <p:spPr>
          <a:xfrm>
            <a:off x="2011680" y="3474720"/>
            <a:ext cx="9326880" cy="384048"/>
          </a:xfrm>
          <a:prstGeom prst="rect">
            <a:avLst/>
          </a:prstGeom>
          <a:noFill/>
        </p:spPr>
        <p:txBody>
          <a:bodyPr wrap="square" anchor="t"/>
          <a:lstStyle/>
          <a:p>
            <a:pPr algn="l">
              <a:defRPr sz="1200" b="0" i="0">
                <a:solidFill>
                  <a:srgbClr val="CCCCCC"/>
                </a:solidFill>
              </a:defRPr>
            </a:pPr>
            <a:r>
              <a:t>Static W^X check should be in every binary intake pipeline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PT_GNU_STACK — Executable Stack Detection</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097280"/>
            <a:ext cx="5303520" cy="41148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FF4444"/>
                </a:solidFill>
              </a:defRPr>
            </a:pPr>
            <a:r>
              <a:t>Executable Stack (PF_X set)</a:t>
            </a:r>
          </a:p>
        </p:txBody>
      </p:sp>
      <p:sp>
        <p:nvSpPr>
          <p:cNvPr id="6" name="TextBox 5"/>
          <p:cNvSpPr txBox="1"/>
          <p:nvPr/>
        </p:nvSpPr>
        <p:spPr>
          <a:xfrm>
            <a:off x="731520" y="1645920"/>
            <a:ext cx="4937760" cy="320040"/>
          </a:xfrm>
          <a:prstGeom prst="rect">
            <a:avLst/>
          </a:prstGeom>
          <a:noFill/>
        </p:spPr>
        <p:txBody>
          <a:bodyPr wrap="square" anchor="t"/>
          <a:lstStyle/>
          <a:p>
            <a:pPr algn="l">
              <a:defRPr sz="1100" b="0" i="0">
                <a:solidFill>
                  <a:srgbClr val="CCCCCC"/>
                </a:solidFill>
              </a:defRPr>
            </a:pPr>
            <a:r>
              <a:t>▸ Kernel allocates stack with PROT_EXEC</a:t>
            </a:r>
          </a:p>
        </p:txBody>
      </p:sp>
      <p:sp>
        <p:nvSpPr>
          <p:cNvPr id="7" name="TextBox 6"/>
          <p:cNvSpPr txBox="1"/>
          <p:nvPr/>
        </p:nvSpPr>
        <p:spPr>
          <a:xfrm>
            <a:off x="731520" y="1993392"/>
            <a:ext cx="4937760" cy="320040"/>
          </a:xfrm>
          <a:prstGeom prst="rect">
            <a:avLst/>
          </a:prstGeom>
          <a:noFill/>
        </p:spPr>
        <p:txBody>
          <a:bodyPr wrap="square" anchor="t"/>
          <a:lstStyle/>
          <a:p>
            <a:pPr algn="l">
              <a:defRPr sz="1100" b="0" i="0">
                <a:solidFill>
                  <a:srgbClr val="CCCCCC"/>
                </a:solidFill>
              </a:defRPr>
            </a:pPr>
            <a:r>
              <a:t>▸ Enables classic stack-based shellcode execution</a:t>
            </a:r>
          </a:p>
        </p:txBody>
      </p:sp>
      <p:sp>
        <p:nvSpPr>
          <p:cNvPr id="8" name="TextBox 7"/>
          <p:cNvSpPr txBox="1"/>
          <p:nvPr/>
        </p:nvSpPr>
        <p:spPr>
          <a:xfrm>
            <a:off x="731520" y="2340864"/>
            <a:ext cx="4937760" cy="320040"/>
          </a:xfrm>
          <a:prstGeom prst="rect">
            <a:avLst/>
          </a:prstGeom>
          <a:noFill/>
        </p:spPr>
        <p:txBody>
          <a:bodyPr wrap="square" anchor="t"/>
          <a:lstStyle/>
          <a:p>
            <a:pPr algn="l">
              <a:defRPr sz="1100" b="0" i="0">
                <a:solidFill>
                  <a:srgbClr val="CCCCCC"/>
                </a:solidFill>
              </a:defRPr>
            </a:pPr>
            <a:r>
              <a:t>▸ Caused by: old assembly without .note.GNU-stack</a:t>
            </a:r>
          </a:p>
        </p:txBody>
      </p:sp>
      <p:sp>
        <p:nvSpPr>
          <p:cNvPr id="9" name="TextBox 8"/>
          <p:cNvSpPr txBox="1"/>
          <p:nvPr/>
        </p:nvSpPr>
        <p:spPr>
          <a:xfrm>
            <a:off x="731520" y="2688336"/>
            <a:ext cx="4937760" cy="320040"/>
          </a:xfrm>
          <a:prstGeom prst="rect">
            <a:avLst/>
          </a:prstGeom>
          <a:noFill/>
        </p:spPr>
        <p:txBody>
          <a:bodyPr wrap="square" anchor="t"/>
          <a:lstStyle/>
          <a:p>
            <a:pPr algn="l">
              <a:defRPr sz="1100" b="0" i="0">
                <a:solidFill>
                  <a:srgbClr val="CCCCCC"/>
                </a:solidFill>
              </a:defRPr>
            </a:pPr>
            <a:r>
              <a:t>▸ Caused by: -z execstack linker flag</a:t>
            </a:r>
          </a:p>
        </p:txBody>
      </p:sp>
      <p:sp>
        <p:nvSpPr>
          <p:cNvPr id="10" name="TextBox 9"/>
          <p:cNvSpPr txBox="1"/>
          <p:nvPr/>
        </p:nvSpPr>
        <p:spPr>
          <a:xfrm>
            <a:off x="731520" y="3035808"/>
            <a:ext cx="4937760" cy="320040"/>
          </a:xfrm>
          <a:prstGeom prst="rect">
            <a:avLst/>
          </a:prstGeom>
          <a:noFill/>
        </p:spPr>
        <p:txBody>
          <a:bodyPr wrap="square" anchor="t"/>
          <a:lstStyle/>
          <a:p>
            <a:pPr algn="l">
              <a:defRPr sz="1100" b="0" i="0">
                <a:solidFill>
                  <a:srgbClr val="CCCCCC"/>
                </a:solidFill>
              </a:defRPr>
            </a:pPr>
            <a:r>
              <a:t>▸ Some legacy JITs require it</a:t>
            </a:r>
          </a:p>
        </p:txBody>
      </p:sp>
      <p:sp>
        <p:nvSpPr>
          <p:cNvPr id="11" name="TextBox 10"/>
          <p:cNvSpPr txBox="1"/>
          <p:nvPr/>
        </p:nvSpPr>
        <p:spPr>
          <a:xfrm>
            <a:off x="731520" y="3383280"/>
            <a:ext cx="4937760" cy="320040"/>
          </a:xfrm>
          <a:prstGeom prst="rect">
            <a:avLst/>
          </a:prstGeom>
          <a:noFill/>
        </p:spPr>
        <p:txBody>
          <a:bodyPr wrap="square" anchor="t"/>
          <a:lstStyle/>
          <a:p>
            <a:pPr algn="l">
              <a:defRPr sz="1100" b="0" i="0">
                <a:solidFill>
                  <a:srgbClr val="CCCCCC"/>
                </a:solidFill>
              </a:defRPr>
            </a:pPr>
            <a:r>
              <a:t>▸ Almost always anomalous in modern binaries</a:t>
            </a:r>
          </a:p>
        </p:txBody>
      </p:sp>
      <p:sp>
        <p:nvSpPr>
          <p:cNvPr id="12" name="TextBox 11"/>
          <p:cNvSpPr txBox="1"/>
          <p:nvPr/>
        </p:nvSpPr>
        <p:spPr>
          <a:xfrm>
            <a:off x="731520" y="3730752"/>
            <a:ext cx="4937760" cy="320040"/>
          </a:xfrm>
          <a:prstGeom prst="rect">
            <a:avLst/>
          </a:prstGeom>
          <a:noFill/>
        </p:spPr>
        <p:txBody>
          <a:bodyPr wrap="square" anchor="t"/>
          <a:lstStyle/>
          <a:p>
            <a:pPr algn="l">
              <a:defRPr sz="1100" b="0" i="0">
                <a:solidFill>
                  <a:srgbClr val="CCCCCC"/>
                </a:solidFill>
              </a:defRPr>
            </a:pPr>
            <a:r>
              <a:t>▸ Detection: readelf -l | grep GNU_STACK | check flags</a:t>
            </a:r>
          </a:p>
        </p:txBody>
      </p:sp>
      <p:sp>
        <p:nvSpPr>
          <p:cNvPr id="13" name="Rounded Rectangle 12"/>
          <p:cNvSpPr/>
          <p:nvPr/>
        </p:nvSpPr>
        <p:spPr>
          <a:xfrm>
            <a:off x="6217920" y="1097280"/>
            <a:ext cx="5303520" cy="411480"/>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00FF88"/>
                </a:solidFill>
              </a:defRPr>
            </a:pPr>
            <a:r>
              <a:t>Non-Executable Stack (no PF_X)</a:t>
            </a:r>
          </a:p>
        </p:txBody>
      </p:sp>
      <p:sp>
        <p:nvSpPr>
          <p:cNvPr id="14" name="TextBox 13"/>
          <p:cNvSpPr txBox="1"/>
          <p:nvPr/>
        </p:nvSpPr>
        <p:spPr>
          <a:xfrm>
            <a:off x="6400800" y="1645920"/>
            <a:ext cx="4937760" cy="320040"/>
          </a:xfrm>
          <a:prstGeom prst="rect">
            <a:avLst/>
          </a:prstGeom>
          <a:noFill/>
        </p:spPr>
        <p:txBody>
          <a:bodyPr wrap="square" anchor="t"/>
          <a:lstStyle/>
          <a:p>
            <a:pPr algn="l">
              <a:defRPr sz="1100" b="0" i="0">
                <a:solidFill>
                  <a:srgbClr val="CCCCCC"/>
                </a:solidFill>
              </a:defRPr>
            </a:pPr>
            <a:r>
              <a:t>▸ Kernel allocates stack with PROT_READ|PROT_WRITE only</a:t>
            </a:r>
          </a:p>
        </p:txBody>
      </p:sp>
      <p:sp>
        <p:nvSpPr>
          <p:cNvPr id="15" name="TextBox 14"/>
          <p:cNvSpPr txBox="1"/>
          <p:nvPr/>
        </p:nvSpPr>
        <p:spPr>
          <a:xfrm>
            <a:off x="6400800" y="1993392"/>
            <a:ext cx="4937760" cy="320040"/>
          </a:xfrm>
          <a:prstGeom prst="rect">
            <a:avLst/>
          </a:prstGeom>
          <a:noFill/>
        </p:spPr>
        <p:txBody>
          <a:bodyPr wrap="square" anchor="t"/>
          <a:lstStyle/>
          <a:p>
            <a:pPr algn="l">
              <a:defRPr sz="1100" b="0" i="0">
                <a:solidFill>
                  <a:srgbClr val="CCCCCC"/>
                </a:solidFill>
              </a:defRPr>
            </a:pPr>
            <a:r>
              <a:t>▸ CPU hardware enforces NX (Intel: XD bit, AMD: NX bit)</a:t>
            </a:r>
          </a:p>
        </p:txBody>
      </p:sp>
      <p:sp>
        <p:nvSpPr>
          <p:cNvPr id="16" name="TextBox 15"/>
          <p:cNvSpPr txBox="1"/>
          <p:nvPr/>
        </p:nvSpPr>
        <p:spPr>
          <a:xfrm>
            <a:off x="6400800" y="2340864"/>
            <a:ext cx="4937760" cy="320040"/>
          </a:xfrm>
          <a:prstGeom prst="rect">
            <a:avLst/>
          </a:prstGeom>
          <a:noFill/>
        </p:spPr>
        <p:txBody>
          <a:bodyPr wrap="square" anchor="t"/>
          <a:lstStyle/>
          <a:p>
            <a:pPr algn="l">
              <a:defRPr sz="1100" b="0" i="0">
                <a:solidFill>
                  <a:srgbClr val="CCCCCC"/>
                </a:solidFill>
              </a:defRPr>
            </a:pPr>
            <a:r>
              <a:t>▸ Blocks trivial stack-based code execution</a:t>
            </a:r>
          </a:p>
        </p:txBody>
      </p:sp>
      <p:sp>
        <p:nvSpPr>
          <p:cNvPr id="17" name="TextBox 16"/>
          <p:cNvSpPr txBox="1"/>
          <p:nvPr/>
        </p:nvSpPr>
        <p:spPr>
          <a:xfrm>
            <a:off x="6400800" y="2688336"/>
            <a:ext cx="4937760" cy="320040"/>
          </a:xfrm>
          <a:prstGeom prst="rect">
            <a:avLst/>
          </a:prstGeom>
          <a:noFill/>
        </p:spPr>
        <p:txBody>
          <a:bodyPr wrap="square" anchor="t"/>
          <a:lstStyle/>
          <a:p>
            <a:pPr algn="l">
              <a:defRPr sz="1100" b="0" i="0">
                <a:solidFill>
                  <a:srgbClr val="CCCCCC"/>
                </a:solidFill>
              </a:defRPr>
            </a:pPr>
            <a:r>
              <a:t>▸ Attacker must use code-reuse (ROP/JOP) instead</a:t>
            </a:r>
          </a:p>
        </p:txBody>
      </p:sp>
      <p:sp>
        <p:nvSpPr>
          <p:cNvPr id="18" name="TextBox 17"/>
          <p:cNvSpPr txBox="1"/>
          <p:nvPr/>
        </p:nvSpPr>
        <p:spPr>
          <a:xfrm>
            <a:off x="6400800" y="3035808"/>
            <a:ext cx="4937760" cy="320040"/>
          </a:xfrm>
          <a:prstGeom prst="rect">
            <a:avLst/>
          </a:prstGeom>
          <a:noFill/>
        </p:spPr>
        <p:txBody>
          <a:bodyPr wrap="square" anchor="t"/>
          <a:lstStyle/>
          <a:p>
            <a:pPr algn="l">
              <a:defRPr sz="1100" b="0" i="0">
                <a:solidFill>
                  <a:srgbClr val="CCCCCC"/>
                </a:solidFill>
              </a:defRPr>
            </a:pPr>
            <a:r>
              <a:t>▸ Default on all modern Linux toolchains</a:t>
            </a:r>
          </a:p>
        </p:txBody>
      </p:sp>
      <p:sp>
        <p:nvSpPr>
          <p:cNvPr id="19" name="TextBox 18"/>
          <p:cNvSpPr txBox="1"/>
          <p:nvPr/>
        </p:nvSpPr>
        <p:spPr>
          <a:xfrm>
            <a:off x="6400800" y="3383280"/>
            <a:ext cx="4937760" cy="320040"/>
          </a:xfrm>
          <a:prstGeom prst="rect">
            <a:avLst/>
          </a:prstGeom>
          <a:noFill/>
        </p:spPr>
        <p:txBody>
          <a:bodyPr wrap="square" anchor="t"/>
          <a:lstStyle/>
          <a:p>
            <a:pPr algn="l">
              <a:defRPr sz="1100" b="0" i="0">
                <a:solidFill>
                  <a:srgbClr val="CCCCCC"/>
                </a:solidFill>
              </a:defRPr>
            </a:pPr>
            <a:r>
              <a:t>▸ Requires: all linked objects to have .note.GNU-stack</a:t>
            </a:r>
          </a:p>
        </p:txBody>
      </p:sp>
      <p:sp>
        <p:nvSpPr>
          <p:cNvPr id="20" name="TextBox 19"/>
          <p:cNvSpPr txBox="1"/>
          <p:nvPr/>
        </p:nvSpPr>
        <p:spPr>
          <a:xfrm>
            <a:off x="6400800" y="3730752"/>
            <a:ext cx="4937760" cy="320040"/>
          </a:xfrm>
          <a:prstGeom prst="rect">
            <a:avLst/>
          </a:prstGeom>
          <a:noFill/>
        </p:spPr>
        <p:txBody>
          <a:bodyPr wrap="square" anchor="t"/>
          <a:lstStyle/>
          <a:p>
            <a:pPr algn="l">
              <a:defRPr sz="1100" b="0" i="0">
                <a:solidFill>
                  <a:srgbClr val="CCCCCC"/>
                </a:solidFill>
              </a:defRPr>
            </a:pPr>
            <a:r>
              <a:t>▸ One missing .note.GNU-stack → entire binary gets exec stack</a:t>
            </a:r>
          </a:p>
        </p:txBody>
      </p:sp>
      <p:cxnSp>
        <p:nvCxnSpPr>
          <p:cNvPr id="21" name="Connector 20"/>
          <p:cNvCxnSpPr/>
          <p:nvPr/>
        </p:nvCxnSpPr>
        <p:spPr>
          <a:xfrm>
            <a:off x="5943600" y="1097280"/>
            <a:ext cx="0" cy="512064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4</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Section Headers &amp;</a:t>
            </a:r>
            <a:br/>
            <a:r>
              <a:t>Link-Time Semantics</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Elf64_Shdr — organizing content for the linker, debugger, and analyst</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Elf64_Shdr — Section Header Structure</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9601200" y="320040"/>
            <a:ext cx="1828800" cy="274320"/>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D4FF"/>
                </a:solidFill>
              </a:defRPr>
            </a:pPr>
            <a:r>
              <a:t>C (elf.h)</a:t>
            </a:r>
          </a:p>
        </p:txBody>
      </p:sp>
      <p:sp>
        <p:nvSpPr>
          <p:cNvPr id="6" name="Rounded Rectangle 5"/>
          <p:cNvSpPr/>
          <p:nvPr/>
        </p:nvSpPr>
        <p:spPr>
          <a:xfrm>
            <a:off x="548640" y="1097280"/>
            <a:ext cx="10789920" cy="4389120"/>
          </a:xfrm>
          <a:prstGeom prst="roundRect">
            <a:avLst/>
          </a:prstGeom>
          <a:solidFill>
            <a:srgbClr val="14142A"/>
          </a:solidFill>
          <a:ln w="1270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cxnSp>
        <p:nvCxnSpPr>
          <p:cNvPr id="7" name="Connector 6"/>
          <p:cNvCxnSpPr/>
          <p:nvPr/>
        </p:nvCxnSpPr>
        <p:spPr>
          <a:xfrm>
            <a:off x="548640" y="1417320"/>
            <a:ext cx="10789920" cy="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7240" y="1207008"/>
            <a:ext cx="137160" cy="13716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Oval 8"/>
          <p:cNvSpPr/>
          <p:nvPr/>
        </p:nvSpPr>
        <p:spPr>
          <a:xfrm>
            <a:off x="1005840" y="1207008"/>
            <a:ext cx="137160" cy="1371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Oval 9"/>
          <p:cNvSpPr/>
          <p:nvPr/>
        </p:nvSpPr>
        <p:spPr>
          <a:xfrm>
            <a:off x="1234440" y="1207008"/>
            <a:ext cx="137160" cy="13716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777240" y="1508760"/>
            <a:ext cx="10332720" cy="3840480"/>
          </a:xfrm>
          <a:prstGeom prst="rect">
            <a:avLst/>
          </a:prstGeom>
          <a:noFill/>
        </p:spPr>
        <p:txBody>
          <a:bodyPr wrap="square" anchor="t"/>
          <a:lstStyle/>
          <a:p>
            <a:pPr algn="l">
              <a:defRPr sz="1000" b="0" i="0">
                <a:solidFill>
                  <a:srgbClr val="CCCCCC"/>
                </a:solidFill>
                <a:latin typeface="Consolas"/>
              </a:defRPr>
            </a:pPr>
            <a:r>
              <a:t>typedef struct {</a:t>
            </a:r>
            <a:br/>
            <a:r>
              <a:t>    Elf64_Word  sh_name;       // Index into section name string table</a:t>
            </a:r>
            <a:br/>
            <a:r>
              <a:t>    Elf64_Word  sh_type;       // SHT_PROGBITS | SHT_SYMTAB | SHT_RELA | ...</a:t>
            </a:r>
            <a:br/>
            <a:r>
              <a:t>    Elf64_Xword sh_flags;      // SHF_ALLOC | SHF_WRITE | SHF_EXECINSTR | ...</a:t>
            </a:r>
            <a:br/>
            <a:r>
              <a:t>    Elf64_Addr  sh_addr;       // Virtual address if SHF_ALLOC</a:t>
            </a:r>
            <a:br/>
            <a:r>
              <a:t>    Elf64_Off   sh_offset;     // File offset</a:t>
            </a:r>
            <a:br/>
            <a:r>
              <a:t>    Elf64_Xword sh_size;       // Section size in bytes</a:t>
            </a:r>
            <a:br/>
            <a:r>
              <a:t>    Elf64_Word  sh_link;       // Type-dependent link (e.g., strtab index)</a:t>
            </a:r>
            <a:br/>
            <a:r>
              <a:t>    Elf64_Word  sh_info;       // Type-dependent info (e.g., last local sym)</a:t>
            </a:r>
            <a:br/>
            <a:r>
              <a:t>    Elf64_Xword sh_addralign;  // Alignment constraint</a:t>
            </a:r>
            <a:br/>
            <a:r>
              <a:t>    Elf64_Xword sh_entsize;    // Entry size for fixed-size tables</a:t>
            </a:r>
            <a:br/>
            <a:r>
              <a:t>} Elf64_Shdr;</a:t>
            </a:r>
          </a:p>
        </p:txBody>
      </p:sp>
      <p:sp>
        <p:nvSpPr>
          <p:cNvPr id="12" name="TextBox 11"/>
          <p:cNvSpPr txBox="1"/>
          <p:nvPr/>
        </p:nvSpPr>
        <p:spPr>
          <a:xfrm>
            <a:off x="731520" y="5623560"/>
            <a:ext cx="10515600" cy="274320"/>
          </a:xfrm>
          <a:prstGeom prst="rect">
            <a:avLst/>
          </a:prstGeom>
          <a:noFill/>
        </p:spPr>
        <p:txBody>
          <a:bodyPr wrap="square" anchor="t"/>
          <a:lstStyle/>
          <a:p>
            <a:pPr algn="l">
              <a:defRPr sz="1000" b="0" i="1">
                <a:solidFill>
                  <a:srgbClr val="999999"/>
                </a:solidFill>
              </a:defRPr>
            </a:pPr>
            <a:r>
              <a:t>→ sh_link/sh_info meaning changes per sh_type (symtab→strtab, rela→target section)</a:t>
            </a:r>
          </a:p>
        </p:txBody>
      </p:sp>
      <p:sp>
        <p:nvSpPr>
          <p:cNvPr id="13" name="TextBox 12"/>
          <p:cNvSpPr txBox="1"/>
          <p:nvPr/>
        </p:nvSpPr>
        <p:spPr>
          <a:xfrm>
            <a:off x="731520" y="5879592"/>
            <a:ext cx="10515600" cy="274320"/>
          </a:xfrm>
          <a:prstGeom prst="rect">
            <a:avLst/>
          </a:prstGeom>
          <a:noFill/>
        </p:spPr>
        <p:txBody>
          <a:bodyPr wrap="square" anchor="t"/>
          <a:lstStyle/>
          <a:p>
            <a:pPr algn="l">
              <a:defRPr sz="1000" b="0" i="1">
                <a:solidFill>
                  <a:srgbClr val="999999"/>
                </a:solidFill>
              </a:defRPr>
            </a:pPr>
            <a:r>
              <a:t>→ SHF_ALLOC = section occupies memory at runtime (contained in a PT_LOAD segment)</a:t>
            </a:r>
          </a:p>
        </p:txBody>
      </p:sp>
      <p:sp>
        <p:nvSpPr>
          <p:cNvPr id="14" name="TextBox 13"/>
          <p:cNvSpPr txBox="1"/>
          <p:nvPr/>
        </p:nvSpPr>
        <p:spPr>
          <a:xfrm>
            <a:off x="731520" y="6135624"/>
            <a:ext cx="10515600" cy="274320"/>
          </a:xfrm>
          <a:prstGeom prst="rect">
            <a:avLst/>
          </a:prstGeom>
          <a:noFill/>
        </p:spPr>
        <p:txBody>
          <a:bodyPr wrap="square" anchor="t"/>
          <a:lstStyle/>
          <a:p>
            <a:pPr algn="l">
              <a:defRPr sz="1000" b="0" i="1">
                <a:solidFill>
                  <a:srgbClr val="999999"/>
                </a:solidFill>
              </a:defRPr>
            </a:pPr>
            <a:r>
              <a:t>→ Section 0 is always NULL (reserved) — sh_info/sh_size/sh_link used for overflow encoding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Section Flags (sh_flags) — Permission &amp; Behavior Bits</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188720"/>
            <a:ext cx="2286000" cy="50292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D4FF"/>
                </a:solidFill>
              </a:defRPr>
            </a:pPr>
            <a:r>
              <a:t>SHF_ALLOC</a:t>
            </a:r>
          </a:p>
        </p:txBody>
      </p:sp>
      <p:sp>
        <p:nvSpPr>
          <p:cNvPr id="6" name="TextBox 5"/>
          <p:cNvSpPr txBox="1"/>
          <p:nvPr/>
        </p:nvSpPr>
        <p:spPr>
          <a:xfrm>
            <a:off x="3200400" y="1234440"/>
            <a:ext cx="8229600" cy="457200"/>
          </a:xfrm>
          <a:prstGeom prst="rect">
            <a:avLst/>
          </a:prstGeom>
          <a:noFill/>
        </p:spPr>
        <p:txBody>
          <a:bodyPr wrap="square" anchor="t"/>
          <a:lstStyle/>
          <a:p>
            <a:pPr algn="l">
              <a:defRPr sz="1100" b="0" i="0">
                <a:solidFill>
                  <a:srgbClr val="CCCCCC"/>
                </a:solidFill>
              </a:defRPr>
            </a:pPr>
            <a:r>
              <a:t>Section occupies memory at runtime (inside a PT_LOAD segment)</a:t>
            </a:r>
          </a:p>
        </p:txBody>
      </p:sp>
      <p:sp>
        <p:nvSpPr>
          <p:cNvPr id="7" name="Rounded Rectangle 6"/>
          <p:cNvSpPr/>
          <p:nvPr/>
        </p:nvSpPr>
        <p:spPr>
          <a:xfrm>
            <a:off x="731520" y="1755648"/>
            <a:ext cx="2286000" cy="502920"/>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FF88"/>
                </a:solidFill>
              </a:defRPr>
            </a:pPr>
            <a:r>
              <a:t>SHF_WRITE</a:t>
            </a:r>
          </a:p>
        </p:txBody>
      </p:sp>
      <p:sp>
        <p:nvSpPr>
          <p:cNvPr id="8" name="TextBox 7"/>
          <p:cNvSpPr txBox="1"/>
          <p:nvPr/>
        </p:nvSpPr>
        <p:spPr>
          <a:xfrm>
            <a:off x="3200400" y="1801368"/>
            <a:ext cx="8229600" cy="457200"/>
          </a:xfrm>
          <a:prstGeom prst="rect">
            <a:avLst/>
          </a:prstGeom>
          <a:noFill/>
        </p:spPr>
        <p:txBody>
          <a:bodyPr wrap="square" anchor="t"/>
          <a:lstStyle/>
          <a:p>
            <a:pPr algn="l">
              <a:defRPr sz="1100" b="0" i="0">
                <a:solidFill>
                  <a:srgbClr val="CCCCCC"/>
                </a:solidFill>
              </a:defRPr>
            </a:pPr>
            <a:r>
              <a:t>Section is writable at runtime (maps to PF_W)</a:t>
            </a:r>
          </a:p>
        </p:txBody>
      </p:sp>
      <p:sp>
        <p:nvSpPr>
          <p:cNvPr id="9" name="Rounded Rectangle 8"/>
          <p:cNvSpPr/>
          <p:nvPr/>
        </p:nvSpPr>
        <p:spPr>
          <a:xfrm>
            <a:off x="731520" y="2322576"/>
            <a:ext cx="2286000" cy="50292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D700"/>
                </a:solidFill>
              </a:defRPr>
            </a:pPr>
            <a:r>
              <a:t>SHF_EXECINSTR</a:t>
            </a:r>
          </a:p>
        </p:txBody>
      </p:sp>
      <p:sp>
        <p:nvSpPr>
          <p:cNvPr id="10" name="TextBox 9"/>
          <p:cNvSpPr txBox="1"/>
          <p:nvPr/>
        </p:nvSpPr>
        <p:spPr>
          <a:xfrm>
            <a:off x="3200400" y="2368296"/>
            <a:ext cx="8229600" cy="457200"/>
          </a:xfrm>
          <a:prstGeom prst="rect">
            <a:avLst/>
          </a:prstGeom>
          <a:noFill/>
        </p:spPr>
        <p:txBody>
          <a:bodyPr wrap="square" anchor="t"/>
          <a:lstStyle/>
          <a:p>
            <a:pPr algn="l">
              <a:defRPr sz="1100" b="0" i="0">
                <a:solidFill>
                  <a:srgbClr val="CCCCCC"/>
                </a:solidFill>
              </a:defRPr>
            </a:pPr>
            <a:r>
              <a:t>Section contains executable instructions (maps to PF_X)</a:t>
            </a:r>
          </a:p>
        </p:txBody>
      </p:sp>
      <p:sp>
        <p:nvSpPr>
          <p:cNvPr id="11" name="Rounded Rectangle 10"/>
          <p:cNvSpPr/>
          <p:nvPr/>
        </p:nvSpPr>
        <p:spPr>
          <a:xfrm>
            <a:off x="731520" y="2889504"/>
            <a:ext cx="2286000" cy="502920"/>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BB86FC"/>
                </a:solidFill>
              </a:defRPr>
            </a:pPr>
            <a:r>
              <a:t>SHF_MERGE</a:t>
            </a:r>
          </a:p>
        </p:txBody>
      </p:sp>
      <p:sp>
        <p:nvSpPr>
          <p:cNvPr id="12" name="TextBox 11"/>
          <p:cNvSpPr txBox="1"/>
          <p:nvPr/>
        </p:nvSpPr>
        <p:spPr>
          <a:xfrm>
            <a:off x="3200400" y="2935224"/>
            <a:ext cx="8229600" cy="457200"/>
          </a:xfrm>
          <a:prstGeom prst="rect">
            <a:avLst/>
          </a:prstGeom>
          <a:noFill/>
        </p:spPr>
        <p:txBody>
          <a:bodyPr wrap="square" anchor="t"/>
          <a:lstStyle/>
          <a:p>
            <a:pPr algn="l">
              <a:defRPr sz="1100" b="0" i="0">
                <a:solidFill>
                  <a:srgbClr val="CCCCCC"/>
                </a:solidFill>
              </a:defRPr>
            </a:pPr>
            <a:r>
              <a:t>Entries can be merged/deduplicated by linker (string pooling)</a:t>
            </a:r>
          </a:p>
        </p:txBody>
      </p:sp>
      <p:sp>
        <p:nvSpPr>
          <p:cNvPr id="13" name="Rounded Rectangle 12"/>
          <p:cNvSpPr/>
          <p:nvPr/>
        </p:nvSpPr>
        <p:spPr>
          <a:xfrm>
            <a:off x="731520" y="3456432"/>
            <a:ext cx="2286000" cy="502920"/>
          </a:xfrm>
          <a:prstGeom prst="roundRect">
            <a:avLst/>
          </a:prstGeom>
          <a:solidFill>
            <a:srgbClr val="1C1C34"/>
          </a:solidFill>
          <a:ln w="12700">
            <a:solidFill>
              <a:srgbClr val="4488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4488FF"/>
                </a:solidFill>
              </a:defRPr>
            </a:pPr>
            <a:r>
              <a:t>SHF_STRINGS</a:t>
            </a:r>
          </a:p>
        </p:txBody>
      </p:sp>
      <p:sp>
        <p:nvSpPr>
          <p:cNvPr id="14" name="TextBox 13"/>
          <p:cNvSpPr txBox="1"/>
          <p:nvPr/>
        </p:nvSpPr>
        <p:spPr>
          <a:xfrm>
            <a:off x="3200400" y="3502152"/>
            <a:ext cx="8229600" cy="457200"/>
          </a:xfrm>
          <a:prstGeom prst="rect">
            <a:avLst/>
          </a:prstGeom>
          <a:noFill/>
        </p:spPr>
        <p:txBody>
          <a:bodyPr wrap="square" anchor="t"/>
          <a:lstStyle/>
          <a:p>
            <a:pPr algn="l">
              <a:defRPr sz="1100" b="0" i="0">
                <a:solidFill>
                  <a:srgbClr val="CCCCCC"/>
                </a:solidFill>
              </a:defRPr>
            </a:pPr>
            <a:r>
              <a:t>Section contains NUL-terminated strings (enables dedup)</a:t>
            </a:r>
          </a:p>
        </p:txBody>
      </p:sp>
      <p:sp>
        <p:nvSpPr>
          <p:cNvPr id="15" name="Rounded Rectangle 14"/>
          <p:cNvSpPr/>
          <p:nvPr/>
        </p:nvSpPr>
        <p:spPr>
          <a:xfrm>
            <a:off x="731520" y="4023360"/>
            <a:ext cx="2286000" cy="502920"/>
          </a:xfrm>
          <a:prstGeom prst="roundRect">
            <a:avLst/>
          </a:prstGeom>
          <a:solidFill>
            <a:srgbClr val="1C1C34"/>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8C00"/>
                </a:solidFill>
              </a:defRPr>
            </a:pPr>
            <a:r>
              <a:t>SHF_TLS</a:t>
            </a:r>
          </a:p>
        </p:txBody>
      </p:sp>
      <p:sp>
        <p:nvSpPr>
          <p:cNvPr id="16" name="TextBox 15"/>
          <p:cNvSpPr txBox="1"/>
          <p:nvPr/>
        </p:nvSpPr>
        <p:spPr>
          <a:xfrm>
            <a:off x="3200400" y="4069080"/>
            <a:ext cx="8229600" cy="457200"/>
          </a:xfrm>
          <a:prstGeom prst="rect">
            <a:avLst/>
          </a:prstGeom>
          <a:noFill/>
        </p:spPr>
        <p:txBody>
          <a:bodyPr wrap="square" anchor="t"/>
          <a:lstStyle/>
          <a:p>
            <a:pPr algn="l">
              <a:defRPr sz="1100" b="0" i="0">
                <a:solidFill>
                  <a:srgbClr val="CCCCCC"/>
                </a:solidFill>
              </a:defRPr>
            </a:pPr>
            <a:r>
              <a:t>Section holds thread-local storage (.tdata/.tbss)</a:t>
            </a:r>
          </a:p>
        </p:txBody>
      </p:sp>
      <p:sp>
        <p:nvSpPr>
          <p:cNvPr id="17" name="Rounded Rectangle 16"/>
          <p:cNvSpPr/>
          <p:nvPr/>
        </p:nvSpPr>
        <p:spPr>
          <a:xfrm>
            <a:off x="731520" y="4590288"/>
            <a:ext cx="2286000" cy="502920"/>
          </a:xfrm>
          <a:prstGeom prst="roundRect">
            <a:avLst/>
          </a:prstGeom>
          <a:solidFill>
            <a:srgbClr val="1C1C34"/>
          </a:solidFill>
          <a:ln w="12700">
            <a:solidFill>
              <a:srgbClr val="FF008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0080"/>
                </a:solidFill>
              </a:defRPr>
            </a:pPr>
            <a:r>
              <a:t>SHF_GROUP</a:t>
            </a:r>
          </a:p>
        </p:txBody>
      </p:sp>
      <p:sp>
        <p:nvSpPr>
          <p:cNvPr id="18" name="TextBox 17"/>
          <p:cNvSpPr txBox="1"/>
          <p:nvPr/>
        </p:nvSpPr>
        <p:spPr>
          <a:xfrm>
            <a:off x="3200400" y="4636008"/>
            <a:ext cx="8229600" cy="457200"/>
          </a:xfrm>
          <a:prstGeom prst="rect">
            <a:avLst/>
          </a:prstGeom>
          <a:noFill/>
        </p:spPr>
        <p:txBody>
          <a:bodyPr wrap="square" anchor="t"/>
          <a:lstStyle/>
          <a:p>
            <a:pPr algn="l">
              <a:defRPr sz="1100" b="0" i="0">
                <a:solidFill>
                  <a:srgbClr val="CCCCCC"/>
                </a:solidFill>
              </a:defRPr>
            </a:pPr>
            <a:r>
              <a:t>Section belongs to a COMDAT group (C++ ODR compliance)</a:t>
            </a:r>
          </a:p>
        </p:txBody>
      </p:sp>
      <p:sp>
        <p:nvSpPr>
          <p:cNvPr id="19" name="Rounded Rectangle 18"/>
          <p:cNvSpPr/>
          <p:nvPr/>
        </p:nvSpPr>
        <p:spPr>
          <a:xfrm>
            <a:off x="731520" y="5157216"/>
            <a:ext cx="2286000" cy="502920"/>
          </a:xfrm>
          <a:prstGeom prst="roundRect">
            <a:avLst/>
          </a:prstGeom>
          <a:solidFill>
            <a:srgbClr val="1C1C34"/>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E5A0"/>
                </a:solidFill>
              </a:defRPr>
            </a:pPr>
            <a:r>
              <a:t>SHF_COMPRESSED</a:t>
            </a:r>
          </a:p>
        </p:txBody>
      </p:sp>
      <p:sp>
        <p:nvSpPr>
          <p:cNvPr id="20" name="TextBox 19"/>
          <p:cNvSpPr txBox="1"/>
          <p:nvPr/>
        </p:nvSpPr>
        <p:spPr>
          <a:xfrm>
            <a:off x="3200400" y="5202936"/>
            <a:ext cx="8229600" cy="457200"/>
          </a:xfrm>
          <a:prstGeom prst="rect">
            <a:avLst/>
          </a:prstGeom>
          <a:noFill/>
        </p:spPr>
        <p:txBody>
          <a:bodyPr wrap="square" anchor="t"/>
          <a:lstStyle/>
          <a:p>
            <a:pPr algn="l">
              <a:defRPr sz="1100" b="0" i="0">
                <a:solidFill>
                  <a:srgbClr val="CCCCCC"/>
                </a:solidFill>
              </a:defRPr>
            </a:pPr>
            <a:r>
              <a:t>Section data is compressed (ELFCOMPRESS_ZLIB)</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sh_link and sh_info — Context-Dependent Semantics</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The same fields carry different information depending on section type</a:t>
            </a:r>
          </a:p>
        </p:txBody>
      </p:sp>
      <p:sp>
        <p:nvSpPr>
          <p:cNvPr id="6" name="Rounded Rectangle 5"/>
          <p:cNvSpPr/>
          <p:nvPr/>
        </p:nvSpPr>
        <p:spPr>
          <a:xfrm>
            <a:off x="731520" y="1371600"/>
            <a:ext cx="3540760" cy="384048"/>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D4FF"/>
                </a:solidFill>
              </a:defRPr>
            </a:pPr>
            <a:r>
              <a:t>sh_type</a:t>
            </a:r>
          </a:p>
        </p:txBody>
      </p:sp>
      <p:sp>
        <p:nvSpPr>
          <p:cNvPr id="7" name="Rounded Rectangle 6"/>
          <p:cNvSpPr/>
          <p:nvPr/>
        </p:nvSpPr>
        <p:spPr>
          <a:xfrm>
            <a:off x="4297680" y="1371600"/>
            <a:ext cx="3540760" cy="384048"/>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FF88"/>
                </a:solidFill>
              </a:defRPr>
            </a:pPr>
            <a:r>
              <a:t>sh_link meaning</a:t>
            </a:r>
          </a:p>
        </p:txBody>
      </p:sp>
      <p:sp>
        <p:nvSpPr>
          <p:cNvPr id="8" name="Rounded Rectangle 7"/>
          <p:cNvSpPr/>
          <p:nvPr/>
        </p:nvSpPr>
        <p:spPr>
          <a:xfrm>
            <a:off x="7863840" y="1371600"/>
            <a:ext cx="3540760" cy="384048"/>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D700"/>
                </a:solidFill>
              </a:defRPr>
            </a:pPr>
            <a:r>
              <a:t>sh_info meaning</a:t>
            </a:r>
          </a:p>
        </p:txBody>
      </p:sp>
      <p:sp>
        <p:nvSpPr>
          <p:cNvPr id="9" name="Rounded Rectangle 8"/>
          <p:cNvSpPr/>
          <p:nvPr/>
        </p:nvSpPr>
        <p:spPr>
          <a:xfrm>
            <a:off x="731520" y="1793748"/>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SHT_SYMTAB / SHT_DYNSYM</a:t>
            </a:r>
          </a:p>
        </p:txBody>
      </p:sp>
      <p:sp>
        <p:nvSpPr>
          <p:cNvPr id="10" name="Rounded Rectangle 9"/>
          <p:cNvSpPr/>
          <p:nvPr/>
        </p:nvSpPr>
        <p:spPr>
          <a:xfrm>
            <a:off x="4297680" y="1793748"/>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Index of associated string table</a:t>
            </a:r>
          </a:p>
        </p:txBody>
      </p:sp>
      <p:sp>
        <p:nvSpPr>
          <p:cNvPr id="11" name="Rounded Rectangle 10"/>
          <p:cNvSpPr/>
          <p:nvPr/>
        </p:nvSpPr>
        <p:spPr>
          <a:xfrm>
            <a:off x="7863840" y="1793748"/>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Index of first non-local symbol</a:t>
            </a:r>
          </a:p>
        </p:txBody>
      </p:sp>
      <p:sp>
        <p:nvSpPr>
          <p:cNvPr id="12" name="Rounded Rectangle 11"/>
          <p:cNvSpPr/>
          <p:nvPr/>
        </p:nvSpPr>
        <p:spPr>
          <a:xfrm>
            <a:off x="731520" y="2166620"/>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SHT_REL / SHT_RELA</a:t>
            </a:r>
          </a:p>
        </p:txBody>
      </p:sp>
      <p:sp>
        <p:nvSpPr>
          <p:cNvPr id="13" name="Rounded Rectangle 12"/>
          <p:cNvSpPr/>
          <p:nvPr/>
        </p:nvSpPr>
        <p:spPr>
          <a:xfrm>
            <a:off x="4297680" y="2166620"/>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Index of associated symbol table</a:t>
            </a:r>
          </a:p>
        </p:txBody>
      </p:sp>
      <p:sp>
        <p:nvSpPr>
          <p:cNvPr id="14" name="Rounded Rectangle 13"/>
          <p:cNvSpPr/>
          <p:nvPr/>
        </p:nvSpPr>
        <p:spPr>
          <a:xfrm>
            <a:off x="7863840" y="2166620"/>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Index of section being relocated</a:t>
            </a:r>
          </a:p>
        </p:txBody>
      </p:sp>
      <p:sp>
        <p:nvSpPr>
          <p:cNvPr id="15" name="Rounded Rectangle 14"/>
          <p:cNvSpPr/>
          <p:nvPr/>
        </p:nvSpPr>
        <p:spPr>
          <a:xfrm>
            <a:off x="731520" y="2539492"/>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SHT_HASH / SHT_GNU_HASH</a:t>
            </a:r>
          </a:p>
        </p:txBody>
      </p:sp>
      <p:sp>
        <p:nvSpPr>
          <p:cNvPr id="16" name="Rounded Rectangle 15"/>
          <p:cNvSpPr/>
          <p:nvPr/>
        </p:nvSpPr>
        <p:spPr>
          <a:xfrm>
            <a:off x="4297680" y="2539492"/>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Index of symbol table being indexed</a:t>
            </a:r>
          </a:p>
        </p:txBody>
      </p:sp>
      <p:sp>
        <p:nvSpPr>
          <p:cNvPr id="17" name="Rounded Rectangle 16"/>
          <p:cNvSpPr/>
          <p:nvPr/>
        </p:nvSpPr>
        <p:spPr>
          <a:xfrm>
            <a:off x="7863840" y="2539492"/>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(unused)</a:t>
            </a:r>
          </a:p>
        </p:txBody>
      </p:sp>
      <p:sp>
        <p:nvSpPr>
          <p:cNvPr id="18" name="Rounded Rectangle 17"/>
          <p:cNvSpPr/>
          <p:nvPr/>
        </p:nvSpPr>
        <p:spPr>
          <a:xfrm>
            <a:off x="731520" y="2912364"/>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SHT_DYNAMIC</a:t>
            </a:r>
          </a:p>
        </p:txBody>
      </p:sp>
      <p:sp>
        <p:nvSpPr>
          <p:cNvPr id="19" name="Rounded Rectangle 18"/>
          <p:cNvSpPr/>
          <p:nvPr/>
        </p:nvSpPr>
        <p:spPr>
          <a:xfrm>
            <a:off x="4297680" y="2912364"/>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Index of string table for DT entries</a:t>
            </a:r>
          </a:p>
        </p:txBody>
      </p:sp>
      <p:sp>
        <p:nvSpPr>
          <p:cNvPr id="20" name="Rounded Rectangle 19"/>
          <p:cNvSpPr/>
          <p:nvPr/>
        </p:nvSpPr>
        <p:spPr>
          <a:xfrm>
            <a:off x="7863840" y="2912364"/>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(unused)</a:t>
            </a:r>
          </a:p>
        </p:txBody>
      </p:sp>
      <p:sp>
        <p:nvSpPr>
          <p:cNvPr id="21" name="Rounded Rectangle 20"/>
          <p:cNvSpPr/>
          <p:nvPr/>
        </p:nvSpPr>
        <p:spPr>
          <a:xfrm>
            <a:off x="731520" y="3285236"/>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SHT_GROUP</a:t>
            </a:r>
          </a:p>
        </p:txBody>
      </p:sp>
      <p:sp>
        <p:nvSpPr>
          <p:cNvPr id="22" name="Rounded Rectangle 21"/>
          <p:cNvSpPr/>
          <p:nvPr/>
        </p:nvSpPr>
        <p:spPr>
          <a:xfrm>
            <a:off x="4297680" y="3285236"/>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Index of associated symbol table</a:t>
            </a:r>
          </a:p>
        </p:txBody>
      </p:sp>
      <p:sp>
        <p:nvSpPr>
          <p:cNvPr id="23" name="Rounded Rectangle 22"/>
          <p:cNvSpPr/>
          <p:nvPr/>
        </p:nvSpPr>
        <p:spPr>
          <a:xfrm>
            <a:off x="7863840" y="3285236"/>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Symbol table index of group signature</a:t>
            </a:r>
          </a:p>
        </p:txBody>
      </p:sp>
      <p:sp>
        <p:nvSpPr>
          <p:cNvPr id="24" name="Rounded Rectangle 23"/>
          <p:cNvSpPr/>
          <p:nvPr/>
        </p:nvSpPr>
        <p:spPr>
          <a:xfrm>
            <a:off x="731520" y="3658108"/>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SHT_SYMTAB_SHNDX</a:t>
            </a:r>
          </a:p>
        </p:txBody>
      </p:sp>
      <p:sp>
        <p:nvSpPr>
          <p:cNvPr id="25" name="Rounded Rectangle 24"/>
          <p:cNvSpPr/>
          <p:nvPr/>
        </p:nvSpPr>
        <p:spPr>
          <a:xfrm>
            <a:off x="4297680" y="3658108"/>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Index of associated symbol table</a:t>
            </a:r>
          </a:p>
        </p:txBody>
      </p:sp>
      <p:sp>
        <p:nvSpPr>
          <p:cNvPr id="26" name="Rounded Rectangle 25"/>
          <p:cNvSpPr/>
          <p:nvPr/>
        </p:nvSpPr>
        <p:spPr>
          <a:xfrm>
            <a:off x="7863840" y="3658108"/>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(unused)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Special Section Indices (SHN_*)</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188720"/>
            <a:ext cx="2286000" cy="50292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4444"/>
                </a:solidFill>
              </a:defRPr>
            </a:pPr>
            <a:r>
              <a:t>SHN_UNDEF (0)</a:t>
            </a:r>
          </a:p>
        </p:txBody>
      </p:sp>
      <p:sp>
        <p:nvSpPr>
          <p:cNvPr id="6" name="TextBox 5"/>
          <p:cNvSpPr txBox="1"/>
          <p:nvPr/>
        </p:nvSpPr>
        <p:spPr>
          <a:xfrm>
            <a:off x="3200400" y="1234440"/>
            <a:ext cx="8229600" cy="457200"/>
          </a:xfrm>
          <a:prstGeom prst="rect">
            <a:avLst/>
          </a:prstGeom>
          <a:noFill/>
        </p:spPr>
        <p:txBody>
          <a:bodyPr wrap="square" anchor="t"/>
          <a:lstStyle/>
          <a:p>
            <a:pPr algn="l">
              <a:defRPr sz="1100" b="0" i="0">
                <a:solidFill>
                  <a:srgbClr val="CCCCCC"/>
                </a:solidFill>
              </a:defRPr>
            </a:pPr>
            <a:r>
              <a:t>Symbol not defined in this object — must be resolved by linker/loader</a:t>
            </a:r>
          </a:p>
        </p:txBody>
      </p:sp>
      <p:sp>
        <p:nvSpPr>
          <p:cNvPr id="7" name="Rounded Rectangle 6"/>
          <p:cNvSpPr/>
          <p:nvPr/>
        </p:nvSpPr>
        <p:spPr>
          <a:xfrm>
            <a:off x="731520" y="1755648"/>
            <a:ext cx="2286000" cy="50292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D4FF"/>
                </a:solidFill>
              </a:defRPr>
            </a:pPr>
            <a:r>
              <a:t>SHN_ABS (0xFFF1)</a:t>
            </a:r>
          </a:p>
        </p:txBody>
      </p:sp>
      <p:sp>
        <p:nvSpPr>
          <p:cNvPr id="8" name="TextBox 7"/>
          <p:cNvSpPr txBox="1"/>
          <p:nvPr/>
        </p:nvSpPr>
        <p:spPr>
          <a:xfrm>
            <a:off x="3200400" y="1801368"/>
            <a:ext cx="8229600" cy="457200"/>
          </a:xfrm>
          <a:prstGeom prst="rect">
            <a:avLst/>
          </a:prstGeom>
          <a:noFill/>
        </p:spPr>
        <p:txBody>
          <a:bodyPr wrap="square" anchor="t"/>
          <a:lstStyle/>
          <a:p>
            <a:pPr algn="l">
              <a:defRPr sz="1100" b="0" i="0">
                <a:solidFill>
                  <a:srgbClr val="CCCCCC"/>
                </a:solidFill>
              </a:defRPr>
            </a:pPr>
            <a:r>
              <a:t>Symbol value is absolute, not relative to any section (e.g., __bss_start)</a:t>
            </a:r>
          </a:p>
        </p:txBody>
      </p:sp>
      <p:sp>
        <p:nvSpPr>
          <p:cNvPr id="9" name="Rounded Rectangle 8"/>
          <p:cNvSpPr/>
          <p:nvPr/>
        </p:nvSpPr>
        <p:spPr>
          <a:xfrm>
            <a:off x="731520" y="2322576"/>
            <a:ext cx="2286000" cy="50292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D700"/>
                </a:solidFill>
              </a:defRPr>
            </a:pPr>
            <a:r>
              <a:t>SHN_COMMON (0xFFF2)</a:t>
            </a:r>
          </a:p>
        </p:txBody>
      </p:sp>
      <p:sp>
        <p:nvSpPr>
          <p:cNvPr id="10" name="TextBox 9"/>
          <p:cNvSpPr txBox="1"/>
          <p:nvPr/>
        </p:nvSpPr>
        <p:spPr>
          <a:xfrm>
            <a:off x="3200400" y="2368296"/>
            <a:ext cx="8229600" cy="457200"/>
          </a:xfrm>
          <a:prstGeom prst="rect">
            <a:avLst/>
          </a:prstGeom>
          <a:noFill/>
        </p:spPr>
        <p:txBody>
          <a:bodyPr wrap="square" anchor="t"/>
          <a:lstStyle/>
          <a:p>
            <a:pPr algn="l">
              <a:defRPr sz="1100" b="0" i="0">
                <a:solidFill>
                  <a:srgbClr val="CCCCCC"/>
                </a:solidFill>
              </a:defRPr>
            </a:pPr>
            <a:r>
              <a:t>Tentative definition — C 'common' semantic, allocated by linker</a:t>
            </a:r>
          </a:p>
        </p:txBody>
      </p:sp>
      <p:sp>
        <p:nvSpPr>
          <p:cNvPr id="11" name="Rounded Rectangle 10"/>
          <p:cNvSpPr/>
          <p:nvPr/>
        </p:nvSpPr>
        <p:spPr>
          <a:xfrm>
            <a:off x="731520" y="2889504"/>
            <a:ext cx="2286000" cy="502920"/>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BB86FC"/>
                </a:solidFill>
              </a:defRPr>
            </a:pPr>
            <a:r>
              <a:t>SHN_XINDEX (0xFFFF)</a:t>
            </a:r>
          </a:p>
        </p:txBody>
      </p:sp>
      <p:sp>
        <p:nvSpPr>
          <p:cNvPr id="12" name="TextBox 11"/>
          <p:cNvSpPr txBox="1"/>
          <p:nvPr/>
        </p:nvSpPr>
        <p:spPr>
          <a:xfrm>
            <a:off x="3200400" y="2935224"/>
            <a:ext cx="8229600" cy="457200"/>
          </a:xfrm>
          <a:prstGeom prst="rect">
            <a:avLst/>
          </a:prstGeom>
          <a:noFill/>
        </p:spPr>
        <p:txBody>
          <a:bodyPr wrap="square" anchor="t"/>
          <a:lstStyle/>
          <a:p>
            <a:pPr algn="l">
              <a:defRPr sz="1100" b="0" i="0">
                <a:solidFill>
                  <a:srgbClr val="CCCCCC"/>
                </a:solidFill>
              </a:defRPr>
            </a:pPr>
            <a:r>
              <a:t>Real index exceeds 16 bits — look in SHT_SYMTAB_SHNDX section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Which Sections Matter at Runtime?</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SHF_ALLOC is the dividing line between runtime and analysis-time sections</a:t>
            </a:r>
          </a:p>
        </p:txBody>
      </p:sp>
      <p:sp>
        <p:nvSpPr>
          <p:cNvPr id="6" name="Rectangle 5"/>
          <p:cNvSpPr/>
          <p:nvPr/>
        </p:nvSpPr>
        <p:spPr>
          <a:xfrm>
            <a:off x="731520" y="1371600"/>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371600"/>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A section is 'interesting at runtime' exactly when sh_flags includes SHF_ALLOC</a:t>
            </a:r>
          </a:p>
        </p:txBody>
      </p:sp>
      <p:sp>
        <p:nvSpPr>
          <p:cNvPr id="8" name="Rectangle 7"/>
          <p:cNvSpPr/>
          <p:nvPr/>
        </p:nvSpPr>
        <p:spPr>
          <a:xfrm>
            <a:off x="731520" y="1773936"/>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773936"/>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Runtime sections: .text, .rodata, .data, .bss, .got, .got.plt, .plt, .dynamic, .dynsym, .dynstr</a:t>
            </a:r>
          </a:p>
        </p:txBody>
      </p:sp>
      <p:sp>
        <p:nvSpPr>
          <p:cNvPr id="10" name="Rectangle 9"/>
          <p:cNvSpPr/>
          <p:nvPr/>
        </p:nvSpPr>
        <p:spPr>
          <a:xfrm>
            <a:off x="731520" y="2176272"/>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4672" y="2176272"/>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Analysis-only sections: .symtab, .strtab, .debug_*, .comment, .shstrtab</a:t>
            </a:r>
          </a:p>
        </p:txBody>
      </p:sp>
      <p:sp>
        <p:nvSpPr>
          <p:cNvPr id="12" name="Rectangle 11"/>
          <p:cNvSpPr/>
          <p:nvPr/>
        </p:nvSpPr>
        <p:spPr>
          <a:xfrm>
            <a:off x="731520" y="2578608"/>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 y="2578608"/>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Stripping removes analysis-only sections; binary functionality is unchanged</a:t>
            </a:r>
          </a:p>
        </p:txBody>
      </p:sp>
      <p:sp>
        <p:nvSpPr>
          <p:cNvPr id="14" name="Rectangle 13"/>
          <p:cNvSpPr/>
          <p:nvPr/>
        </p:nvSpPr>
        <p:spPr>
          <a:xfrm>
            <a:off x="731520" y="2980944"/>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980944"/>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'strip --strip-all' removes .symtab + debug sections but keeps .dynsym (needed at runtime)</a:t>
            </a:r>
          </a:p>
        </p:txBody>
      </p:sp>
      <p:sp>
        <p:nvSpPr>
          <p:cNvPr id="16" name="Rectangle 15"/>
          <p:cNvSpPr/>
          <p:nvPr/>
        </p:nvSpPr>
        <p:spPr>
          <a:xfrm>
            <a:off x="731520" y="3383280"/>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4672" y="3383280"/>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'strip --strip-unneeded' is more conservative — keeps symbols referenced by relocations</a:t>
            </a:r>
          </a:p>
        </p:txBody>
      </p:sp>
      <p:sp>
        <p:nvSpPr>
          <p:cNvPr id="18" name="Rectangle 17"/>
          <p:cNvSpPr/>
          <p:nvPr/>
        </p:nvSpPr>
        <p:spPr>
          <a:xfrm>
            <a:off x="731520" y="3785616"/>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4672" y="3785616"/>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A fully stripped binary with no section headers is still fully functional</a:t>
            </a:r>
          </a:p>
        </p:txBody>
      </p:sp>
      <p:sp>
        <p:nvSpPr>
          <p:cNvPr id="20" name="Rectangle 19"/>
          <p:cNvSpPr/>
          <p:nvPr/>
        </p:nvSpPr>
        <p:spPr>
          <a:xfrm>
            <a:off x="731520" y="4187952"/>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4672" y="4187952"/>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Detection engineers: always check SHF_ALLOC to separate runtime from metadata sections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5</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Kernel → Loader Handoff</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From execve() to the first userspace instruction — the auxiliary vector bridge</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load_elf_binary() — Kernel Loading Sequence</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fs/binfmt_elf.c — kernel reads ONLY program headers, never section headers</a:t>
            </a:r>
          </a:p>
        </p:txBody>
      </p:sp>
      <p:sp>
        <p:nvSpPr>
          <p:cNvPr id="6" name="Rounded Rectangle 5"/>
          <p:cNvSpPr/>
          <p:nvPr/>
        </p:nvSpPr>
        <p:spPr>
          <a:xfrm>
            <a:off x="568960" y="1803400"/>
            <a:ext cx="1304834" cy="736600"/>
          </a:xfrm>
          <a:prstGeom prst="roundRect">
            <a:avLst/>
          </a:prstGeom>
          <a:noFill/>
          <a:ln w="317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7" name="Rounded Rectangle 6"/>
          <p:cNvSpPr/>
          <p:nvPr/>
        </p:nvSpPr>
        <p:spPr>
          <a:xfrm>
            <a:off x="594360" y="1828800"/>
            <a:ext cx="1254034" cy="68580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execve()</a:t>
            </a:r>
            <a:br/>
            <a:r>
              <a:t>syscall</a:t>
            </a:r>
          </a:p>
        </p:txBody>
      </p:sp>
      <p:sp>
        <p:nvSpPr>
          <p:cNvPr id="8" name="Right Arrow 7"/>
          <p:cNvSpPr/>
          <p:nvPr/>
        </p:nvSpPr>
        <p:spPr>
          <a:xfrm>
            <a:off x="1899194" y="2034540"/>
            <a:ext cx="264159" cy="228600"/>
          </a:xfrm>
          <a:prstGeom prst="rightArrow">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88754" y="1803400"/>
            <a:ext cx="1304834" cy="736600"/>
          </a:xfrm>
          <a:prstGeom prst="roundRect">
            <a:avLst/>
          </a:prstGeom>
          <a:noFill/>
          <a:ln w="317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Rounded Rectangle 9"/>
          <p:cNvSpPr/>
          <p:nvPr/>
        </p:nvSpPr>
        <p:spPr>
          <a:xfrm>
            <a:off x="2214154" y="1828800"/>
            <a:ext cx="1254034" cy="685800"/>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Parse Ehdr</a:t>
            </a:r>
            <a:br/>
            <a:r>
              <a:t>&amp; Phdr table</a:t>
            </a:r>
          </a:p>
        </p:txBody>
      </p:sp>
      <p:sp>
        <p:nvSpPr>
          <p:cNvPr id="11" name="Right Arrow 10"/>
          <p:cNvSpPr/>
          <p:nvPr/>
        </p:nvSpPr>
        <p:spPr>
          <a:xfrm>
            <a:off x="3518988" y="2034540"/>
            <a:ext cx="264160" cy="228600"/>
          </a:xfrm>
          <a:prstGeom prst="rightArrow">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808548" y="1803400"/>
            <a:ext cx="1304834" cy="736600"/>
          </a:xfrm>
          <a:prstGeom prst="roundRect">
            <a:avLst/>
          </a:prstGeom>
          <a:noFill/>
          <a:ln w="317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3" name="Rounded Rectangle 12"/>
          <p:cNvSpPr/>
          <p:nvPr/>
        </p:nvSpPr>
        <p:spPr>
          <a:xfrm>
            <a:off x="3833948" y="1828800"/>
            <a:ext cx="1254034" cy="68580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mmap PT_LOAD</a:t>
            </a:r>
            <a:br/>
            <a:r>
              <a:t>segments</a:t>
            </a:r>
          </a:p>
        </p:txBody>
      </p:sp>
      <p:sp>
        <p:nvSpPr>
          <p:cNvPr id="14" name="Right Arrow 13"/>
          <p:cNvSpPr/>
          <p:nvPr/>
        </p:nvSpPr>
        <p:spPr>
          <a:xfrm>
            <a:off x="5138782" y="2034540"/>
            <a:ext cx="264160" cy="228600"/>
          </a:xfrm>
          <a:prstGeom prst="righ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28342" y="1803400"/>
            <a:ext cx="1304834" cy="736600"/>
          </a:xfrm>
          <a:prstGeom prst="roundRect">
            <a:avLst/>
          </a:prstGeom>
          <a:noFill/>
          <a:ln w="317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6" name="Rounded Rectangle 15"/>
          <p:cNvSpPr/>
          <p:nvPr/>
        </p:nvSpPr>
        <p:spPr>
          <a:xfrm>
            <a:off x="5453742" y="1828800"/>
            <a:ext cx="1254034" cy="68580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Pick ASLR</a:t>
            </a:r>
            <a:br/>
            <a:r>
              <a:t>base (PIE)</a:t>
            </a:r>
          </a:p>
        </p:txBody>
      </p:sp>
      <p:sp>
        <p:nvSpPr>
          <p:cNvPr id="17" name="Right Arrow 16"/>
          <p:cNvSpPr/>
          <p:nvPr/>
        </p:nvSpPr>
        <p:spPr>
          <a:xfrm>
            <a:off x="6758577" y="2034540"/>
            <a:ext cx="264160" cy="228600"/>
          </a:xfrm>
          <a:prstGeom prst="rightArrow">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48137" y="1803400"/>
            <a:ext cx="1304834" cy="736600"/>
          </a:xfrm>
          <a:prstGeom prst="roundRect">
            <a:avLst/>
          </a:prstGeom>
          <a:noFill/>
          <a:ln w="317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9" name="Rounded Rectangle 18"/>
          <p:cNvSpPr/>
          <p:nvPr/>
        </p:nvSpPr>
        <p:spPr>
          <a:xfrm>
            <a:off x="7073537" y="1828800"/>
            <a:ext cx="1254034" cy="685800"/>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Load PT_INTERP</a:t>
            </a:r>
            <a:br/>
            <a:r>
              <a:t>(ld.so)</a:t>
            </a:r>
          </a:p>
        </p:txBody>
      </p:sp>
      <p:sp>
        <p:nvSpPr>
          <p:cNvPr id="20" name="Right Arrow 19"/>
          <p:cNvSpPr/>
          <p:nvPr/>
        </p:nvSpPr>
        <p:spPr>
          <a:xfrm>
            <a:off x="8378371" y="2034540"/>
            <a:ext cx="264160" cy="228600"/>
          </a:xfrm>
          <a:prstGeom prst="rightArrow">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67931" y="1803400"/>
            <a:ext cx="1304834" cy="736600"/>
          </a:xfrm>
          <a:prstGeom prst="roundRect">
            <a:avLst/>
          </a:prstGeom>
          <a:noFill/>
          <a:ln w="317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2" name="Rounded Rectangle 21"/>
          <p:cNvSpPr/>
          <p:nvPr/>
        </p:nvSpPr>
        <p:spPr>
          <a:xfrm>
            <a:off x="8693331" y="1828800"/>
            <a:ext cx="1254034" cy="685800"/>
          </a:xfrm>
          <a:prstGeom prst="roundRect">
            <a:avLst/>
          </a:prstGeom>
          <a:solidFill>
            <a:srgbClr val="1C1C34"/>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Build auxv</a:t>
            </a:r>
            <a:br/>
            <a:r>
              <a:t>on stack</a:t>
            </a:r>
          </a:p>
        </p:txBody>
      </p:sp>
      <p:sp>
        <p:nvSpPr>
          <p:cNvPr id="23" name="Right Arrow 22"/>
          <p:cNvSpPr/>
          <p:nvPr/>
        </p:nvSpPr>
        <p:spPr>
          <a:xfrm>
            <a:off x="9998165" y="2034540"/>
            <a:ext cx="264160" cy="228600"/>
          </a:xfrm>
          <a:prstGeom prst="rightArrow">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287725" y="1803400"/>
            <a:ext cx="1304834" cy="736600"/>
          </a:xfrm>
          <a:prstGeom prst="roundRect">
            <a:avLst/>
          </a:prstGeom>
          <a:noFill/>
          <a:ln w="317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5" name="Rounded Rectangle 24"/>
          <p:cNvSpPr/>
          <p:nvPr/>
        </p:nvSpPr>
        <p:spPr>
          <a:xfrm>
            <a:off x="10313125" y="1828800"/>
            <a:ext cx="1254034" cy="685800"/>
          </a:xfrm>
          <a:prstGeom prst="roundRect">
            <a:avLst/>
          </a:prstGeom>
          <a:solidFill>
            <a:srgbClr val="1C1C34"/>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Jump to</a:t>
            </a:r>
            <a:br/>
            <a:r>
              <a:t>ld.so _start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Auxiliary Vector (auxv) — Kernel → Userspace Data Channel</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Elf64_auxv_t { a_type, a_un.a_val } — the kernel's out-of-band channel</a:t>
            </a:r>
          </a:p>
        </p:txBody>
      </p:sp>
      <p:sp>
        <p:nvSpPr>
          <p:cNvPr id="6" name="Rounded Rectangle 5"/>
          <p:cNvSpPr/>
          <p:nvPr/>
        </p:nvSpPr>
        <p:spPr>
          <a:xfrm>
            <a:off x="731520" y="1371600"/>
            <a:ext cx="2649220" cy="384048"/>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D4FF"/>
                </a:solidFill>
              </a:defRPr>
            </a:pPr>
            <a:r>
              <a:t>AT_* Tag</a:t>
            </a:r>
          </a:p>
        </p:txBody>
      </p:sp>
      <p:sp>
        <p:nvSpPr>
          <p:cNvPr id="7" name="Rounded Rectangle 6"/>
          <p:cNvSpPr/>
          <p:nvPr/>
        </p:nvSpPr>
        <p:spPr>
          <a:xfrm>
            <a:off x="3406140" y="1371600"/>
            <a:ext cx="2649220" cy="384048"/>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FF88"/>
                </a:solidFill>
              </a:defRPr>
            </a:pPr>
            <a:r>
              <a:t>Value</a:t>
            </a:r>
          </a:p>
        </p:txBody>
      </p:sp>
      <p:sp>
        <p:nvSpPr>
          <p:cNvPr id="8" name="Rounded Rectangle 7"/>
          <p:cNvSpPr/>
          <p:nvPr/>
        </p:nvSpPr>
        <p:spPr>
          <a:xfrm>
            <a:off x="6080760" y="1371600"/>
            <a:ext cx="2649220" cy="384048"/>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D700"/>
                </a:solidFill>
              </a:defRPr>
            </a:pPr>
            <a:r>
              <a:t>Purpose</a:t>
            </a:r>
          </a:p>
        </p:txBody>
      </p:sp>
      <p:sp>
        <p:nvSpPr>
          <p:cNvPr id="9" name="Rounded Rectangle 8"/>
          <p:cNvSpPr/>
          <p:nvPr/>
        </p:nvSpPr>
        <p:spPr>
          <a:xfrm>
            <a:off x="8755380" y="1371600"/>
            <a:ext cx="2649220" cy="384048"/>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4444"/>
                </a:solidFill>
              </a:defRPr>
            </a:pPr>
            <a:r>
              <a:t>Security Impact</a:t>
            </a:r>
          </a:p>
        </p:txBody>
      </p:sp>
      <p:sp>
        <p:nvSpPr>
          <p:cNvPr id="10" name="Rounded Rectangle 9"/>
          <p:cNvSpPr/>
          <p:nvPr/>
        </p:nvSpPr>
        <p:spPr>
          <a:xfrm>
            <a:off x="73152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AT_PHDR</a:t>
            </a:r>
          </a:p>
        </p:txBody>
      </p:sp>
      <p:sp>
        <p:nvSpPr>
          <p:cNvPr id="11" name="Rounded Rectangle 10"/>
          <p:cNvSpPr/>
          <p:nvPr/>
        </p:nvSpPr>
        <p:spPr>
          <a:xfrm>
            <a:off x="340614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3</a:t>
            </a:r>
          </a:p>
        </p:txBody>
      </p:sp>
      <p:sp>
        <p:nvSpPr>
          <p:cNvPr id="12" name="Rounded Rectangle 11"/>
          <p:cNvSpPr/>
          <p:nvPr/>
        </p:nvSpPr>
        <p:spPr>
          <a:xfrm>
            <a:off x="608076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VA of program header table</a:t>
            </a:r>
          </a:p>
        </p:txBody>
      </p:sp>
      <p:sp>
        <p:nvSpPr>
          <p:cNvPr id="13" name="Rounded Rectangle 12"/>
          <p:cNvSpPr/>
          <p:nvPr/>
        </p:nvSpPr>
        <p:spPr>
          <a:xfrm>
            <a:off x="875538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ld.so uses to find PT_DYNAMIC</a:t>
            </a:r>
          </a:p>
        </p:txBody>
      </p:sp>
      <p:sp>
        <p:nvSpPr>
          <p:cNvPr id="14" name="Rounded Rectangle 13"/>
          <p:cNvSpPr/>
          <p:nvPr/>
        </p:nvSpPr>
        <p:spPr>
          <a:xfrm>
            <a:off x="73152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AT_PHENT</a:t>
            </a:r>
          </a:p>
        </p:txBody>
      </p:sp>
      <p:sp>
        <p:nvSpPr>
          <p:cNvPr id="15" name="Rounded Rectangle 14"/>
          <p:cNvSpPr/>
          <p:nvPr/>
        </p:nvSpPr>
        <p:spPr>
          <a:xfrm>
            <a:off x="340614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4</a:t>
            </a:r>
          </a:p>
        </p:txBody>
      </p:sp>
      <p:sp>
        <p:nvSpPr>
          <p:cNvPr id="16" name="Rounded Rectangle 15"/>
          <p:cNvSpPr/>
          <p:nvPr/>
        </p:nvSpPr>
        <p:spPr>
          <a:xfrm>
            <a:off x="608076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Size of one phdr entry</a:t>
            </a:r>
          </a:p>
        </p:txBody>
      </p:sp>
      <p:sp>
        <p:nvSpPr>
          <p:cNvPr id="17" name="Rounded Rectangle 16"/>
          <p:cNvSpPr/>
          <p:nvPr/>
        </p:nvSpPr>
        <p:spPr>
          <a:xfrm>
            <a:off x="875538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Always 56 for ELF64</a:t>
            </a:r>
          </a:p>
        </p:txBody>
      </p:sp>
      <p:sp>
        <p:nvSpPr>
          <p:cNvPr id="18" name="Rounded Rectangle 17"/>
          <p:cNvSpPr/>
          <p:nvPr/>
        </p:nvSpPr>
        <p:spPr>
          <a:xfrm>
            <a:off x="73152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AT_PHNUM</a:t>
            </a:r>
          </a:p>
        </p:txBody>
      </p:sp>
      <p:sp>
        <p:nvSpPr>
          <p:cNvPr id="19" name="Rounded Rectangle 18"/>
          <p:cNvSpPr/>
          <p:nvPr/>
        </p:nvSpPr>
        <p:spPr>
          <a:xfrm>
            <a:off x="340614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5</a:t>
            </a:r>
          </a:p>
        </p:txBody>
      </p:sp>
      <p:sp>
        <p:nvSpPr>
          <p:cNvPr id="20" name="Rounded Rectangle 19"/>
          <p:cNvSpPr/>
          <p:nvPr/>
        </p:nvSpPr>
        <p:spPr>
          <a:xfrm>
            <a:off x="608076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Number of phdr entries</a:t>
            </a:r>
          </a:p>
        </p:txBody>
      </p:sp>
      <p:sp>
        <p:nvSpPr>
          <p:cNvPr id="21" name="Rounded Rectangle 20"/>
          <p:cNvSpPr/>
          <p:nvPr/>
        </p:nvSpPr>
        <p:spPr>
          <a:xfrm>
            <a:off x="875538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p>
        </p:txBody>
      </p:sp>
      <p:sp>
        <p:nvSpPr>
          <p:cNvPr id="22" name="Rounded Rectangle 21"/>
          <p:cNvSpPr/>
          <p:nvPr/>
        </p:nvSpPr>
        <p:spPr>
          <a:xfrm>
            <a:off x="73152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AT_BASE</a:t>
            </a:r>
          </a:p>
        </p:txBody>
      </p:sp>
      <p:sp>
        <p:nvSpPr>
          <p:cNvPr id="23" name="Rounded Rectangle 22"/>
          <p:cNvSpPr/>
          <p:nvPr/>
        </p:nvSpPr>
        <p:spPr>
          <a:xfrm>
            <a:off x="340614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7</a:t>
            </a:r>
          </a:p>
        </p:txBody>
      </p:sp>
      <p:sp>
        <p:nvSpPr>
          <p:cNvPr id="24" name="Rounded Rectangle 23"/>
          <p:cNvSpPr/>
          <p:nvPr/>
        </p:nvSpPr>
        <p:spPr>
          <a:xfrm>
            <a:off x="608076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Load base of ld.so itself</a:t>
            </a:r>
          </a:p>
        </p:txBody>
      </p:sp>
      <p:sp>
        <p:nvSpPr>
          <p:cNvPr id="25" name="Rounded Rectangle 24"/>
          <p:cNvSpPr/>
          <p:nvPr/>
        </p:nvSpPr>
        <p:spPr>
          <a:xfrm>
            <a:off x="875538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Needed for self-relocation</a:t>
            </a:r>
          </a:p>
        </p:txBody>
      </p:sp>
      <p:sp>
        <p:nvSpPr>
          <p:cNvPr id="26" name="Rounded Rectangle 25"/>
          <p:cNvSpPr/>
          <p:nvPr/>
        </p:nvSpPr>
        <p:spPr>
          <a:xfrm>
            <a:off x="731520" y="328523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AT_ENTRY</a:t>
            </a:r>
          </a:p>
        </p:txBody>
      </p:sp>
      <p:sp>
        <p:nvSpPr>
          <p:cNvPr id="27" name="Rounded Rectangle 26"/>
          <p:cNvSpPr/>
          <p:nvPr/>
        </p:nvSpPr>
        <p:spPr>
          <a:xfrm>
            <a:off x="3406140" y="328523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9</a:t>
            </a:r>
          </a:p>
        </p:txBody>
      </p:sp>
      <p:sp>
        <p:nvSpPr>
          <p:cNvPr id="28" name="Rounded Rectangle 27"/>
          <p:cNvSpPr/>
          <p:nvPr/>
        </p:nvSpPr>
        <p:spPr>
          <a:xfrm>
            <a:off x="6080760" y="328523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Program entry point (relocated)</a:t>
            </a:r>
          </a:p>
        </p:txBody>
      </p:sp>
      <p:sp>
        <p:nvSpPr>
          <p:cNvPr id="29" name="Rounded Rectangle 28"/>
          <p:cNvSpPr/>
          <p:nvPr/>
        </p:nvSpPr>
        <p:spPr>
          <a:xfrm>
            <a:off x="8755380" y="328523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Where ld.so transfers control</a:t>
            </a:r>
          </a:p>
        </p:txBody>
      </p:sp>
      <p:sp>
        <p:nvSpPr>
          <p:cNvPr id="30" name="Rounded Rectangle 29"/>
          <p:cNvSpPr/>
          <p:nvPr/>
        </p:nvSpPr>
        <p:spPr>
          <a:xfrm>
            <a:off x="731520" y="365810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AT_RANDOM</a:t>
            </a:r>
          </a:p>
        </p:txBody>
      </p:sp>
      <p:sp>
        <p:nvSpPr>
          <p:cNvPr id="31" name="Rounded Rectangle 30"/>
          <p:cNvSpPr/>
          <p:nvPr/>
        </p:nvSpPr>
        <p:spPr>
          <a:xfrm>
            <a:off x="3406140" y="365810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25</a:t>
            </a:r>
          </a:p>
        </p:txBody>
      </p:sp>
      <p:sp>
        <p:nvSpPr>
          <p:cNvPr id="32" name="Rounded Rectangle 31"/>
          <p:cNvSpPr/>
          <p:nvPr/>
        </p:nvSpPr>
        <p:spPr>
          <a:xfrm>
            <a:off x="6080760" y="365810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16 bytes of kernel randomness</a:t>
            </a:r>
          </a:p>
        </p:txBody>
      </p:sp>
      <p:sp>
        <p:nvSpPr>
          <p:cNvPr id="33" name="Rounded Rectangle 32"/>
          <p:cNvSpPr/>
          <p:nvPr/>
        </p:nvSpPr>
        <p:spPr>
          <a:xfrm>
            <a:off x="8755380" y="365810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Seeds stack canary &amp; libc PRNG</a:t>
            </a:r>
          </a:p>
        </p:txBody>
      </p:sp>
      <p:sp>
        <p:nvSpPr>
          <p:cNvPr id="34" name="Rounded Rectangle 33"/>
          <p:cNvSpPr/>
          <p:nvPr/>
        </p:nvSpPr>
        <p:spPr>
          <a:xfrm>
            <a:off x="731520" y="403098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AT_SYSINFO_EHDR</a:t>
            </a:r>
          </a:p>
        </p:txBody>
      </p:sp>
      <p:sp>
        <p:nvSpPr>
          <p:cNvPr id="35" name="Rounded Rectangle 34"/>
          <p:cNvSpPr/>
          <p:nvPr/>
        </p:nvSpPr>
        <p:spPr>
          <a:xfrm>
            <a:off x="3406140" y="403098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33</a:t>
            </a:r>
          </a:p>
        </p:txBody>
      </p:sp>
      <p:sp>
        <p:nvSpPr>
          <p:cNvPr id="36" name="Rounded Rectangle 35"/>
          <p:cNvSpPr/>
          <p:nvPr/>
        </p:nvSpPr>
        <p:spPr>
          <a:xfrm>
            <a:off x="6080760" y="403098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Address of vDSO</a:t>
            </a:r>
          </a:p>
        </p:txBody>
      </p:sp>
      <p:sp>
        <p:nvSpPr>
          <p:cNvPr id="37" name="Rounded Rectangle 36"/>
          <p:cNvSpPr/>
          <p:nvPr/>
        </p:nvSpPr>
        <p:spPr>
          <a:xfrm>
            <a:off x="8755380" y="403098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Fast syscalls without kernel entry</a:t>
            </a:r>
          </a:p>
        </p:txBody>
      </p:sp>
      <p:sp>
        <p:nvSpPr>
          <p:cNvPr id="38" name="Rounded Rectangle 37"/>
          <p:cNvSpPr/>
          <p:nvPr/>
        </p:nvSpPr>
        <p:spPr>
          <a:xfrm>
            <a:off x="731520" y="4403852"/>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AT_HWCAP / AT_HWCAP2</a:t>
            </a:r>
          </a:p>
        </p:txBody>
      </p:sp>
      <p:sp>
        <p:nvSpPr>
          <p:cNvPr id="39" name="Rounded Rectangle 38"/>
          <p:cNvSpPr/>
          <p:nvPr/>
        </p:nvSpPr>
        <p:spPr>
          <a:xfrm>
            <a:off x="3406140" y="4403852"/>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16/26</a:t>
            </a:r>
          </a:p>
        </p:txBody>
      </p:sp>
      <p:sp>
        <p:nvSpPr>
          <p:cNvPr id="40" name="Rounded Rectangle 39"/>
          <p:cNvSpPr/>
          <p:nvPr/>
        </p:nvSpPr>
        <p:spPr>
          <a:xfrm>
            <a:off x="6080760" y="4403852"/>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CPU feature bitmask</a:t>
            </a:r>
          </a:p>
        </p:txBody>
      </p:sp>
      <p:sp>
        <p:nvSpPr>
          <p:cNvPr id="41" name="Rounded Rectangle 40"/>
          <p:cNvSpPr/>
          <p:nvPr/>
        </p:nvSpPr>
        <p:spPr>
          <a:xfrm>
            <a:off x="8755380" y="4403852"/>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IFUNC resolver selection</a:t>
            </a:r>
          </a:p>
        </p:txBody>
      </p:sp>
      <p:sp>
        <p:nvSpPr>
          <p:cNvPr id="42" name="Rounded Rectangle 41"/>
          <p:cNvSpPr/>
          <p:nvPr/>
        </p:nvSpPr>
        <p:spPr>
          <a:xfrm>
            <a:off x="731520" y="4776724"/>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AT_SECURE</a:t>
            </a:r>
          </a:p>
        </p:txBody>
      </p:sp>
      <p:sp>
        <p:nvSpPr>
          <p:cNvPr id="43" name="Rounded Rectangle 42"/>
          <p:cNvSpPr/>
          <p:nvPr/>
        </p:nvSpPr>
        <p:spPr>
          <a:xfrm>
            <a:off x="3406140" y="4776724"/>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23</a:t>
            </a:r>
          </a:p>
        </p:txBody>
      </p:sp>
      <p:sp>
        <p:nvSpPr>
          <p:cNvPr id="44" name="Rounded Rectangle 43"/>
          <p:cNvSpPr/>
          <p:nvPr/>
        </p:nvSpPr>
        <p:spPr>
          <a:xfrm>
            <a:off x="6080760" y="4776724"/>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 if setuid/setgid/fscaps</a:t>
            </a:r>
          </a:p>
        </p:txBody>
      </p:sp>
      <p:sp>
        <p:nvSpPr>
          <p:cNvPr id="45" name="Rounded Rectangle 44"/>
          <p:cNvSpPr/>
          <p:nvPr/>
        </p:nvSpPr>
        <p:spPr>
          <a:xfrm>
            <a:off x="8755380" y="4776724"/>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Disables LD_PRELOAD, LD_LIBRARY_PATH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AT_SECURE — The Linchpin of Setuid Safety</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31520" y="1097280"/>
            <a:ext cx="54864" cy="59436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097280"/>
            <a:ext cx="3200400" cy="274320"/>
          </a:xfrm>
          <a:prstGeom prst="rect">
            <a:avLst/>
          </a:prstGeom>
          <a:noFill/>
        </p:spPr>
        <p:txBody>
          <a:bodyPr wrap="square" anchor="t"/>
          <a:lstStyle/>
          <a:p>
            <a:pPr algn="l">
              <a:defRPr sz="1300" b="1" i="0">
                <a:solidFill>
                  <a:srgbClr val="FF4444"/>
                </a:solidFill>
              </a:defRPr>
            </a:pPr>
            <a:r>
              <a:t>What AT_SECURE Does</a:t>
            </a:r>
          </a:p>
        </p:txBody>
      </p:sp>
      <p:sp>
        <p:nvSpPr>
          <p:cNvPr id="7" name="TextBox 6"/>
          <p:cNvSpPr txBox="1"/>
          <p:nvPr/>
        </p:nvSpPr>
        <p:spPr>
          <a:xfrm>
            <a:off x="914400" y="1353312"/>
            <a:ext cx="10058400" cy="365760"/>
          </a:xfrm>
          <a:prstGeom prst="rect">
            <a:avLst/>
          </a:prstGeom>
          <a:noFill/>
        </p:spPr>
        <p:txBody>
          <a:bodyPr wrap="square" anchor="t"/>
          <a:lstStyle/>
          <a:p>
            <a:pPr algn="l">
              <a:defRPr sz="1100" b="0" i="0">
                <a:solidFill>
                  <a:srgbClr val="CCCCCC"/>
                </a:solidFill>
              </a:defRPr>
            </a:pPr>
            <a:r>
              <a:t>When AT_SECURE=1, the dynamic linker ignores: LD_PRELOAD, LD_LIBRARY_PATH, LD_AUDIT, LD_DEBUG, and all other dangerous environment variables.</a:t>
            </a:r>
          </a:p>
        </p:txBody>
      </p:sp>
      <p:sp>
        <p:nvSpPr>
          <p:cNvPr id="8" name="Rectangle 7"/>
          <p:cNvSpPr/>
          <p:nvPr/>
        </p:nvSpPr>
        <p:spPr>
          <a:xfrm>
            <a:off x="731520" y="1755648"/>
            <a:ext cx="54864" cy="5943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55648"/>
            <a:ext cx="3200400" cy="274320"/>
          </a:xfrm>
          <a:prstGeom prst="rect">
            <a:avLst/>
          </a:prstGeom>
          <a:noFill/>
        </p:spPr>
        <p:txBody>
          <a:bodyPr wrap="square" anchor="t"/>
          <a:lstStyle/>
          <a:p>
            <a:pPr algn="l">
              <a:defRPr sz="1300" b="1" i="0">
                <a:solidFill>
                  <a:srgbClr val="FFD700"/>
                </a:solidFill>
              </a:defRPr>
            </a:pPr>
            <a:r>
              <a:t>When AT_SECURE Is Set</a:t>
            </a:r>
          </a:p>
        </p:txBody>
      </p:sp>
      <p:sp>
        <p:nvSpPr>
          <p:cNvPr id="10" name="TextBox 9"/>
          <p:cNvSpPr txBox="1"/>
          <p:nvPr/>
        </p:nvSpPr>
        <p:spPr>
          <a:xfrm>
            <a:off x="914400" y="2011680"/>
            <a:ext cx="10058400" cy="365760"/>
          </a:xfrm>
          <a:prstGeom prst="rect">
            <a:avLst/>
          </a:prstGeom>
          <a:noFill/>
        </p:spPr>
        <p:txBody>
          <a:bodyPr wrap="square" anchor="t"/>
          <a:lstStyle/>
          <a:p>
            <a:pPr algn="l">
              <a:defRPr sz="1100" b="0" i="0">
                <a:solidFill>
                  <a:srgbClr val="CCCCCC"/>
                </a:solidFill>
              </a:defRPr>
            </a:pPr>
            <a:r>
              <a:t>Kernel sets AT_SECURE=1 for: setuid binaries, setgid binaries, and binaries with file capabilities (e.g., cap_net_raw). Checked in security_bprm_set_creds().</a:t>
            </a:r>
          </a:p>
        </p:txBody>
      </p:sp>
      <p:sp>
        <p:nvSpPr>
          <p:cNvPr id="11" name="Rectangle 10"/>
          <p:cNvSpPr/>
          <p:nvPr/>
        </p:nvSpPr>
        <p:spPr>
          <a:xfrm>
            <a:off x="731520" y="2414016"/>
            <a:ext cx="54864" cy="59436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414016"/>
            <a:ext cx="3200400" cy="274320"/>
          </a:xfrm>
          <a:prstGeom prst="rect">
            <a:avLst/>
          </a:prstGeom>
          <a:noFill/>
        </p:spPr>
        <p:txBody>
          <a:bodyPr wrap="square" anchor="t"/>
          <a:lstStyle/>
          <a:p>
            <a:pPr algn="l">
              <a:defRPr sz="1300" b="1" i="0">
                <a:solidFill>
                  <a:srgbClr val="00FF88"/>
                </a:solidFill>
              </a:defRPr>
            </a:pPr>
            <a:r>
              <a:t>Why It Matters</a:t>
            </a:r>
          </a:p>
        </p:txBody>
      </p:sp>
      <p:sp>
        <p:nvSpPr>
          <p:cNvPr id="13" name="TextBox 12"/>
          <p:cNvSpPr txBox="1"/>
          <p:nvPr/>
        </p:nvSpPr>
        <p:spPr>
          <a:xfrm>
            <a:off x="914400" y="2670048"/>
            <a:ext cx="10058400" cy="365760"/>
          </a:xfrm>
          <a:prstGeom prst="rect">
            <a:avLst/>
          </a:prstGeom>
          <a:noFill/>
        </p:spPr>
        <p:txBody>
          <a:bodyPr wrap="square" anchor="t"/>
          <a:lstStyle/>
          <a:p>
            <a:pPr algn="l">
              <a:defRPr sz="1100" b="0" i="0">
                <a:solidFill>
                  <a:srgbClr val="CCCCCC"/>
                </a:solidFill>
              </a:defRPr>
            </a:pPr>
            <a:r>
              <a:t>Without AT_SECURE, any user could LD_PRELOAD a malicious library into a setuid binary and gain root. AT_SECURE is the ONLY defense against this attack vector.</a:t>
            </a:r>
          </a:p>
        </p:txBody>
      </p:sp>
      <p:sp>
        <p:nvSpPr>
          <p:cNvPr id="14" name="Rectangle 13"/>
          <p:cNvSpPr/>
          <p:nvPr/>
        </p:nvSpPr>
        <p:spPr>
          <a:xfrm>
            <a:off x="731520" y="3072384"/>
            <a:ext cx="54864" cy="59436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72384"/>
            <a:ext cx="3200400" cy="274320"/>
          </a:xfrm>
          <a:prstGeom prst="rect">
            <a:avLst/>
          </a:prstGeom>
          <a:noFill/>
        </p:spPr>
        <p:txBody>
          <a:bodyPr wrap="square" anchor="t"/>
          <a:lstStyle/>
          <a:p>
            <a:pPr algn="l">
              <a:defRPr sz="1300" b="1" i="0">
                <a:solidFill>
                  <a:srgbClr val="BB86FC"/>
                </a:solidFill>
              </a:defRPr>
            </a:pPr>
            <a:r>
              <a:t>Historical Bypass: CVE-2010-3856</a:t>
            </a:r>
          </a:p>
        </p:txBody>
      </p:sp>
      <p:sp>
        <p:nvSpPr>
          <p:cNvPr id="16" name="TextBox 15"/>
          <p:cNvSpPr txBox="1"/>
          <p:nvPr/>
        </p:nvSpPr>
        <p:spPr>
          <a:xfrm>
            <a:off x="914400" y="3328416"/>
            <a:ext cx="10058400" cy="365760"/>
          </a:xfrm>
          <a:prstGeom prst="rect">
            <a:avLst/>
          </a:prstGeom>
          <a:noFill/>
        </p:spPr>
        <p:txBody>
          <a:bodyPr wrap="square" anchor="t"/>
          <a:lstStyle/>
          <a:p>
            <a:pPr algn="l">
              <a:defRPr sz="1100" b="0" i="0">
                <a:solidFill>
                  <a:srgbClr val="CCCCCC"/>
                </a:solidFill>
              </a:defRPr>
            </a:pPr>
            <a:r>
              <a:t>$ORIGIN expansion in DT_RPATH bypassed AT_SECURE checks in older glibc versions, allowing LD_AUDIT code execution in setuid binaries. Fixed in glibc 2.12.2.</a:t>
            </a:r>
          </a:p>
        </p:txBody>
      </p:sp>
      <p:sp>
        <p:nvSpPr>
          <p:cNvPr id="17" name="Rectangle 16"/>
          <p:cNvSpPr/>
          <p:nvPr/>
        </p:nvSpPr>
        <p:spPr>
          <a:xfrm>
            <a:off x="731520" y="3730752"/>
            <a:ext cx="54864" cy="5943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730752"/>
            <a:ext cx="3200400" cy="274320"/>
          </a:xfrm>
          <a:prstGeom prst="rect">
            <a:avLst/>
          </a:prstGeom>
          <a:noFill/>
        </p:spPr>
        <p:txBody>
          <a:bodyPr wrap="square" anchor="t"/>
          <a:lstStyle/>
          <a:p>
            <a:pPr algn="l">
              <a:defRPr sz="1300" b="1" i="0">
                <a:solidFill>
                  <a:srgbClr val="00D4FF"/>
                </a:solidFill>
              </a:defRPr>
            </a:pPr>
            <a:r>
              <a:t>Forensics: Reading Another Process's auxv</a:t>
            </a:r>
          </a:p>
        </p:txBody>
      </p:sp>
      <p:sp>
        <p:nvSpPr>
          <p:cNvPr id="19" name="TextBox 18"/>
          <p:cNvSpPr txBox="1"/>
          <p:nvPr/>
        </p:nvSpPr>
        <p:spPr>
          <a:xfrm>
            <a:off x="914400" y="3986784"/>
            <a:ext cx="10058400" cy="365760"/>
          </a:xfrm>
          <a:prstGeom prst="rect">
            <a:avLst/>
          </a:prstGeom>
          <a:noFill/>
        </p:spPr>
        <p:txBody>
          <a:bodyPr wrap="square" anchor="t"/>
          <a:lstStyle/>
          <a:p>
            <a:pPr algn="l">
              <a:defRPr sz="1100" b="0" i="0">
                <a:solidFill>
                  <a:srgbClr val="CCCCCC"/>
                </a:solidFill>
              </a:defRPr>
            </a:pPr>
            <a:r>
              <a:t>/proc/PID/auxv exposes the auxiliary vector — reveals vDSO address, program headers, AT_RANDOM seed location. Readable by same-user processes.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6</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The Dynamic Linker</a:t>
            </a:r>
            <a:br/>
            <a:r>
              <a:t>(ld-linux.so)</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The most privileged userspace component in an ELF process's early life</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Dynamic Linker Boot Sequence — _dl_start → _dl_main</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03800" y="1254760"/>
            <a:ext cx="2794000" cy="599440"/>
          </a:xfrm>
          <a:prstGeom prst="roundRect">
            <a:avLst/>
          </a:prstGeom>
          <a:noFill/>
          <a:ln w="317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6" name="Rounded Rectangle 5"/>
          <p:cNvSpPr/>
          <p:nvPr/>
        </p:nvSpPr>
        <p:spPr>
          <a:xfrm>
            <a:off x="5029200" y="1280160"/>
            <a:ext cx="2743200" cy="54864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r>
              <a:t>_start (ld.so entry point)</a:t>
            </a:r>
          </a:p>
        </p:txBody>
      </p:sp>
      <p:sp>
        <p:nvSpPr>
          <p:cNvPr id="7" name="Down Arrow 6"/>
          <p:cNvSpPr/>
          <p:nvPr/>
        </p:nvSpPr>
        <p:spPr>
          <a:xfrm>
            <a:off x="6286500" y="1866900"/>
            <a:ext cx="228600" cy="243840"/>
          </a:xfrm>
          <a:prstGeom prst="downArrow">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3800" y="2123440"/>
            <a:ext cx="2794000" cy="599440"/>
          </a:xfrm>
          <a:prstGeom prst="roundRect">
            <a:avLst/>
          </a:prstGeom>
          <a:noFill/>
          <a:ln w="317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Rounded Rectangle 8"/>
          <p:cNvSpPr/>
          <p:nvPr/>
        </p:nvSpPr>
        <p:spPr>
          <a:xfrm>
            <a:off x="5029200" y="2148840"/>
            <a:ext cx="2743200" cy="548640"/>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r>
              <a:t>Self-relocate via R_X86_64_RELATIVE</a:t>
            </a:r>
            <a:br/>
            <a:r>
              <a:t>(bootstrap: PC-relative, no GOT/PLT)</a:t>
            </a:r>
          </a:p>
        </p:txBody>
      </p:sp>
      <p:sp>
        <p:nvSpPr>
          <p:cNvPr id="10" name="Down Arrow 9"/>
          <p:cNvSpPr/>
          <p:nvPr/>
        </p:nvSpPr>
        <p:spPr>
          <a:xfrm>
            <a:off x="6286500" y="2735580"/>
            <a:ext cx="228600" cy="243840"/>
          </a:xfrm>
          <a:prstGeom prst="downArrow">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03800" y="2992120"/>
            <a:ext cx="2794000" cy="599440"/>
          </a:xfrm>
          <a:prstGeom prst="roundRect">
            <a:avLst/>
          </a:prstGeom>
          <a:noFill/>
          <a:ln w="317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2" name="Rounded Rectangle 11"/>
          <p:cNvSpPr/>
          <p:nvPr/>
        </p:nvSpPr>
        <p:spPr>
          <a:xfrm>
            <a:off x="5029200" y="3017520"/>
            <a:ext cx="2743200" cy="54864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r>
              <a:t>Find program's PT_DYNAMIC</a:t>
            </a:r>
            <a:br/>
            <a:r>
              <a:t>via AT_PHDR from auxv</a:t>
            </a:r>
          </a:p>
        </p:txBody>
      </p:sp>
      <p:sp>
        <p:nvSpPr>
          <p:cNvPr id="13" name="Down Arrow 12"/>
          <p:cNvSpPr/>
          <p:nvPr/>
        </p:nvSpPr>
        <p:spPr>
          <a:xfrm>
            <a:off x="6286500" y="3604260"/>
            <a:ext cx="228600" cy="243840"/>
          </a:xfrm>
          <a:prstGeom prst="down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03800" y="3860800"/>
            <a:ext cx="2794000" cy="599440"/>
          </a:xfrm>
          <a:prstGeom prst="roundRect">
            <a:avLst/>
          </a:prstGeom>
          <a:noFill/>
          <a:ln w="317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5" name="Rounded Rectangle 14"/>
          <p:cNvSpPr/>
          <p:nvPr/>
        </p:nvSpPr>
        <p:spPr>
          <a:xfrm>
            <a:off x="5029200" y="3886200"/>
            <a:ext cx="2743200" cy="54864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r>
              <a:t>Walk DT_NEEDED entries</a:t>
            </a:r>
            <a:br/>
            <a:r>
              <a:t>Open each library via search path</a:t>
            </a:r>
          </a:p>
        </p:txBody>
      </p:sp>
      <p:sp>
        <p:nvSpPr>
          <p:cNvPr id="16" name="Down Arrow 15"/>
          <p:cNvSpPr/>
          <p:nvPr/>
        </p:nvSpPr>
        <p:spPr>
          <a:xfrm>
            <a:off x="6286500" y="4472940"/>
            <a:ext cx="228600" cy="243840"/>
          </a:xfrm>
          <a:prstGeom prst="downArrow">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03800" y="4729480"/>
            <a:ext cx="2794000" cy="599440"/>
          </a:xfrm>
          <a:prstGeom prst="roundRect">
            <a:avLst/>
          </a:prstGeom>
          <a:noFill/>
          <a:ln w="317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8" name="Rounded Rectangle 17"/>
          <p:cNvSpPr/>
          <p:nvPr/>
        </p:nvSpPr>
        <p:spPr>
          <a:xfrm>
            <a:off x="5029200" y="4754880"/>
            <a:ext cx="2743200" cy="548640"/>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r>
              <a:t>mmap each DSO's PT_LOAD segments</a:t>
            </a:r>
            <a:br/>
            <a:r>
              <a:t>at random base addresses</a:t>
            </a:r>
          </a:p>
        </p:txBody>
      </p:sp>
      <p:sp>
        <p:nvSpPr>
          <p:cNvPr id="19" name="Down Arrow 18"/>
          <p:cNvSpPr/>
          <p:nvPr/>
        </p:nvSpPr>
        <p:spPr>
          <a:xfrm>
            <a:off x="6286500" y="5341620"/>
            <a:ext cx="228600" cy="243840"/>
          </a:xfrm>
          <a:prstGeom prst="downArrow">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03800" y="5598160"/>
            <a:ext cx="2794000" cy="599440"/>
          </a:xfrm>
          <a:prstGeom prst="roundRect">
            <a:avLst/>
          </a:prstGeom>
          <a:noFill/>
          <a:ln w="317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1" name="Rounded Rectangle 20"/>
          <p:cNvSpPr/>
          <p:nvPr/>
        </p:nvSpPr>
        <p:spPr>
          <a:xfrm>
            <a:off x="5029200" y="5623560"/>
            <a:ext cx="2743200" cy="548640"/>
          </a:xfrm>
          <a:prstGeom prst="roundRect">
            <a:avLst/>
          </a:prstGeom>
          <a:solidFill>
            <a:srgbClr val="1C1C34"/>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r>
              <a:t>Resolve relocations across all objects</a:t>
            </a:r>
            <a:br/>
            <a:r>
              <a:t>(.rela.dyn eager, .rela.plt lazy/eager)</a:t>
            </a:r>
          </a:p>
        </p:txBody>
      </p:sp>
      <p:sp>
        <p:nvSpPr>
          <p:cNvPr id="22" name="Down Arrow 21"/>
          <p:cNvSpPr/>
          <p:nvPr/>
        </p:nvSpPr>
        <p:spPr>
          <a:xfrm>
            <a:off x="6286500" y="6210300"/>
            <a:ext cx="228600" cy="243840"/>
          </a:xfrm>
          <a:prstGeom prst="downArrow">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03800" y="6466840"/>
            <a:ext cx="2794000" cy="599440"/>
          </a:xfrm>
          <a:prstGeom prst="roundRect">
            <a:avLst/>
          </a:prstGeom>
          <a:noFill/>
          <a:ln w="317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4" name="Rounded Rectangle 23"/>
          <p:cNvSpPr/>
          <p:nvPr/>
        </p:nvSpPr>
        <p:spPr>
          <a:xfrm>
            <a:off x="5029200" y="6492240"/>
            <a:ext cx="2743200" cy="548640"/>
          </a:xfrm>
          <a:prstGeom prst="roundRect">
            <a:avLst/>
          </a:prstGeom>
          <a:solidFill>
            <a:srgbClr val="1C1C34"/>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r>
              <a:t>mprotect RELRO regions read-only</a:t>
            </a:r>
            <a:br/>
            <a:r>
              <a:t>(_dl_protect_relro)</a:t>
            </a:r>
          </a:p>
        </p:txBody>
      </p:sp>
      <p:sp>
        <p:nvSpPr>
          <p:cNvPr id="25" name="Down Arrow 24"/>
          <p:cNvSpPr/>
          <p:nvPr/>
        </p:nvSpPr>
        <p:spPr>
          <a:xfrm>
            <a:off x="6286500" y="7078980"/>
            <a:ext cx="228600" cy="243840"/>
          </a:xfrm>
          <a:prstGeom prst="downArrow">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003800" y="7335520"/>
            <a:ext cx="2794000" cy="599440"/>
          </a:xfrm>
          <a:prstGeom prst="roundRect">
            <a:avLst/>
          </a:prstGeom>
          <a:noFill/>
          <a:ln w="31750">
            <a:solidFill>
              <a:srgbClr val="FF008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7" name="Rounded Rectangle 26"/>
          <p:cNvSpPr/>
          <p:nvPr/>
        </p:nvSpPr>
        <p:spPr>
          <a:xfrm>
            <a:off x="5029200" y="7360920"/>
            <a:ext cx="2743200" cy="548640"/>
          </a:xfrm>
          <a:prstGeom prst="roundRect">
            <a:avLst/>
          </a:prstGeom>
          <a:solidFill>
            <a:srgbClr val="1C1C34"/>
          </a:solidFill>
          <a:ln w="12700">
            <a:solidFill>
              <a:srgbClr val="FF008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r>
              <a:t>Run constructors in dependency order</a:t>
            </a:r>
            <a:br/>
            <a:r>
              <a:t>pre-init → init → init_array</a:t>
            </a:r>
          </a:p>
        </p:txBody>
      </p:sp>
      <p:sp>
        <p:nvSpPr>
          <p:cNvPr id="28" name="Down Arrow 27"/>
          <p:cNvSpPr/>
          <p:nvPr/>
        </p:nvSpPr>
        <p:spPr>
          <a:xfrm>
            <a:off x="6286500" y="7947660"/>
            <a:ext cx="228600" cy="243840"/>
          </a:xfrm>
          <a:prstGeom prst="downArrow">
            <a:avLst/>
          </a:prstGeom>
          <a:solidFill>
            <a:srgbClr val="FF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003800" y="8204200"/>
            <a:ext cx="2794000" cy="599440"/>
          </a:xfrm>
          <a:prstGeom prst="roundRect">
            <a:avLst/>
          </a:prstGeom>
          <a:noFill/>
          <a:ln w="317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0" name="Rounded Rectangle 29"/>
          <p:cNvSpPr/>
          <p:nvPr/>
        </p:nvSpPr>
        <p:spPr>
          <a:xfrm>
            <a:off x="5029200" y="8229600"/>
            <a:ext cx="2743200" cy="54864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r>
              <a:t>Transfer to program e_entry</a:t>
            </a:r>
            <a:br/>
            <a:r>
              <a:t>_start → __libc_start_main → main()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Library Search Path — DT_NEEDED Resolution Order</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For each DT_NEEDED library, ld.so searches in this order:</a:t>
            </a:r>
          </a:p>
        </p:txBody>
      </p:sp>
      <p:sp>
        <p:nvSpPr>
          <p:cNvPr id="6" name="Rectangle 5"/>
          <p:cNvSpPr/>
          <p:nvPr/>
        </p:nvSpPr>
        <p:spPr>
          <a:xfrm>
            <a:off x="731520" y="1371600"/>
            <a:ext cx="54864" cy="5943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3200400" cy="274320"/>
          </a:xfrm>
          <a:prstGeom prst="rect">
            <a:avLst/>
          </a:prstGeom>
          <a:noFill/>
        </p:spPr>
        <p:txBody>
          <a:bodyPr wrap="square" anchor="t"/>
          <a:lstStyle/>
          <a:p>
            <a:pPr algn="l">
              <a:defRPr sz="1300" b="1" i="0">
                <a:solidFill>
                  <a:srgbClr val="00D4FF"/>
                </a:solidFill>
              </a:defRPr>
            </a:pPr>
            <a:r>
              <a:t>1. DT_RPATH (if DT_RUNPATH absent)</a:t>
            </a:r>
          </a:p>
        </p:txBody>
      </p:sp>
      <p:sp>
        <p:nvSpPr>
          <p:cNvPr id="8" name="TextBox 7"/>
          <p:cNvSpPr txBox="1"/>
          <p:nvPr/>
        </p:nvSpPr>
        <p:spPr>
          <a:xfrm>
            <a:off x="914400" y="1627632"/>
            <a:ext cx="10058400" cy="365760"/>
          </a:xfrm>
          <a:prstGeom prst="rect">
            <a:avLst/>
          </a:prstGeom>
          <a:noFill/>
        </p:spPr>
        <p:txBody>
          <a:bodyPr wrap="square" anchor="t"/>
          <a:lstStyle/>
          <a:p>
            <a:pPr algn="l">
              <a:defRPr sz="1100" b="0" i="0">
                <a:solidFill>
                  <a:srgbClr val="CCCCCC"/>
                </a:solidFill>
              </a:defRPr>
            </a:pPr>
            <a:r>
              <a:t>Embedded in binary. Legacy. Searched before LD_LIBRARY_PATH. Dangerous if pointing to world-writable directory.</a:t>
            </a:r>
          </a:p>
        </p:txBody>
      </p:sp>
      <p:sp>
        <p:nvSpPr>
          <p:cNvPr id="9" name="Rectangle 8"/>
          <p:cNvSpPr/>
          <p:nvPr/>
        </p:nvSpPr>
        <p:spPr>
          <a:xfrm>
            <a:off x="731520" y="2029968"/>
            <a:ext cx="54864" cy="59436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29968"/>
            <a:ext cx="3200400" cy="274320"/>
          </a:xfrm>
          <a:prstGeom prst="rect">
            <a:avLst/>
          </a:prstGeom>
          <a:noFill/>
        </p:spPr>
        <p:txBody>
          <a:bodyPr wrap="square" anchor="t"/>
          <a:lstStyle/>
          <a:p>
            <a:pPr algn="l">
              <a:defRPr sz="1300" b="1" i="0">
                <a:solidFill>
                  <a:srgbClr val="00FF88"/>
                </a:solidFill>
              </a:defRPr>
            </a:pPr>
            <a:r>
              <a:t>2. LD_LIBRARY_PATH</a:t>
            </a:r>
          </a:p>
        </p:txBody>
      </p:sp>
      <p:sp>
        <p:nvSpPr>
          <p:cNvPr id="11" name="TextBox 10"/>
          <p:cNvSpPr txBox="1"/>
          <p:nvPr/>
        </p:nvSpPr>
        <p:spPr>
          <a:xfrm>
            <a:off x="914400" y="2286000"/>
            <a:ext cx="10058400" cy="365760"/>
          </a:xfrm>
          <a:prstGeom prst="rect">
            <a:avLst/>
          </a:prstGeom>
          <a:noFill/>
        </p:spPr>
        <p:txBody>
          <a:bodyPr wrap="square" anchor="t"/>
          <a:lstStyle/>
          <a:p>
            <a:pPr algn="l">
              <a:defRPr sz="1100" b="0" i="0">
                <a:solidFill>
                  <a:srgbClr val="CCCCCC"/>
                </a:solidFill>
              </a:defRPr>
            </a:pPr>
            <a:r>
              <a:t>Environment variable. Prepends to search path. IGNORED when AT_SECURE=1 (setuid/setgid/fscaps binaries).</a:t>
            </a:r>
          </a:p>
        </p:txBody>
      </p:sp>
      <p:sp>
        <p:nvSpPr>
          <p:cNvPr id="12" name="Rectangle 11"/>
          <p:cNvSpPr/>
          <p:nvPr/>
        </p:nvSpPr>
        <p:spPr>
          <a:xfrm>
            <a:off x="731520" y="2688336"/>
            <a:ext cx="54864" cy="5943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688336"/>
            <a:ext cx="3200400" cy="274320"/>
          </a:xfrm>
          <a:prstGeom prst="rect">
            <a:avLst/>
          </a:prstGeom>
          <a:noFill/>
        </p:spPr>
        <p:txBody>
          <a:bodyPr wrap="square" anchor="t"/>
          <a:lstStyle/>
          <a:p>
            <a:pPr algn="l">
              <a:defRPr sz="1300" b="1" i="0">
                <a:solidFill>
                  <a:srgbClr val="FFD700"/>
                </a:solidFill>
              </a:defRPr>
            </a:pPr>
            <a:r>
              <a:t>3. DT_RUNPATH</a:t>
            </a:r>
          </a:p>
        </p:txBody>
      </p:sp>
      <p:sp>
        <p:nvSpPr>
          <p:cNvPr id="14" name="TextBox 13"/>
          <p:cNvSpPr txBox="1"/>
          <p:nvPr/>
        </p:nvSpPr>
        <p:spPr>
          <a:xfrm>
            <a:off x="914400" y="2944368"/>
            <a:ext cx="10058400" cy="365760"/>
          </a:xfrm>
          <a:prstGeom prst="rect">
            <a:avLst/>
          </a:prstGeom>
          <a:noFill/>
        </p:spPr>
        <p:txBody>
          <a:bodyPr wrap="square" anchor="t"/>
          <a:lstStyle/>
          <a:p>
            <a:pPr algn="l">
              <a:defRPr sz="1100" b="0" i="0">
                <a:solidFill>
                  <a:srgbClr val="CCCCCC"/>
                </a:solidFill>
              </a:defRPr>
            </a:pPr>
            <a:r>
              <a:t>Modern replacement for DT_RPATH. Embedded in binary. Searched AFTER LD_LIBRARY_PATH.</a:t>
            </a:r>
          </a:p>
        </p:txBody>
      </p:sp>
      <p:sp>
        <p:nvSpPr>
          <p:cNvPr id="15" name="Rectangle 14"/>
          <p:cNvSpPr/>
          <p:nvPr/>
        </p:nvSpPr>
        <p:spPr>
          <a:xfrm>
            <a:off x="731520" y="3346704"/>
            <a:ext cx="54864" cy="59436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346704"/>
            <a:ext cx="3200400" cy="274320"/>
          </a:xfrm>
          <a:prstGeom prst="rect">
            <a:avLst/>
          </a:prstGeom>
          <a:noFill/>
        </p:spPr>
        <p:txBody>
          <a:bodyPr wrap="square" anchor="t"/>
          <a:lstStyle/>
          <a:p>
            <a:pPr algn="l">
              <a:defRPr sz="1300" b="1" i="0">
                <a:solidFill>
                  <a:srgbClr val="FF4444"/>
                </a:solidFill>
              </a:defRPr>
            </a:pPr>
            <a:r>
              <a:t>4. /etc/ld.so.cache</a:t>
            </a:r>
          </a:p>
        </p:txBody>
      </p:sp>
      <p:sp>
        <p:nvSpPr>
          <p:cNvPr id="17" name="TextBox 16"/>
          <p:cNvSpPr txBox="1"/>
          <p:nvPr/>
        </p:nvSpPr>
        <p:spPr>
          <a:xfrm>
            <a:off x="914400" y="3602736"/>
            <a:ext cx="10058400" cy="365760"/>
          </a:xfrm>
          <a:prstGeom prst="rect">
            <a:avLst/>
          </a:prstGeom>
          <a:noFill/>
        </p:spPr>
        <p:txBody>
          <a:bodyPr wrap="square" anchor="t"/>
          <a:lstStyle/>
          <a:p>
            <a:pPr algn="l">
              <a:defRPr sz="1100" b="0" i="0">
                <a:solidFill>
                  <a:srgbClr val="CCCCCC"/>
                </a:solidFill>
              </a:defRPr>
            </a:pPr>
            <a:r>
              <a:t>Precomputed cache from ldconfig. Maps library names to paths. Updated by 'ldconfig' scanning /etc/ld.so.conf.d/*.conf.</a:t>
            </a:r>
          </a:p>
        </p:txBody>
      </p:sp>
      <p:sp>
        <p:nvSpPr>
          <p:cNvPr id="18" name="Rectangle 17"/>
          <p:cNvSpPr/>
          <p:nvPr/>
        </p:nvSpPr>
        <p:spPr>
          <a:xfrm>
            <a:off x="731520" y="4005072"/>
            <a:ext cx="54864" cy="59436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05072"/>
            <a:ext cx="3200400" cy="274320"/>
          </a:xfrm>
          <a:prstGeom prst="rect">
            <a:avLst/>
          </a:prstGeom>
          <a:noFill/>
        </p:spPr>
        <p:txBody>
          <a:bodyPr wrap="square" anchor="t"/>
          <a:lstStyle/>
          <a:p>
            <a:pPr algn="l">
              <a:defRPr sz="1300" b="1" i="0">
                <a:solidFill>
                  <a:srgbClr val="BB86FC"/>
                </a:solidFill>
              </a:defRPr>
            </a:pPr>
            <a:r>
              <a:t>5. Default: /lib, /usr/lib (/lib64, /usr/lib64)</a:t>
            </a:r>
          </a:p>
        </p:txBody>
      </p:sp>
      <p:sp>
        <p:nvSpPr>
          <p:cNvPr id="20" name="TextBox 19"/>
          <p:cNvSpPr txBox="1"/>
          <p:nvPr/>
        </p:nvSpPr>
        <p:spPr>
          <a:xfrm>
            <a:off x="914400" y="4261104"/>
            <a:ext cx="10058400" cy="365760"/>
          </a:xfrm>
          <a:prstGeom prst="rect">
            <a:avLst/>
          </a:prstGeom>
          <a:noFill/>
        </p:spPr>
        <p:txBody>
          <a:bodyPr wrap="square" anchor="t"/>
          <a:lstStyle/>
          <a:p>
            <a:pPr algn="l">
              <a:defRPr sz="1100" b="0" i="0">
                <a:solidFill>
                  <a:srgbClr val="CCCCCC"/>
                </a:solidFill>
              </a:defRPr>
            </a:pPr>
            <a:r>
              <a:t>Fallback paths. Hardcoded in ld.so. Last resort.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Dynamic Linker Environment Variables</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Most variables are ignored when AT_SECURE=1 (setuid/setgid binaries)</a:t>
            </a:r>
          </a:p>
        </p:txBody>
      </p:sp>
      <p:sp>
        <p:nvSpPr>
          <p:cNvPr id="6" name="Rounded Rectangle 5"/>
          <p:cNvSpPr/>
          <p:nvPr/>
        </p:nvSpPr>
        <p:spPr>
          <a:xfrm>
            <a:off x="731520" y="1371600"/>
            <a:ext cx="2649220" cy="384048"/>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D4FF"/>
                </a:solidFill>
              </a:defRPr>
            </a:pPr>
            <a:r>
              <a:t>Variable</a:t>
            </a:r>
          </a:p>
        </p:txBody>
      </p:sp>
      <p:sp>
        <p:nvSpPr>
          <p:cNvPr id="7" name="Rounded Rectangle 6"/>
          <p:cNvSpPr/>
          <p:nvPr/>
        </p:nvSpPr>
        <p:spPr>
          <a:xfrm>
            <a:off x="3406140" y="1371600"/>
            <a:ext cx="2649220" cy="384048"/>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FF88"/>
                </a:solidFill>
              </a:defRPr>
            </a:pPr>
            <a:r>
              <a:t>Function</a:t>
            </a:r>
          </a:p>
        </p:txBody>
      </p:sp>
      <p:sp>
        <p:nvSpPr>
          <p:cNvPr id="8" name="Rounded Rectangle 7"/>
          <p:cNvSpPr/>
          <p:nvPr/>
        </p:nvSpPr>
        <p:spPr>
          <a:xfrm>
            <a:off x="6080760" y="1371600"/>
            <a:ext cx="2649220" cy="384048"/>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D700"/>
                </a:solidFill>
              </a:defRPr>
            </a:pPr>
            <a:r>
              <a:t>AT_SECURE</a:t>
            </a:r>
          </a:p>
        </p:txBody>
      </p:sp>
      <p:sp>
        <p:nvSpPr>
          <p:cNvPr id="9" name="Rounded Rectangle 8"/>
          <p:cNvSpPr/>
          <p:nvPr/>
        </p:nvSpPr>
        <p:spPr>
          <a:xfrm>
            <a:off x="8755380" y="1371600"/>
            <a:ext cx="2649220" cy="384048"/>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4444"/>
                </a:solidFill>
              </a:defRPr>
            </a:pPr>
            <a:r>
              <a:t>Security Note</a:t>
            </a:r>
          </a:p>
        </p:txBody>
      </p:sp>
      <p:sp>
        <p:nvSpPr>
          <p:cNvPr id="10" name="Rounded Rectangle 9"/>
          <p:cNvSpPr/>
          <p:nvPr/>
        </p:nvSpPr>
        <p:spPr>
          <a:xfrm>
            <a:off x="73152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LD_PRELOAD</a:t>
            </a:r>
          </a:p>
        </p:txBody>
      </p:sp>
      <p:sp>
        <p:nvSpPr>
          <p:cNvPr id="11" name="Rounded Rectangle 10"/>
          <p:cNvSpPr/>
          <p:nvPr/>
        </p:nvSpPr>
        <p:spPr>
          <a:xfrm>
            <a:off x="340614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Inject libraries before DT_NEEDED</a:t>
            </a:r>
          </a:p>
        </p:txBody>
      </p:sp>
      <p:sp>
        <p:nvSpPr>
          <p:cNvPr id="12" name="Rounded Rectangle 11"/>
          <p:cNvSpPr/>
          <p:nvPr/>
        </p:nvSpPr>
        <p:spPr>
          <a:xfrm>
            <a:off x="608076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Ignored</a:t>
            </a:r>
          </a:p>
        </p:txBody>
      </p:sp>
      <p:sp>
        <p:nvSpPr>
          <p:cNvPr id="13" name="Rounded Rectangle 12"/>
          <p:cNvSpPr/>
          <p:nvPr/>
        </p:nvSpPr>
        <p:spPr>
          <a:xfrm>
            <a:off x="875538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Primary hooking vector</a:t>
            </a:r>
          </a:p>
        </p:txBody>
      </p:sp>
      <p:sp>
        <p:nvSpPr>
          <p:cNvPr id="14" name="Rounded Rectangle 13"/>
          <p:cNvSpPr/>
          <p:nvPr/>
        </p:nvSpPr>
        <p:spPr>
          <a:xfrm>
            <a:off x="73152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LD_LIBRARY_PATH</a:t>
            </a:r>
          </a:p>
        </p:txBody>
      </p:sp>
      <p:sp>
        <p:nvSpPr>
          <p:cNvPr id="15" name="Rounded Rectangle 14"/>
          <p:cNvSpPr/>
          <p:nvPr/>
        </p:nvSpPr>
        <p:spPr>
          <a:xfrm>
            <a:off x="340614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Prepend search directories</a:t>
            </a:r>
          </a:p>
        </p:txBody>
      </p:sp>
      <p:sp>
        <p:nvSpPr>
          <p:cNvPr id="16" name="Rounded Rectangle 15"/>
          <p:cNvSpPr/>
          <p:nvPr/>
        </p:nvSpPr>
        <p:spPr>
          <a:xfrm>
            <a:off x="608076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Ignored</a:t>
            </a:r>
          </a:p>
        </p:txBody>
      </p:sp>
      <p:sp>
        <p:nvSpPr>
          <p:cNvPr id="17" name="Rounded Rectangle 16"/>
          <p:cNvSpPr/>
          <p:nvPr/>
        </p:nvSpPr>
        <p:spPr>
          <a:xfrm>
            <a:off x="875538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Library replacement attacks</a:t>
            </a:r>
          </a:p>
        </p:txBody>
      </p:sp>
      <p:sp>
        <p:nvSpPr>
          <p:cNvPr id="18" name="Rounded Rectangle 17"/>
          <p:cNvSpPr/>
          <p:nvPr/>
        </p:nvSpPr>
        <p:spPr>
          <a:xfrm>
            <a:off x="73152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LD_AUDIT</a:t>
            </a:r>
          </a:p>
        </p:txBody>
      </p:sp>
      <p:sp>
        <p:nvSpPr>
          <p:cNvPr id="19" name="Rounded Rectangle 18"/>
          <p:cNvSpPr/>
          <p:nvPr/>
        </p:nvSpPr>
        <p:spPr>
          <a:xfrm>
            <a:off x="340614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Load auditor callbacks</a:t>
            </a:r>
          </a:p>
        </p:txBody>
      </p:sp>
      <p:sp>
        <p:nvSpPr>
          <p:cNvPr id="20" name="Rounded Rectangle 19"/>
          <p:cNvSpPr/>
          <p:nvPr/>
        </p:nvSpPr>
        <p:spPr>
          <a:xfrm>
            <a:off x="608076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Ignored</a:t>
            </a:r>
          </a:p>
        </p:txBody>
      </p:sp>
      <p:sp>
        <p:nvSpPr>
          <p:cNvPr id="21" name="Rounded Rectangle 20"/>
          <p:cNvSpPr/>
          <p:nvPr/>
        </p:nvSpPr>
        <p:spPr>
          <a:xfrm>
            <a:off x="875538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Symbol-level interception</a:t>
            </a:r>
          </a:p>
        </p:txBody>
      </p:sp>
      <p:sp>
        <p:nvSpPr>
          <p:cNvPr id="22" name="Rounded Rectangle 21"/>
          <p:cNvSpPr/>
          <p:nvPr/>
        </p:nvSpPr>
        <p:spPr>
          <a:xfrm>
            <a:off x="73152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LD_DEBUG=all</a:t>
            </a:r>
          </a:p>
        </p:txBody>
      </p:sp>
      <p:sp>
        <p:nvSpPr>
          <p:cNvPr id="23" name="Rounded Rectangle 22"/>
          <p:cNvSpPr/>
          <p:nvPr/>
        </p:nvSpPr>
        <p:spPr>
          <a:xfrm>
            <a:off x="340614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Print diagnostic output</a:t>
            </a:r>
          </a:p>
        </p:txBody>
      </p:sp>
      <p:sp>
        <p:nvSpPr>
          <p:cNvPr id="24" name="Rounded Rectangle 23"/>
          <p:cNvSpPr/>
          <p:nvPr/>
        </p:nvSpPr>
        <p:spPr>
          <a:xfrm>
            <a:off x="608076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Ignored</a:t>
            </a:r>
          </a:p>
        </p:txBody>
      </p:sp>
      <p:sp>
        <p:nvSpPr>
          <p:cNvPr id="25" name="Rounded Rectangle 24"/>
          <p:cNvSpPr/>
          <p:nvPr/>
        </p:nvSpPr>
        <p:spPr>
          <a:xfrm>
            <a:off x="875538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Invaluable for debugging</a:t>
            </a:r>
          </a:p>
        </p:txBody>
      </p:sp>
      <p:sp>
        <p:nvSpPr>
          <p:cNvPr id="26" name="Rounded Rectangle 25"/>
          <p:cNvSpPr/>
          <p:nvPr/>
        </p:nvSpPr>
        <p:spPr>
          <a:xfrm>
            <a:off x="731520" y="328523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LD_BIND_NOW=1</a:t>
            </a:r>
          </a:p>
        </p:txBody>
      </p:sp>
      <p:sp>
        <p:nvSpPr>
          <p:cNvPr id="27" name="Rounded Rectangle 26"/>
          <p:cNvSpPr/>
          <p:nvPr/>
        </p:nvSpPr>
        <p:spPr>
          <a:xfrm>
            <a:off x="3406140" y="328523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Disable lazy binding</a:t>
            </a:r>
          </a:p>
        </p:txBody>
      </p:sp>
      <p:sp>
        <p:nvSpPr>
          <p:cNvPr id="28" name="Rounded Rectangle 27"/>
          <p:cNvSpPr/>
          <p:nvPr/>
        </p:nvSpPr>
        <p:spPr>
          <a:xfrm>
            <a:off x="6080760" y="328523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Honored</a:t>
            </a:r>
          </a:p>
        </p:txBody>
      </p:sp>
      <p:sp>
        <p:nvSpPr>
          <p:cNvPr id="29" name="Rounded Rectangle 28"/>
          <p:cNvSpPr/>
          <p:nvPr/>
        </p:nvSpPr>
        <p:spPr>
          <a:xfrm>
            <a:off x="8755380" y="328523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Same as -z now (RELRO)</a:t>
            </a:r>
          </a:p>
        </p:txBody>
      </p:sp>
      <p:sp>
        <p:nvSpPr>
          <p:cNvPr id="30" name="Rounded Rectangle 29"/>
          <p:cNvSpPr/>
          <p:nvPr/>
        </p:nvSpPr>
        <p:spPr>
          <a:xfrm>
            <a:off x="731520" y="365810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LD_TRACE_LOADED_OBJECTS</a:t>
            </a:r>
          </a:p>
        </p:txBody>
      </p:sp>
      <p:sp>
        <p:nvSpPr>
          <p:cNvPr id="31" name="Rounded Rectangle 30"/>
          <p:cNvSpPr/>
          <p:nvPr/>
        </p:nvSpPr>
        <p:spPr>
          <a:xfrm>
            <a:off x="3406140" y="365810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Print deps and exit (ldd)</a:t>
            </a:r>
          </a:p>
        </p:txBody>
      </p:sp>
      <p:sp>
        <p:nvSpPr>
          <p:cNvPr id="32" name="Rounded Rectangle 31"/>
          <p:cNvSpPr/>
          <p:nvPr/>
        </p:nvSpPr>
        <p:spPr>
          <a:xfrm>
            <a:off x="6080760" y="365810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Honored</a:t>
            </a:r>
          </a:p>
        </p:txBody>
      </p:sp>
      <p:sp>
        <p:nvSpPr>
          <p:cNvPr id="33" name="Rounded Rectangle 32"/>
          <p:cNvSpPr/>
          <p:nvPr/>
        </p:nvSpPr>
        <p:spPr>
          <a:xfrm>
            <a:off x="8755380" y="365810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What ldd(1) sets</a:t>
            </a:r>
          </a:p>
        </p:txBody>
      </p:sp>
      <p:sp>
        <p:nvSpPr>
          <p:cNvPr id="34" name="Rounded Rectangle 33"/>
          <p:cNvSpPr/>
          <p:nvPr/>
        </p:nvSpPr>
        <p:spPr>
          <a:xfrm>
            <a:off x="731520" y="403098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LD_SHOW_AUXV=1</a:t>
            </a:r>
          </a:p>
        </p:txBody>
      </p:sp>
      <p:sp>
        <p:nvSpPr>
          <p:cNvPr id="35" name="Rounded Rectangle 34"/>
          <p:cNvSpPr/>
          <p:nvPr/>
        </p:nvSpPr>
        <p:spPr>
          <a:xfrm>
            <a:off x="3406140" y="403098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Print auxiliary vector</a:t>
            </a:r>
          </a:p>
        </p:txBody>
      </p:sp>
      <p:sp>
        <p:nvSpPr>
          <p:cNvPr id="36" name="Rounded Rectangle 35"/>
          <p:cNvSpPr/>
          <p:nvPr/>
        </p:nvSpPr>
        <p:spPr>
          <a:xfrm>
            <a:off x="6080760" y="403098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Ignored</a:t>
            </a:r>
          </a:p>
        </p:txBody>
      </p:sp>
      <p:sp>
        <p:nvSpPr>
          <p:cNvPr id="37" name="Rounded Rectangle 36"/>
          <p:cNvSpPr/>
          <p:nvPr/>
        </p:nvSpPr>
        <p:spPr>
          <a:xfrm>
            <a:off x="8755380" y="403098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Debug auxv contents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7</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The .dynamic Section</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Elf64_Dyn array — the dynamic linker's table of contents</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Elf64_Dyn — Dynamic Section Entry</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9601200" y="320040"/>
            <a:ext cx="1828800" cy="274320"/>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D4FF"/>
                </a:solidFill>
              </a:defRPr>
            </a:pPr>
            <a:r>
              <a:t>C (elf.h)</a:t>
            </a:r>
          </a:p>
        </p:txBody>
      </p:sp>
      <p:sp>
        <p:nvSpPr>
          <p:cNvPr id="6" name="Rounded Rectangle 5"/>
          <p:cNvSpPr/>
          <p:nvPr/>
        </p:nvSpPr>
        <p:spPr>
          <a:xfrm>
            <a:off x="548640" y="1097280"/>
            <a:ext cx="10789920" cy="4389120"/>
          </a:xfrm>
          <a:prstGeom prst="roundRect">
            <a:avLst/>
          </a:prstGeom>
          <a:solidFill>
            <a:srgbClr val="14142A"/>
          </a:solidFill>
          <a:ln w="1270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cxnSp>
        <p:nvCxnSpPr>
          <p:cNvPr id="7" name="Connector 6"/>
          <p:cNvCxnSpPr/>
          <p:nvPr/>
        </p:nvCxnSpPr>
        <p:spPr>
          <a:xfrm>
            <a:off x="548640" y="1417320"/>
            <a:ext cx="10789920" cy="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7240" y="1207008"/>
            <a:ext cx="137160" cy="13716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Oval 8"/>
          <p:cNvSpPr/>
          <p:nvPr/>
        </p:nvSpPr>
        <p:spPr>
          <a:xfrm>
            <a:off x="1005840" y="1207008"/>
            <a:ext cx="137160" cy="1371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Oval 9"/>
          <p:cNvSpPr/>
          <p:nvPr/>
        </p:nvSpPr>
        <p:spPr>
          <a:xfrm>
            <a:off x="1234440" y="1207008"/>
            <a:ext cx="137160" cy="13716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777240" y="1508760"/>
            <a:ext cx="10332720" cy="3840480"/>
          </a:xfrm>
          <a:prstGeom prst="rect">
            <a:avLst/>
          </a:prstGeom>
          <a:noFill/>
        </p:spPr>
        <p:txBody>
          <a:bodyPr wrap="square" anchor="t"/>
          <a:lstStyle/>
          <a:p>
            <a:pPr algn="l">
              <a:defRPr sz="1000" b="0" i="0">
                <a:solidFill>
                  <a:srgbClr val="CCCCCC"/>
                </a:solidFill>
                <a:latin typeface="Consolas"/>
              </a:defRPr>
            </a:pPr>
            <a:r>
              <a:t>typedef struct {</a:t>
            </a:r>
            <a:br/>
            <a:r>
              <a:t>    Elf64_Sxword d_tag;         // Tag type (DT_NEEDED, DT_STRTAB, ...)</a:t>
            </a:r>
            <a:br/>
            <a:r>
              <a:t>    union {</a:t>
            </a:r>
            <a:br/>
            <a:r>
              <a:t>        Elf64_Xword d_val;      // Integer value</a:t>
            </a:r>
            <a:br/>
            <a:r>
              <a:t>        Elf64_Addr  d_ptr;      // Virtual address pointer</a:t>
            </a:r>
            <a:br/>
            <a:r>
              <a:t>    } d_un;</a:t>
            </a:r>
            <a:br/>
            <a:r>
              <a:t>} Elf64_Dyn;</a:t>
            </a:r>
            <a:br/>
            <a:br/>
            <a:r>
              <a:t>// The .dynamic section is an array of these entries,</a:t>
            </a:r>
            <a:br/>
            <a:r>
              <a:t>// terminated by DT_NULL (d_tag == 0).</a:t>
            </a:r>
            <a:br/>
            <a:r>
              <a:t>// Every dynamic-linking structure is referenced from here.</a:t>
            </a:r>
          </a:p>
        </p:txBody>
      </p:sp>
      <p:sp>
        <p:nvSpPr>
          <p:cNvPr id="12" name="TextBox 11"/>
          <p:cNvSpPr txBox="1"/>
          <p:nvPr/>
        </p:nvSpPr>
        <p:spPr>
          <a:xfrm>
            <a:off x="731520" y="5623560"/>
            <a:ext cx="10515600" cy="274320"/>
          </a:xfrm>
          <a:prstGeom prst="rect">
            <a:avLst/>
          </a:prstGeom>
          <a:noFill/>
        </p:spPr>
        <p:txBody>
          <a:bodyPr wrap="square" anchor="t"/>
          <a:lstStyle/>
          <a:p>
            <a:pPr algn="l">
              <a:defRPr sz="1000" b="0" i="1">
                <a:solidFill>
                  <a:srgbClr val="999999"/>
                </a:solidFill>
              </a:defRPr>
            </a:pPr>
            <a:r>
              <a:t>→ 16 bytes per entry: 8-byte tag + 8-byte value/pointer</a:t>
            </a:r>
          </a:p>
        </p:txBody>
      </p:sp>
      <p:sp>
        <p:nvSpPr>
          <p:cNvPr id="13" name="TextBox 12"/>
          <p:cNvSpPr txBox="1"/>
          <p:nvPr/>
        </p:nvSpPr>
        <p:spPr>
          <a:xfrm>
            <a:off x="731520" y="5879592"/>
            <a:ext cx="10515600" cy="274320"/>
          </a:xfrm>
          <a:prstGeom prst="rect">
            <a:avLst/>
          </a:prstGeom>
          <a:noFill/>
        </p:spPr>
        <p:txBody>
          <a:bodyPr wrap="square" anchor="t"/>
          <a:lstStyle/>
          <a:p>
            <a:pPr algn="l">
              <a:defRPr sz="1000" b="0" i="1">
                <a:solidFill>
                  <a:srgbClr val="999999"/>
                </a:solidFill>
              </a:defRPr>
            </a:pPr>
            <a:r>
              <a:t>→ .dynamic lives in RELRO region — writable during load, read-only after</a:t>
            </a:r>
          </a:p>
        </p:txBody>
      </p:sp>
      <p:sp>
        <p:nvSpPr>
          <p:cNvPr id="14" name="TextBox 13"/>
          <p:cNvSpPr txBox="1"/>
          <p:nvPr/>
        </p:nvSpPr>
        <p:spPr>
          <a:xfrm>
            <a:off x="731520" y="6135624"/>
            <a:ext cx="10515600" cy="274320"/>
          </a:xfrm>
          <a:prstGeom prst="rect">
            <a:avLst/>
          </a:prstGeom>
          <a:noFill/>
        </p:spPr>
        <p:txBody>
          <a:bodyPr wrap="square" anchor="t"/>
          <a:lstStyle/>
          <a:p>
            <a:pPr algn="l">
              <a:defRPr sz="1000" b="0" i="1">
                <a:solidFill>
                  <a:srgbClr val="999999"/>
                </a:solidFill>
              </a:defRPr>
            </a:pPr>
            <a:r>
              <a:t>→ DT_DEBUG is written by ld.so at load time (points to r_debug → link_map chain)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Key .dynamic Tags — Complete Reference</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097280"/>
            <a:ext cx="3540760" cy="384048"/>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D4FF"/>
                </a:solidFill>
              </a:defRPr>
            </a:pPr>
            <a:r>
              <a:t>Tag</a:t>
            </a:r>
          </a:p>
        </p:txBody>
      </p:sp>
      <p:sp>
        <p:nvSpPr>
          <p:cNvPr id="6" name="Rounded Rectangle 5"/>
          <p:cNvSpPr/>
          <p:nvPr/>
        </p:nvSpPr>
        <p:spPr>
          <a:xfrm>
            <a:off x="4297680" y="1097280"/>
            <a:ext cx="3540760" cy="384048"/>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FF88"/>
                </a:solidFill>
              </a:defRPr>
            </a:pPr>
            <a:r>
              <a:t>d_un</a:t>
            </a:r>
          </a:p>
        </p:txBody>
      </p:sp>
      <p:sp>
        <p:nvSpPr>
          <p:cNvPr id="7" name="Rounded Rectangle 6"/>
          <p:cNvSpPr/>
          <p:nvPr/>
        </p:nvSpPr>
        <p:spPr>
          <a:xfrm>
            <a:off x="7863840" y="1097280"/>
            <a:ext cx="3540760" cy="384048"/>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D700"/>
                </a:solidFill>
              </a:defRPr>
            </a:pPr>
            <a:r>
              <a:t>Purpose</a:t>
            </a:r>
          </a:p>
        </p:txBody>
      </p:sp>
      <p:sp>
        <p:nvSpPr>
          <p:cNvPr id="8" name="Rounded Rectangle 7"/>
          <p:cNvSpPr/>
          <p:nvPr/>
        </p:nvSpPr>
        <p:spPr>
          <a:xfrm>
            <a:off x="731520" y="1519428"/>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DT_NEEDED</a:t>
            </a:r>
          </a:p>
        </p:txBody>
      </p:sp>
      <p:sp>
        <p:nvSpPr>
          <p:cNvPr id="9" name="Rounded Rectangle 8"/>
          <p:cNvSpPr/>
          <p:nvPr/>
        </p:nvSpPr>
        <p:spPr>
          <a:xfrm>
            <a:off x="4297680" y="1519428"/>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d_val → .dynstr offset</a:t>
            </a:r>
          </a:p>
        </p:txBody>
      </p:sp>
      <p:sp>
        <p:nvSpPr>
          <p:cNvPr id="10" name="Rounded Rectangle 9"/>
          <p:cNvSpPr/>
          <p:nvPr/>
        </p:nvSpPr>
        <p:spPr>
          <a:xfrm>
            <a:off x="7863840" y="1519428"/>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Name of required shared library</a:t>
            </a:r>
          </a:p>
        </p:txBody>
      </p:sp>
      <p:sp>
        <p:nvSpPr>
          <p:cNvPr id="11" name="Rounded Rectangle 10"/>
          <p:cNvSpPr/>
          <p:nvPr/>
        </p:nvSpPr>
        <p:spPr>
          <a:xfrm>
            <a:off x="731520" y="1892300"/>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DT_STRTAB / DT_STRSZ</a:t>
            </a:r>
          </a:p>
        </p:txBody>
      </p:sp>
      <p:sp>
        <p:nvSpPr>
          <p:cNvPr id="12" name="Rounded Rectangle 11"/>
          <p:cNvSpPr/>
          <p:nvPr/>
        </p:nvSpPr>
        <p:spPr>
          <a:xfrm>
            <a:off x="4297680" y="1892300"/>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d_ptr / d_val</a:t>
            </a:r>
          </a:p>
        </p:txBody>
      </p:sp>
      <p:sp>
        <p:nvSpPr>
          <p:cNvPr id="13" name="Rounded Rectangle 12"/>
          <p:cNvSpPr/>
          <p:nvPr/>
        </p:nvSpPr>
        <p:spPr>
          <a:xfrm>
            <a:off x="7863840" y="1892300"/>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Address &amp; size of .dynstr</a:t>
            </a:r>
          </a:p>
        </p:txBody>
      </p:sp>
      <p:sp>
        <p:nvSpPr>
          <p:cNvPr id="14" name="Rounded Rectangle 13"/>
          <p:cNvSpPr/>
          <p:nvPr/>
        </p:nvSpPr>
        <p:spPr>
          <a:xfrm>
            <a:off x="731520" y="2265172"/>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DT_SYMTAB / DT_SYMENT</a:t>
            </a:r>
          </a:p>
        </p:txBody>
      </p:sp>
      <p:sp>
        <p:nvSpPr>
          <p:cNvPr id="15" name="Rounded Rectangle 14"/>
          <p:cNvSpPr/>
          <p:nvPr/>
        </p:nvSpPr>
        <p:spPr>
          <a:xfrm>
            <a:off x="4297680" y="2265172"/>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d_ptr / d_val</a:t>
            </a:r>
          </a:p>
        </p:txBody>
      </p:sp>
      <p:sp>
        <p:nvSpPr>
          <p:cNvPr id="16" name="Rounded Rectangle 15"/>
          <p:cNvSpPr/>
          <p:nvPr/>
        </p:nvSpPr>
        <p:spPr>
          <a:xfrm>
            <a:off x="7863840" y="2265172"/>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Address of .dynsym &amp; entry size (24)</a:t>
            </a:r>
          </a:p>
        </p:txBody>
      </p:sp>
      <p:sp>
        <p:nvSpPr>
          <p:cNvPr id="17" name="Rounded Rectangle 16"/>
          <p:cNvSpPr/>
          <p:nvPr/>
        </p:nvSpPr>
        <p:spPr>
          <a:xfrm>
            <a:off x="731520" y="2638044"/>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DT_GNU_HASH</a:t>
            </a:r>
          </a:p>
        </p:txBody>
      </p:sp>
      <p:sp>
        <p:nvSpPr>
          <p:cNvPr id="18" name="Rounded Rectangle 17"/>
          <p:cNvSpPr/>
          <p:nvPr/>
        </p:nvSpPr>
        <p:spPr>
          <a:xfrm>
            <a:off x="4297680" y="2638044"/>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d_ptr</a:t>
            </a:r>
          </a:p>
        </p:txBody>
      </p:sp>
      <p:sp>
        <p:nvSpPr>
          <p:cNvPr id="19" name="Rounded Rectangle 18"/>
          <p:cNvSpPr/>
          <p:nvPr/>
        </p:nvSpPr>
        <p:spPr>
          <a:xfrm>
            <a:off x="7863840" y="2638044"/>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Address of .gnu.hash (fast lookup)</a:t>
            </a:r>
          </a:p>
        </p:txBody>
      </p:sp>
      <p:sp>
        <p:nvSpPr>
          <p:cNvPr id="20" name="Rounded Rectangle 19"/>
          <p:cNvSpPr/>
          <p:nvPr/>
        </p:nvSpPr>
        <p:spPr>
          <a:xfrm>
            <a:off x="731520" y="3010916"/>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DT_HASH</a:t>
            </a:r>
          </a:p>
        </p:txBody>
      </p:sp>
      <p:sp>
        <p:nvSpPr>
          <p:cNvPr id="21" name="Rounded Rectangle 20"/>
          <p:cNvSpPr/>
          <p:nvPr/>
        </p:nvSpPr>
        <p:spPr>
          <a:xfrm>
            <a:off x="4297680" y="3010916"/>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d_ptr</a:t>
            </a:r>
          </a:p>
        </p:txBody>
      </p:sp>
      <p:sp>
        <p:nvSpPr>
          <p:cNvPr id="22" name="Rounded Rectangle 21"/>
          <p:cNvSpPr/>
          <p:nvPr/>
        </p:nvSpPr>
        <p:spPr>
          <a:xfrm>
            <a:off x="7863840" y="3010916"/>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Address of .hash (SysV, legacy)</a:t>
            </a:r>
          </a:p>
        </p:txBody>
      </p:sp>
      <p:sp>
        <p:nvSpPr>
          <p:cNvPr id="23" name="Rounded Rectangle 22"/>
          <p:cNvSpPr/>
          <p:nvPr/>
        </p:nvSpPr>
        <p:spPr>
          <a:xfrm>
            <a:off x="731520" y="3383788"/>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DT_RELA / DT_RELASZ</a:t>
            </a:r>
          </a:p>
        </p:txBody>
      </p:sp>
      <p:sp>
        <p:nvSpPr>
          <p:cNvPr id="24" name="Rounded Rectangle 23"/>
          <p:cNvSpPr/>
          <p:nvPr/>
        </p:nvSpPr>
        <p:spPr>
          <a:xfrm>
            <a:off x="4297680" y="3383788"/>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d_ptr / d_val</a:t>
            </a:r>
          </a:p>
        </p:txBody>
      </p:sp>
      <p:sp>
        <p:nvSpPr>
          <p:cNvPr id="25" name="Rounded Rectangle 24"/>
          <p:cNvSpPr/>
          <p:nvPr/>
        </p:nvSpPr>
        <p:spPr>
          <a:xfrm>
            <a:off x="7863840" y="3383788"/>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Main relocation table (.rela.dyn)</a:t>
            </a:r>
          </a:p>
        </p:txBody>
      </p:sp>
      <p:sp>
        <p:nvSpPr>
          <p:cNvPr id="26" name="Rounded Rectangle 25"/>
          <p:cNvSpPr/>
          <p:nvPr/>
        </p:nvSpPr>
        <p:spPr>
          <a:xfrm>
            <a:off x="731520" y="3756660"/>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DT_JMPREL / DT_PLTRELSZ</a:t>
            </a:r>
          </a:p>
        </p:txBody>
      </p:sp>
      <p:sp>
        <p:nvSpPr>
          <p:cNvPr id="27" name="Rounded Rectangle 26"/>
          <p:cNvSpPr/>
          <p:nvPr/>
        </p:nvSpPr>
        <p:spPr>
          <a:xfrm>
            <a:off x="4297680" y="3756660"/>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d_ptr / d_val</a:t>
            </a:r>
          </a:p>
        </p:txBody>
      </p:sp>
      <p:sp>
        <p:nvSpPr>
          <p:cNvPr id="28" name="Rounded Rectangle 27"/>
          <p:cNvSpPr/>
          <p:nvPr/>
        </p:nvSpPr>
        <p:spPr>
          <a:xfrm>
            <a:off x="7863840" y="3756660"/>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PLT relocations (.rela.plt)</a:t>
            </a:r>
          </a:p>
        </p:txBody>
      </p:sp>
      <p:sp>
        <p:nvSpPr>
          <p:cNvPr id="29" name="Rounded Rectangle 28"/>
          <p:cNvSpPr/>
          <p:nvPr/>
        </p:nvSpPr>
        <p:spPr>
          <a:xfrm>
            <a:off x="731520" y="4129532"/>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DT_PLTGOT</a:t>
            </a:r>
          </a:p>
        </p:txBody>
      </p:sp>
      <p:sp>
        <p:nvSpPr>
          <p:cNvPr id="30" name="Rounded Rectangle 29"/>
          <p:cNvSpPr/>
          <p:nvPr/>
        </p:nvSpPr>
        <p:spPr>
          <a:xfrm>
            <a:off x="4297680" y="4129532"/>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d_ptr</a:t>
            </a:r>
          </a:p>
        </p:txBody>
      </p:sp>
      <p:sp>
        <p:nvSpPr>
          <p:cNvPr id="31" name="Rounded Rectangle 30"/>
          <p:cNvSpPr/>
          <p:nvPr/>
        </p:nvSpPr>
        <p:spPr>
          <a:xfrm>
            <a:off x="7863840" y="4129532"/>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Address of .got.plt</a:t>
            </a:r>
          </a:p>
        </p:txBody>
      </p:sp>
      <p:sp>
        <p:nvSpPr>
          <p:cNvPr id="32" name="Rounded Rectangle 31"/>
          <p:cNvSpPr/>
          <p:nvPr/>
        </p:nvSpPr>
        <p:spPr>
          <a:xfrm>
            <a:off x="731520" y="4502404"/>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DT_INIT_ARRAY / DT_INIT_ARRAYSZ</a:t>
            </a:r>
          </a:p>
        </p:txBody>
      </p:sp>
      <p:sp>
        <p:nvSpPr>
          <p:cNvPr id="33" name="Rounded Rectangle 32"/>
          <p:cNvSpPr/>
          <p:nvPr/>
        </p:nvSpPr>
        <p:spPr>
          <a:xfrm>
            <a:off x="4297680" y="4502404"/>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d_ptr / d_val</a:t>
            </a:r>
          </a:p>
        </p:txBody>
      </p:sp>
      <p:sp>
        <p:nvSpPr>
          <p:cNvPr id="34" name="Rounded Rectangle 33"/>
          <p:cNvSpPr/>
          <p:nvPr/>
        </p:nvSpPr>
        <p:spPr>
          <a:xfrm>
            <a:off x="7863840" y="4502404"/>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Constructor function pointer array</a:t>
            </a:r>
          </a:p>
        </p:txBody>
      </p:sp>
      <p:sp>
        <p:nvSpPr>
          <p:cNvPr id="35" name="Rounded Rectangle 34"/>
          <p:cNvSpPr/>
          <p:nvPr/>
        </p:nvSpPr>
        <p:spPr>
          <a:xfrm>
            <a:off x="731520" y="4875276"/>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DT_FINI_ARRAY / DT_FINI_ARRAYSZ</a:t>
            </a:r>
          </a:p>
        </p:txBody>
      </p:sp>
      <p:sp>
        <p:nvSpPr>
          <p:cNvPr id="36" name="Rounded Rectangle 35"/>
          <p:cNvSpPr/>
          <p:nvPr/>
        </p:nvSpPr>
        <p:spPr>
          <a:xfrm>
            <a:off x="4297680" y="4875276"/>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d_ptr / d_val</a:t>
            </a:r>
          </a:p>
        </p:txBody>
      </p:sp>
      <p:sp>
        <p:nvSpPr>
          <p:cNvPr id="37" name="Rounded Rectangle 36"/>
          <p:cNvSpPr/>
          <p:nvPr/>
        </p:nvSpPr>
        <p:spPr>
          <a:xfrm>
            <a:off x="7863840" y="4875276"/>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Destructor function pointer array</a:t>
            </a:r>
          </a:p>
        </p:txBody>
      </p:sp>
      <p:sp>
        <p:nvSpPr>
          <p:cNvPr id="38" name="Rounded Rectangle 37"/>
          <p:cNvSpPr/>
          <p:nvPr/>
        </p:nvSpPr>
        <p:spPr>
          <a:xfrm>
            <a:off x="731520" y="5248148"/>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DT_FLAGS / DT_FLAGS_1</a:t>
            </a:r>
          </a:p>
        </p:txBody>
      </p:sp>
      <p:sp>
        <p:nvSpPr>
          <p:cNvPr id="39" name="Rounded Rectangle 38"/>
          <p:cNvSpPr/>
          <p:nvPr/>
        </p:nvSpPr>
        <p:spPr>
          <a:xfrm>
            <a:off x="4297680" y="5248148"/>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d_val</a:t>
            </a:r>
          </a:p>
        </p:txBody>
      </p:sp>
      <p:sp>
        <p:nvSpPr>
          <p:cNvPr id="40" name="Rounded Rectangle 39"/>
          <p:cNvSpPr/>
          <p:nvPr/>
        </p:nvSpPr>
        <p:spPr>
          <a:xfrm>
            <a:off x="7863840" y="5248148"/>
            <a:ext cx="354076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DF_BIND_NOW, DF_TEXTREL, DF_1_PIE, etc.</a:t>
            </a:r>
          </a:p>
        </p:txBody>
      </p:sp>
      <p:sp>
        <p:nvSpPr>
          <p:cNvPr id="41" name="Rounded Rectangle 40"/>
          <p:cNvSpPr/>
          <p:nvPr/>
        </p:nvSpPr>
        <p:spPr>
          <a:xfrm>
            <a:off x="731520" y="5621020"/>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DT_DEBUG</a:t>
            </a:r>
          </a:p>
        </p:txBody>
      </p:sp>
      <p:sp>
        <p:nvSpPr>
          <p:cNvPr id="42" name="Rounded Rectangle 41"/>
          <p:cNvSpPr/>
          <p:nvPr/>
        </p:nvSpPr>
        <p:spPr>
          <a:xfrm>
            <a:off x="4297680" y="5621020"/>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d_ptr</a:t>
            </a:r>
          </a:p>
        </p:txBody>
      </p:sp>
      <p:sp>
        <p:nvSpPr>
          <p:cNvPr id="43" name="Rounded Rectangle 42"/>
          <p:cNvSpPr/>
          <p:nvPr/>
        </p:nvSpPr>
        <p:spPr>
          <a:xfrm>
            <a:off x="7863840" y="5621020"/>
            <a:ext cx="354076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 r_debug (link_map chain for debuggers)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DT_FLAGS and DT_FLAGS_1 — Behavioral Flags</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097280"/>
            <a:ext cx="5303520" cy="41148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00D4FF"/>
                </a:solidFill>
              </a:defRPr>
            </a:pPr>
            <a:r>
              <a:t>DT_FLAGS (d_val)</a:t>
            </a:r>
          </a:p>
        </p:txBody>
      </p:sp>
      <p:sp>
        <p:nvSpPr>
          <p:cNvPr id="6" name="TextBox 5"/>
          <p:cNvSpPr txBox="1"/>
          <p:nvPr/>
        </p:nvSpPr>
        <p:spPr>
          <a:xfrm>
            <a:off x="731520" y="1645920"/>
            <a:ext cx="4937760" cy="320040"/>
          </a:xfrm>
          <a:prstGeom prst="rect">
            <a:avLst/>
          </a:prstGeom>
          <a:noFill/>
        </p:spPr>
        <p:txBody>
          <a:bodyPr wrap="square" anchor="t"/>
          <a:lstStyle/>
          <a:p>
            <a:pPr algn="l">
              <a:defRPr sz="1100" b="0" i="0">
                <a:solidFill>
                  <a:srgbClr val="CCCCCC"/>
                </a:solidFill>
              </a:defRPr>
            </a:pPr>
            <a:r>
              <a:t>▸ DF_BIND_NOW (0x8): resolve all symbols at load time</a:t>
            </a:r>
          </a:p>
        </p:txBody>
      </p:sp>
      <p:sp>
        <p:nvSpPr>
          <p:cNvPr id="7" name="TextBox 6"/>
          <p:cNvSpPr txBox="1"/>
          <p:nvPr/>
        </p:nvSpPr>
        <p:spPr>
          <a:xfrm>
            <a:off x="731520" y="1993392"/>
            <a:ext cx="4937760" cy="320040"/>
          </a:xfrm>
          <a:prstGeom prst="rect">
            <a:avLst/>
          </a:prstGeom>
          <a:noFill/>
        </p:spPr>
        <p:txBody>
          <a:bodyPr wrap="square" anchor="t"/>
          <a:lstStyle/>
          <a:p>
            <a:pPr algn="l">
              <a:defRPr sz="1100" b="0" i="0">
                <a:solidFill>
                  <a:srgbClr val="CCCCCC"/>
                </a:solidFill>
              </a:defRPr>
            </a:pPr>
            <a:r>
              <a:t>▸ DF_SYMBOLIC (0x2): prefer own definitions over global scope</a:t>
            </a:r>
          </a:p>
        </p:txBody>
      </p:sp>
      <p:sp>
        <p:nvSpPr>
          <p:cNvPr id="8" name="TextBox 7"/>
          <p:cNvSpPr txBox="1"/>
          <p:nvPr/>
        </p:nvSpPr>
        <p:spPr>
          <a:xfrm>
            <a:off x="731520" y="2340864"/>
            <a:ext cx="4937760" cy="320040"/>
          </a:xfrm>
          <a:prstGeom prst="rect">
            <a:avLst/>
          </a:prstGeom>
          <a:noFill/>
        </p:spPr>
        <p:txBody>
          <a:bodyPr wrap="square" anchor="t"/>
          <a:lstStyle/>
          <a:p>
            <a:pPr algn="l">
              <a:defRPr sz="1100" b="0" i="0">
                <a:solidFill>
                  <a:srgbClr val="CCCCCC"/>
                </a:solidFill>
              </a:defRPr>
            </a:pPr>
            <a:r>
              <a:t>▸ DF_TEXTREL (0x4): has relocations in read-only segments (bad)</a:t>
            </a:r>
          </a:p>
        </p:txBody>
      </p:sp>
      <p:sp>
        <p:nvSpPr>
          <p:cNvPr id="9" name="TextBox 8"/>
          <p:cNvSpPr txBox="1"/>
          <p:nvPr/>
        </p:nvSpPr>
        <p:spPr>
          <a:xfrm>
            <a:off x="731520" y="2688336"/>
            <a:ext cx="4937760" cy="320040"/>
          </a:xfrm>
          <a:prstGeom prst="rect">
            <a:avLst/>
          </a:prstGeom>
          <a:noFill/>
        </p:spPr>
        <p:txBody>
          <a:bodyPr wrap="square" anchor="t"/>
          <a:lstStyle/>
          <a:p>
            <a:pPr algn="l">
              <a:defRPr sz="1100" b="0" i="0">
                <a:solidFill>
                  <a:srgbClr val="CCCCCC"/>
                </a:solidFill>
              </a:defRPr>
            </a:pPr>
            <a:r>
              <a:t>▸ DF_STATIC_TLS (0x10): uses static TLS (limits dlopen)</a:t>
            </a:r>
          </a:p>
        </p:txBody>
      </p:sp>
      <p:sp>
        <p:nvSpPr>
          <p:cNvPr id="10" name="Rounded Rectangle 9"/>
          <p:cNvSpPr/>
          <p:nvPr/>
        </p:nvSpPr>
        <p:spPr>
          <a:xfrm>
            <a:off x="6217920" y="1097280"/>
            <a:ext cx="5303520" cy="411480"/>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BB86FC"/>
                </a:solidFill>
              </a:defRPr>
            </a:pPr>
            <a:r>
              <a:t>DT_FLAGS_1 (d_val)</a:t>
            </a:r>
          </a:p>
        </p:txBody>
      </p:sp>
      <p:sp>
        <p:nvSpPr>
          <p:cNvPr id="11" name="TextBox 10"/>
          <p:cNvSpPr txBox="1"/>
          <p:nvPr/>
        </p:nvSpPr>
        <p:spPr>
          <a:xfrm>
            <a:off x="6400800" y="1645920"/>
            <a:ext cx="4937760" cy="320040"/>
          </a:xfrm>
          <a:prstGeom prst="rect">
            <a:avLst/>
          </a:prstGeom>
          <a:noFill/>
        </p:spPr>
        <p:txBody>
          <a:bodyPr wrap="square" anchor="t"/>
          <a:lstStyle/>
          <a:p>
            <a:pPr algn="l">
              <a:defRPr sz="1100" b="0" i="0">
                <a:solidFill>
                  <a:srgbClr val="CCCCCC"/>
                </a:solidFill>
              </a:defRPr>
            </a:pPr>
            <a:r>
              <a:t>▸ DF_1_NOW (0x1): alias for DF_BIND_NOW</a:t>
            </a:r>
          </a:p>
        </p:txBody>
      </p:sp>
      <p:sp>
        <p:nvSpPr>
          <p:cNvPr id="12" name="TextBox 11"/>
          <p:cNvSpPr txBox="1"/>
          <p:nvPr/>
        </p:nvSpPr>
        <p:spPr>
          <a:xfrm>
            <a:off x="6400800" y="1993392"/>
            <a:ext cx="4937760" cy="320040"/>
          </a:xfrm>
          <a:prstGeom prst="rect">
            <a:avLst/>
          </a:prstGeom>
          <a:noFill/>
        </p:spPr>
        <p:txBody>
          <a:bodyPr wrap="square" anchor="t"/>
          <a:lstStyle/>
          <a:p>
            <a:pPr algn="l">
              <a:defRPr sz="1100" b="0" i="0">
                <a:solidFill>
                  <a:srgbClr val="CCCCCC"/>
                </a:solidFill>
              </a:defRPr>
            </a:pPr>
            <a:r>
              <a:t>▸ DF_1_PIE (0x8000000): this ET_DYN is a PIE executable</a:t>
            </a:r>
          </a:p>
        </p:txBody>
      </p:sp>
      <p:sp>
        <p:nvSpPr>
          <p:cNvPr id="13" name="TextBox 12"/>
          <p:cNvSpPr txBox="1"/>
          <p:nvPr/>
        </p:nvSpPr>
        <p:spPr>
          <a:xfrm>
            <a:off x="6400800" y="2340864"/>
            <a:ext cx="4937760" cy="320040"/>
          </a:xfrm>
          <a:prstGeom prst="rect">
            <a:avLst/>
          </a:prstGeom>
          <a:noFill/>
        </p:spPr>
        <p:txBody>
          <a:bodyPr wrap="square" anchor="t"/>
          <a:lstStyle/>
          <a:p>
            <a:pPr algn="l">
              <a:defRPr sz="1100" b="0" i="0">
                <a:solidFill>
                  <a:srgbClr val="CCCCCC"/>
                </a:solidFill>
              </a:defRPr>
            </a:pPr>
            <a:r>
              <a:t>▸ DF_1_NODELETE (0x8): object cannot be dlclose'd</a:t>
            </a:r>
          </a:p>
        </p:txBody>
      </p:sp>
      <p:sp>
        <p:nvSpPr>
          <p:cNvPr id="14" name="TextBox 13"/>
          <p:cNvSpPr txBox="1"/>
          <p:nvPr/>
        </p:nvSpPr>
        <p:spPr>
          <a:xfrm>
            <a:off x="6400800" y="2688336"/>
            <a:ext cx="4937760" cy="320040"/>
          </a:xfrm>
          <a:prstGeom prst="rect">
            <a:avLst/>
          </a:prstGeom>
          <a:noFill/>
        </p:spPr>
        <p:txBody>
          <a:bodyPr wrap="square" anchor="t"/>
          <a:lstStyle/>
          <a:p>
            <a:pPr algn="l">
              <a:defRPr sz="1100" b="0" i="0">
                <a:solidFill>
                  <a:srgbClr val="CCCCCC"/>
                </a:solidFill>
              </a:defRPr>
            </a:pPr>
            <a:r>
              <a:t>▸ DF_1_INITFIRST (0x20): run constructors before others</a:t>
            </a:r>
          </a:p>
        </p:txBody>
      </p:sp>
      <p:sp>
        <p:nvSpPr>
          <p:cNvPr id="15" name="TextBox 14"/>
          <p:cNvSpPr txBox="1"/>
          <p:nvPr/>
        </p:nvSpPr>
        <p:spPr>
          <a:xfrm>
            <a:off x="6400800" y="3035808"/>
            <a:ext cx="4937760" cy="320040"/>
          </a:xfrm>
          <a:prstGeom prst="rect">
            <a:avLst/>
          </a:prstGeom>
          <a:noFill/>
        </p:spPr>
        <p:txBody>
          <a:bodyPr wrap="square" anchor="t"/>
          <a:lstStyle/>
          <a:p>
            <a:pPr algn="l">
              <a:defRPr sz="1100" b="0" i="0">
                <a:solidFill>
                  <a:srgbClr val="CCCCCC"/>
                </a:solidFill>
              </a:defRPr>
            </a:pPr>
            <a:r>
              <a:t>▸ DF_1_NOOPEN (0x40): cannot be dlopen'd</a:t>
            </a:r>
          </a:p>
        </p:txBody>
      </p:sp>
      <p:sp>
        <p:nvSpPr>
          <p:cNvPr id="16" name="TextBox 15"/>
          <p:cNvSpPr txBox="1"/>
          <p:nvPr/>
        </p:nvSpPr>
        <p:spPr>
          <a:xfrm>
            <a:off x="6400800" y="3383280"/>
            <a:ext cx="4937760" cy="320040"/>
          </a:xfrm>
          <a:prstGeom prst="rect">
            <a:avLst/>
          </a:prstGeom>
          <a:noFill/>
        </p:spPr>
        <p:txBody>
          <a:bodyPr wrap="square" anchor="t"/>
          <a:lstStyle/>
          <a:p>
            <a:pPr algn="l">
              <a:defRPr sz="1100" b="0" i="0">
                <a:solidFill>
                  <a:srgbClr val="CCCCCC"/>
                </a:solidFill>
              </a:defRPr>
            </a:pPr>
            <a:r>
              <a:t>▸ DF_1_INTERPOSE (0x400): interpose all symbols</a:t>
            </a:r>
          </a:p>
        </p:txBody>
      </p:sp>
      <p:cxnSp>
        <p:nvCxnSpPr>
          <p:cNvPr id="17" name="Connector 16"/>
          <p:cNvCxnSpPr/>
          <p:nvPr/>
        </p:nvCxnSpPr>
        <p:spPr>
          <a:xfrm>
            <a:off x="5943600" y="1097280"/>
            <a:ext cx="0" cy="512064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DT_DEBUG → r_debug → link_map Chain</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31520" y="1097280"/>
            <a:ext cx="54864" cy="5943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097280"/>
            <a:ext cx="3200400" cy="274320"/>
          </a:xfrm>
          <a:prstGeom prst="rect">
            <a:avLst/>
          </a:prstGeom>
          <a:noFill/>
        </p:spPr>
        <p:txBody>
          <a:bodyPr wrap="square" anchor="t"/>
          <a:lstStyle/>
          <a:p>
            <a:pPr algn="l">
              <a:defRPr sz="1300" b="1" i="0">
                <a:solidFill>
                  <a:srgbClr val="00D4FF"/>
                </a:solidFill>
              </a:defRPr>
            </a:pPr>
            <a:r>
              <a:t>DT_DEBUG Written at Load Time</a:t>
            </a:r>
          </a:p>
        </p:txBody>
      </p:sp>
      <p:sp>
        <p:nvSpPr>
          <p:cNvPr id="7" name="TextBox 6"/>
          <p:cNvSpPr txBox="1"/>
          <p:nvPr/>
        </p:nvSpPr>
        <p:spPr>
          <a:xfrm>
            <a:off x="914400" y="1353312"/>
            <a:ext cx="10058400" cy="365760"/>
          </a:xfrm>
          <a:prstGeom prst="rect">
            <a:avLst/>
          </a:prstGeom>
          <a:noFill/>
        </p:spPr>
        <p:txBody>
          <a:bodyPr wrap="square" anchor="t"/>
          <a:lstStyle/>
          <a:p>
            <a:pPr algn="l">
              <a:defRPr sz="1100" b="0" i="0">
                <a:solidFill>
                  <a:srgbClr val="CCCCCC"/>
                </a:solidFill>
              </a:defRPr>
            </a:pPr>
            <a:r>
              <a:t>ld.so writes the address of its r_debug structure into this .dynamic entry during startup — BEFORE RELRO locks .dynamic to read-only.</a:t>
            </a:r>
          </a:p>
        </p:txBody>
      </p:sp>
      <p:sp>
        <p:nvSpPr>
          <p:cNvPr id="8" name="Rectangle 7"/>
          <p:cNvSpPr/>
          <p:nvPr/>
        </p:nvSpPr>
        <p:spPr>
          <a:xfrm>
            <a:off x="731520" y="1755648"/>
            <a:ext cx="54864" cy="59436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55648"/>
            <a:ext cx="3200400" cy="274320"/>
          </a:xfrm>
          <a:prstGeom prst="rect">
            <a:avLst/>
          </a:prstGeom>
          <a:noFill/>
        </p:spPr>
        <p:txBody>
          <a:bodyPr wrap="square" anchor="t"/>
          <a:lstStyle/>
          <a:p>
            <a:pPr algn="l">
              <a:defRPr sz="1300" b="1" i="0">
                <a:solidFill>
                  <a:srgbClr val="00FF88"/>
                </a:solidFill>
              </a:defRPr>
            </a:pPr>
            <a:r>
              <a:t>r_debug Structure</a:t>
            </a:r>
          </a:p>
        </p:txBody>
      </p:sp>
      <p:sp>
        <p:nvSpPr>
          <p:cNvPr id="10" name="TextBox 9"/>
          <p:cNvSpPr txBox="1"/>
          <p:nvPr/>
        </p:nvSpPr>
        <p:spPr>
          <a:xfrm>
            <a:off x="914400" y="2011680"/>
            <a:ext cx="10058400" cy="365760"/>
          </a:xfrm>
          <a:prstGeom prst="rect">
            <a:avLst/>
          </a:prstGeom>
          <a:noFill/>
        </p:spPr>
        <p:txBody>
          <a:bodyPr wrap="square" anchor="t"/>
          <a:lstStyle/>
          <a:p>
            <a:pPr algn="l">
              <a:defRPr sz="1100" b="0" i="0">
                <a:solidFill>
                  <a:srgbClr val="CCCCCC"/>
                </a:solidFill>
              </a:defRPr>
            </a:pPr>
            <a:r>
              <a:t>Contains r_version (always 1), r_map (pointer to head of link_map linked list), r_brk (address of _dl_debug_state — debugger breakpoint), r_state (RT_CONSISTENT/ADD/DELETE).</a:t>
            </a:r>
          </a:p>
        </p:txBody>
      </p:sp>
      <p:sp>
        <p:nvSpPr>
          <p:cNvPr id="11" name="Rectangle 10"/>
          <p:cNvSpPr/>
          <p:nvPr/>
        </p:nvSpPr>
        <p:spPr>
          <a:xfrm>
            <a:off x="731520" y="2414016"/>
            <a:ext cx="54864" cy="5943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414016"/>
            <a:ext cx="3200400" cy="274320"/>
          </a:xfrm>
          <a:prstGeom prst="rect">
            <a:avLst/>
          </a:prstGeom>
          <a:noFill/>
        </p:spPr>
        <p:txBody>
          <a:bodyPr wrap="square" anchor="t"/>
          <a:lstStyle/>
          <a:p>
            <a:pPr algn="l">
              <a:defRPr sz="1300" b="1" i="0">
                <a:solidFill>
                  <a:srgbClr val="FFD700"/>
                </a:solidFill>
              </a:defRPr>
            </a:pPr>
            <a:r>
              <a:t>link_map Linked List</a:t>
            </a:r>
          </a:p>
        </p:txBody>
      </p:sp>
      <p:sp>
        <p:nvSpPr>
          <p:cNvPr id="13" name="TextBox 12"/>
          <p:cNvSpPr txBox="1"/>
          <p:nvPr/>
        </p:nvSpPr>
        <p:spPr>
          <a:xfrm>
            <a:off x="914400" y="2670048"/>
            <a:ext cx="10058400" cy="365760"/>
          </a:xfrm>
          <a:prstGeom prst="rect">
            <a:avLst/>
          </a:prstGeom>
          <a:noFill/>
        </p:spPr>
        <p:txBody>
          <a:bodyPr wrap="square" anchor="t"/>
          <a:lstStyle/>
          <a:p>
            <a:pPr algn="l">
              <a:defRPr sz="1100" b="0" i="0">
                <a:solidFill>
                  <a:srgbClr val="CCCCCC"/>
                </a:solidFill>
              </a:defRPr>
            </a:pPr>
            <a:r>
              <a:t>One node per loaded object. Fields: l_addr (load base), l_name (path string), l_ld (pointer to object's .dynamic), l_next/l_prev (list links).</a:t>
            </a:r>
          </a:p>
        </p:txBody>
      </p:sp>
      <p:sp>
        <p:nvSpPr>
          <p:cNvPr id="14" name="Rectangle 13"/>
          <p:cNvSpPr/>
          <p:nvPr/>
        </p:nvSpPr>
        <p:spPr>
          <a:xfrm>
            <a:off x="731520" y="3072384"/>
            <a:ext cx="54864" cy="59436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72384"/>
            <a:ext cx="3200400" cy="274320"/>
          </a:xfrm>
          <a:prstGeom prst="rect">
            <a:avLst/>
          </a:prstGeom>
          <a:noFill/>
        </p:spPr>
        <p:txBody>
          <a:bodyPr wrap="square" anchor="t"/>
          <a:lstStyle/>
          <a:p>
            <a:pPr algn="l">
              <a:defRPr sz="1300" b="1" i="0">
                <a:solidFill>
                  <a:srgbClr val="FF4444"/>
                </a:solidFill>
              </a:defRPr>
            </a:pPr>
            <a:r>
              <a:t>Offensive Use</a:t>
            </a:r>
          </a:p>
        </p:txBody>
      </p:sp>
      <p:sp>
        <p:nvSpPr>
          <p:cNvPr id="16" name="TextBox 15"/>
          <p:cNvSpPr txBox="1"/>
          <p:nvPr/>
        </p:nvSpPr>
        <p:spPr>
          <a:xfrm>
            <a:off x="914400" y="3328416"/>
            <a:ext cx="10058400" cy="365760"/>
          </a:xfrm>
          <a:prstGeom prst="rect">
            <a:avLst/>
          </a:prstGeom>
          <a:noFill/>
        </p:spPr>
        <p:txBody>
          <a:bodyPr wrap="square" anchor="t"/>
          <a:lstStyle/>
          <a:p>
            <a:pPr algn="l">
              <a:defRPr sz="1100" b="0" i="0">
                <a:solidFill>
                  <a:srgbClr val="CCCCCC"/>
                </a:solidFill>
              </a:defRPr>
            </a:pPr>
            <a:r>
              <a:t>Walking DT_DEBUG → r_debug → link_map reveals every loaded library's base address — including libc. Used to compute gadget addresses during exploitation.</a:t>
            </a:r>
          </a:p>
        </p:txBody>
      </p:sp>
      <p:sp>
        <p:nvSpPr>
          <p:cNvPr id="17" name="Rectangle 16"/>
          <p:cNvSpPr/>
          <p:nvPr/>
        </p:nvSpPr>
        <p:spPr>
          <a:xfrm>
            <a:off x="731520" y="3730752"/>
            <a:ext cx="54864" cy="59436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730752"/>
            <a:ext cx="3200400" cy="274320"/>
          </a:xfrm>
          <a:prstGeom prst="rect">
            <a:avLst/>
          </a:prstGeom>
          <a:noFill/>
        </p:spPr>
        <p:txBody>
          <a:bodyPr wrap="square" anchor="t"/>
          <a:lstStyle/>
          <a:p>
            <a:pPr algn="l">
              <a:defRPr sz="1300" b="1" i="0">
                <a:solidFill>
                  <a:srgbClr val="BB86FC"/>
                </a:solidFill>
              </a:defRPr>
            </a:pPr>
            <a:r>
              <a:t>Forensic Use</a:t>
            </a:r>
          </a:p>
        </p:txBody>
      </p:sp>
      <p:sp>
        <p:nvSpPr>
          <p:cNvPr id="19" name="TextBox 18"/>
          <p:cNvSpPr txBox="1"/>
          <p:nvPr/>
        </p:nvSpPr>
        <p:spPr>
          <a:xfrm>
            <a:off x="914400" y="3986784"/>
            <a:ext cx="10058400" cy="365760"/>
          </a:xfrm>
          <a:prstGeom prst="rect">
            <a:avLst/>
          </a:prstGeom>
          <a:noFill/>
        </p:spPr>
        <p:txBody>
          <a:bodyPr wrap="square" anchor="t"/>
          <a:lstStyle/>
          <a:p>
            <a:pPr algn="l">
              <a:defRPr sz="1100" b="0" i="0">
                <a:solidFill>
                  <a:srgbClr val="CCCCCC"/>
                </a:solidFill>
              </a:defRPr>
            </a:pPr>
            <a:r>
              <a:t>Core dump analysis reconstructs loaded objects via the same r_debug → link_map walk. Tools: GDB 'info shared', Volatility linux_liblist plugin, custom r_debug parsers.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8</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Symbol Tables &amp;</a:t>
            </a:r>
            <a:br/>
            <a:r>
              <a:t>String Tables</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.dynsym / .dynstr — the runtime symbol namespace</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Elf64_Sym — Dynamic Symbol Table Entry</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9601200" y="320040"/>
            <a:ext cx="1828800" cy="274320"/>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D4FF"/>
                </a:solidFill>
              </a:defRPr>
            </a:pPr>
            <a:r>
              <a:t>C (elf.h)</a:t>
            </a:r>
          </a:p>
        </p:txBody>
      </p:sp>
      <p:sp>
        <p:nvSpPr>
          <p:cNvPr id="6" name="Rounded Rectangle 5"/>
          <p:cNvSpPr/>
          <p:nvPr/>
        </p:nvSpPr>
        <p:spPr>
          <a:xfrm>
            <a:off x="548640" y="1097280"/>
            <a:ext cx="10789920" cy="4389120"/>
          </a:xfrm>
          <a:prstGeom prst="roundRect">
            <a:avLst/>
          </a:prstGeom>
          <a:solidFill>
            <a:srgbClr val="14142A"/>
          </a:solidFill>
          <a:ln w="1270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cxnSp>
        <p:nvCxnSpPr>
          <p:cNvPr id="7" name="Connector 6"/>
          <p:cNvCxnSpPr/>
          <p:nvPr/>
        </p:nvCxnSpPr>
        <p:spPr>
          <a:xfrm>
            <a:off x="548640" y="1417320"/>
            <a:ext cx="10789920" cy="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7240" y="1207008"/>
            <a:ext cx="137160" cy="13716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Oval 8"/>
          <p:cNvSpPr/>
          <p:nvPr/>
        </p:nvSpPr>
        <p:spPr>
          <a:xfrm>
            <a:off x="1005840" y="1207008"/>
            <a:ext cx="137160" cy="1371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Oval 9"/>
          <p:cNvSpPr/>
          <p:nvPr/>
        </p:nvSpPr>
        <p:spPr>
          <a:xfrm>
            <a:off x="1234440" y="1207008"/>
            <a:ext cx="137160" cy="13716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777240" y="1508760"/>
            <a:ext cx="10332720" cy="3840480"/>
          </a:xfrm>
          <a:prstGeom prst="rect">
            <a:avLst/>
          </a:prstGeom>
          <a:noFill/>
        </p:spPr>
        <p:txBody>
          <a:bodyPr wrap="square" anchor="t"/>
          <a:lstStyle/>
          <a:p>
            <a:pPr algn="l">
              <a:defRPr sz="1000" b="0" i="0">
                <a:solidFill>
                  <a:srgbClr val="CCCCCC"/>
                </a:solidFill>
                <a:latin typeface="Consolas"/>
              </a:defRPr>
            </a:pPr>
            <a:r>
              <a:t>typedef struct {</a:t>
            </a:r>
            <a:br/>
            <a:r>
              <a:t>    Elf64_Word    st_name;    // Index into .dynstr</a:t>
            </a:r>
            <a:br/>
            <a:r>
              <a:t>    unsigned char st_info;    // (binding &lt;&lt; 4) | type</a:t>
            </a:r>
            <a:br/>
            <a:r>
              <a:t>    unsigned char st_other;   // Visibility in low 2 bits</a:t>
            </a:r>
            <a:br/>
            <a:r>
              <a:t>    Elf64_Half    st_shndx;   // Section index, or SHN_UNDEF / SHN_ABS</a:t>
            </a:r>
            <a:br/>
            <a:r>
              <a:t>    Elf64_Addr    st_value;   // Virtual address (or offset for relocatables)</a:t>
            </a:r>
            <a:br/>
            <a:r>
              <a:t>    Elf64_Xword   st_size;    // Symbol size in bytes</a:t>
            </a:r>
            <a:br/>
            <a:r>
              <a:t>} Elf64_Sym;  // 24 bytes total</a:t>
            </a:r>
            <a:br/>
            <a:br/>
            <a:r>
              <a:t>// st_info packing:</a:t>
            </a:r>
            <a:br/>
            <a:r>
              <a:t>//   ELF64_ST_BIND(info) = (info) &gt;&gt; 4</a:t>
            </a:r>
            <a:br/>
            <a:r>
              <a:t>//   ELF64_ST_TYPE(info) = (info) &amp; 0xF</a:t>
            </a:r>
            <a:br/>
            <a:r>
              <a:t>//   ELF64_ST_INFO(bind, type) = ((bind) &lt;&lt; 4) | ((type) &amp; 0xF)</a:t>
            </a:r>
          </a:p>
        </p:txBody>
      </p:sp>
      <p:sp>
        <p:nvSpPr>
          <p:cNvPr id="12" name="TextBox 11"/>
          <p:cNvSpPr txBox="1"/>
          <p:nvPr/>
        </p:nvSpPr>
        <p:spPr>
          <a:xfrm>
            <a:off x="731520" y="5623560"/>
            <a:ext cx="10515600" cy="274320"/>
          </a:xfrm>
          <a:prstGeom prst="rect">
            <a:avLst/>
          </a:prstGeom>
          <a:noFill/>
        </p:spPr>
        <p:txBody>
          <a:bodyPr wrap="square" anchor="t"/>
          <a:lstStyle/>
          <a:p>
            <a:pPr algn="l">
              <a:defRPr sz="1000" b="0" i="1">
                <a:solidFill>
                  <a:srgbClr val="999999"/>
                </a:solidFill>
              </a:defRPr>
            </a:pPr>
            <a:r>
              <a:t>→ st_shndx == SHN_UNDEF (0): unresolved reference — must be resolved by dynamic linker</a:t>
            </a:r>
          </a:p>
        </p:txBody>
      </p:sp>
      <p:sp>
        <p:nvSpPr>
          <p:cNvPr id="13" name="TextBox 12"/>
          <p:cNvSpPr txBox="1"/>
          <p:nvPr/>
        </p:nvSpPr>
        <p:spPr>
          <a:xfrm>
            <a:off x="731520" y="5879592"/>
            <a:ext cx="10515600" cy="274320"/>
          </a:xfrm>
          <a:prstGeom prst="rect">
            <a:avLst/>
          </a:prstGeom>
          <a:noFill/>
        </p:spPr>
        <p:txBody>
          <a:bodyPr wrap="square" anchor="t"/>
          <a:lstStyle/>
          <a:p>
            <a:pPr algn="l">
              <a:defRPr sz="1000" b="0" i="1">
                <a:solidFill>
                  <a:srgbClr val="999999"/>
                </a:solidFill>
              </a:defRPr>
            </a:pPr>
            <a:r>
              <a:t>→ Local symbols precede globals; partition point is sh_info of .dynsym section header</a:t>
            </a:r>
          </a:p>
        </p:txBody>
      </p:sp>
      <p:sp>
        <p:nvSpPr>
          <p:cNvPr id="14" name="TextBox 13"/>
          <p:cNvSpPr txBox="1"/>
          <p:nvPr/>
        </p:nvSpPr>
        <p:spPr>
          <a:xfrm>
            <a:off x="731520" y="6135624"/>
            <a:ext cx="10515600" cy="274320"/>
          </a:xfrm>
          <a:prstGeom prst="rect">
            <a:avLst/>
          </a:prstGeom>
          <a:noFill/>
        </p:spPr>
        <p:txBody>
          <a:bodyPr wrap="square" anchor="t"/>
          <a:lstStyle/>
          <a:p>
            <a:pPr algn="l">
              <a:defRPr sz="1000" b="0" i="1">
                <a:solidFill>
                  <a:srgbClr val="999999"/>
                </a:solidFill>
              </a:defRPr>
            </a:pPr>
            <a:r>
              <a:t>→ .dynstr index 0 is always an empty string (NUL byte)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Symbol Binding (STB_*) — Who Can Override</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188720"/>
            <a:ext cx="2286000" cy="502920"/>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FF88"/>
                </a:solidFill>
              </a:defRPr>
            </a:pPr>
            <a:r>
              <a:t>STB_LOCAL (0)</a:t>
            </a:r>
          </a:p>
        </p:txBody>
      </p:sp>
      <p:sp>
        <p:nvSpPr>
          <p:cNvPr id="6" name="TextBox 5"/>
          <p:cNvSpPr txBox="1"/>
          <p:nvPr/>
        </p:nvSpPr>
        <p:spPr>
          <a:xfrm>
            <a:off x="3200400" y="1234440"/>
            <a:ext cx="8229600" cy="457200"/>
          </a:xfrm>
          <a:prstGeom prst="rect">
            <a:avLst/>
          </a:prstGeom>
          <a:noFill/>
        </p:spPr>
        <p:txBody>
          <a:bodyPr wrap="square" anchor="t"/>
          <a:lstStyle/>
          <a:p>
            <a:pPr algn="l">
              <a:defRPr sz="1100" b="0" i="0">
                <a:solidFill>
                  <a:srgbClr val="CCCCCC"/>
                </a:solidFill>
              </a:defRPr>
            </a:pPr>
            <a:r>
              <a:t>Not visible outside this object. Never in .dynsym. Fastest resolution.</a:t>
            </a:r>
          </a:p>
        </p:txBody>
      </p:sp>
      <p:sp>
        <p:nvSpPr>
          <p:cNvPr id="7" name="Rounded Rectangle 6"/>
          <p:cNvSpPr/>
          <p:nvPr/>
        </p:nvSpPr>
        <p:spPr>
          <a:xfrm>
            <a:off x="731520" y="1755648"/>
            <a:ext cx="2286000" cy="50292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D4FF"/>
                </a:solidFill>
              </a:defRPr>
            </a:pPr>
            <a:r>
              <a:t>STB_GLOBAL (1)</a:t>
            </a:r>
          </a:p>
        </p:txBody>
      </p:sp>
      <p:sp>
        <p:nvSpPr>
          <p:cNvPr id="8" name="TextBox 7"/>
          <p:cNvSpPr txBox="1"/>
          <p:nvPr/>
        </p:nvSpPr>
        <p:spPr>
          <a:xfrm>
            <a:off x="3200400" y="1801368"/>
            <a:ext cx="8229600" cy="457200"/>
          </a:xfrm>
          <a:prstGeom prst="rect">
            <a:avLst/>
          </a:prstGeom>
          <a:noFill/>
        </p:spPr>
        <p:txBody>
          <a:bodyPr wrap="square" anchor="t"/>
          <a:lstStyle/>
          <a:p>
            <a:pPr algn="l">
              <a:defRPr sz="1100" b="0" i="0">
                <a:solidFill>
                  <a:srgbClr val="CCCCCC"/>
                </a:solidFill>
              </a:defRPr>
            </a:pPr>
            <a:r>
              <a:t>Visible to all objects. Must be unique (or error). Standard export.</a:t>
            </a:r>
          </a:p>
        </p:txBody>
      </p:sp>
      <p:sp>
        <p:nvSpPr>
          <p:cNvPr id="9" name="Rounded Rectangle 8"/>
          <p:cNvSpPr/>
          <p:nvPr/>
        </p:nvSpPr>
        <p:spPr>
          <a:xfrm>
            <a:off x="731520" y="2322576"/>
            <a:ext cx="2286000" cy="50292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D700"/>
                </a:solidFill>
              </a:defRPr>
            </a:pPr>
            <a:r>
              <a:t>STB_WEAK (2)</a:t>
            </a:r>
          </a:p>
        </p:txBody>
      </p:sp>
      <p:sp>
        <p:nvSpPr>
          <p:cNvPr id="10" name="TextBox 9"/>
          <p:cNvSpPr txBox="1"/>
          <p:nvPr/>
        </p:nvSpPr>
        <p:spPr>
          <a:xfrm>
            <a:off x="3200400" y="2368296"/>
            <a:ext cx="8229600" cy="457200"/>
          </a:xfrm>
          <a:prstGeom prst="rect">
            <a:avLst/>
          </a:prstGeom>
          <a:noFill/>
        </p:spPr>
        <p:txBody>
          <a:bodyPr wrap="square" anchor="t"/>
          <a:lstStyle/>
          <a:p>
            <a:pPr algn="l">
              <a:defRPr sz="1100" b="0" i="0">
                <a:solidFill>
                  <a:srgbClr val="CCCCCC"/>
                </a:solidFill>
              </a:defRPr>
            </a:pPr>
            <a:r>
              <a:t>Visible but overridable. If unresolved, value is 0 (no error). Optional deps.</a:t>
            </a:r>
          </a:p>
        </p:txBody>
      </p:sp>
      <p:sp>
        <p:nvSpPr>
          <p:cNvPr id="11" name="Rounded Rectangle 10"/>
          <p:cNvSpPr/>
          <p:nvPr/>
        </p:nvSpPr>
        <p:spPr>
          <a:xfrm>
            <a:off x="731520" y="2889504"/>
            <a:ext cx="2286000" cy="502920"/>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BB86FC"/>
                </a:solidFill>
              </a:defRPr>
            </a:pPr>
            <a:r>
              <a:t>STB_GNU_UNIQUE (10)</a:t>
            </a:r>
          </a:p>
        </p:txBody>
      </p:sp>
      <p:sp>
        <p:nvSpPr>
          <p:cNvPr id="12" name="TextBox 11"/>
          <p:cNvSpPr txBox="1"/>
          <p:nvPr/>
        </p:nvSpPr>
        <p:spPr>
          <a:xfrm>
            <a:off x="3200400" y="2935224"/>
            <a:ext cx="8229600" cy="457200"/>
          </a:xfrm>
          <a:prstGeom prst="rect">
            <a:avLst/>
          </a:prstGeom>
          <a:noFill/>
        </p:spPr>
        <p:txBody>
          <a:bodyPr wrap="square" anchor="t"/>
          <a:lstStyle/>
          <a:p>
            <a:pPr algn="l">
              <a:defRPr sz="1100" b="0" i="0">
                <a:solidFill>
                  <a:srgbClr val="CCCCCC"/>
                </a:solidFill>
              </a:defRPr>
            </a:pPr>
            <a:r>
              <a:t>GNU extension for C++ template dedup. Like global but exactly one instance.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Symbol Type (STT_*) — What the Symbol Represents</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188720"/>
            <a:ext cx="2286000" cy="502920"/>
          </a:xfrm>
          <a:prstGeom prst="roundRect">
            <a:avLst/>
          </a:prstGeom>
          <a:solidFill>
            <a:srgbClr val="1C1C34"/>
          </a:solidFill>
          <a:ln w="12700">
            <a:solidFill>
              <a:srgbClr val="555566"/>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555566"/>
                </a:solidFill>
              </a:defRPr>
            </a:pPr>
            <a:r>
              <a:t>STT_NOTYPE (0)</a:t>
            </a:r>
          </a:p>
        </p:txBody>
      </p:sp>
      <p:sp>
        <p:nvSpPr>
          <p:cNvPr id="6" name="TextBox 5"/>
          <p:cNvSpPr txBox="1"/>
          <p:nvPr/>
        </p:nvSpPr>
        <p:spPr>
          <a:xfrm>
            <a:off x="3200400" y="1234440"/>
            <a:ext cx="8229600" cy="457200"/>
          </a:xfrm>
          <a:prstGeom prst="rect">
            <a:avLst/>
          </a:prstGeom>
          <a:noFill/>
        </p:spPr>
        <p:txBody>
          <a:bodyPr wrap="square" anchor="t"/>
          <a:lstStyle/>
          <a:p>
            <a:pPr algn="l">
              <a:defRPr sz="1100" b="0" i="0">
                <a:solidFill>
                  <a:srgbClr val="CCCCCC"/>
                </a:solidFill>
              </a:defRPr>
            </a:pPr>
            <a:r>
              <a:t>Unspecified type. Common for labels and assembly symbols.</a:t>
            </a:r>
          </a:p>
        </p:txBody>
      </p:sp>
      <p:sp>
        <p:nvSpPr>
          <p:cNvPr id="7" name="Rounded Rectangle 6"/>
          <p:cNvSpPr/>
          <p:nvPr/>
        </p:nvSpPr>
        <p:spPr>
          <a:xfrm>
            <a:off x="731520" y="1755648"/>
            <a:ext cx="2286000" cy="50292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D4FF"/>
                </a:solidFill>
              </a:defRPr>
            </a:pPr>
            <a:r>
              <a:t>STT_OBJECT (1)</a:t>
            </a:r>
          </a:p>
        </p:txBody>
      </p:sp>
      <p:sp>
        <p:nvSpPr>
          <p:cNvPr id="8" name="TextBox 7"/>
          <p:cNvSpPr txBox="1"/>
          <p:nvPr/>
        </p:nvSpPr>
        <p:spPr>
          <a:xfrm>
            <a:off x="3200400" y="1801368"/>
            <a:ext cx="8229600" cy="457200"/>
          </a:xfrm>
          <a:prstGeom prst="rect">
            <a:avLst/>
          </a:prstGeom>
          <a:noFill/>
        </p:spPr>
        <p:txBody>
          <a:bodyPr wrap="square" anchor="t"/>
          <a:lstStyle/>
          <a:p>
            <a:pPr algn="l">
              <a:defRPr sz="1100" b="0" i="0">
                <a:solidFill>
                  <a:srgbClr val="CCCCCC"/>
                </a:solidFill>
              </a:defRPr>
            </a:pPr>
            <a:r>
              <a:t>Data object: variable, array, structure. st_size = object size.</a:t>
            </a:r>
          </a:p>
        </p:txBody>
      </p:sp>
      <p:sp>
        <p:nvSpPr>
          <p:cNvPr id="9" name="Rounded Rectangle 8"/>
          <p:cNvSpPr/>
          <p:nvPr/>
        </p:nvSpPr>
        <p:spPr>
          <a:xfrm>
            <a:off x="731520" y="2322576"/>
            <a:ext cx="2286000" cy="502920"/>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FF88"/>
                </a:solidFill>
              </a:defRPr>
            </a:pPr>
            <a:r>
              <a:t>STT_FUNC (2)</a:t>
            </a:r>
          </a:p>
        </p:txBody>
      </p:sp>
      <p:sp>
        <p:nvSpPr>
          <p:cNvPr id="10" name="TextBox 9"/>
          <p:cNvSpPr txBox="1"/>
          <p:nvPr/>
        </p:nvSpPr>
        <p:spPr>
          <a:xfrm>
            <a:off x="3200400" y="2368296"/>
            <a:ext cx="8229600" cy="457200"/>
          </a:xfrm>
          <a:prstGeom prst="rect">
            <a:avLst/>
          </a:prstGeom>
          <a:noFill/>
        </p:spPr>
        <p:txBody>
          <a:bodyPr wrap="square" anchor="t"/>
          <a:lstStyle/>
          <a:p>
            <a:pPr algn="l">
              <a:defRPr sz="1100" b="0" i="0">
                <a:solidFill>
                  <a:srgbClr val="CCCCCC"/>
                </a:solidFill>
              </a:defRPr>
            </a:pPr>
            <a:r>
              <a:t>Function entry point. st_value = address, st_size = function length.</a:t>
            </a:r>
          </a:p>
        </p:txBody>
      </p:sp>
      <p:sp>
        <p:nvSpPr>
          <p:cNvPr id="11" name="Rounded Rectangle 10"/>
          <p:cNvSpPr/>
          <p:nvPr/>
        </p:nvSpPr>
        <p:spPr>
          <a:xfrm>
            <a:off x="731520" y="2889504"/>
            <a:ext cx="2286000" cy="50292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D700"/>
                </a:solidFill>
              </a:defRPr>
            </a:pPr>
            <a:r>
              <a:t>STT_SECTION (3)</a:t>
            </a:r>
          </a:p>
        </p:txBody>
      </p:sp>
      <p:sp>
        <p:nvSpPr>
          <p:cNvPr id="12" name="TextBox 11"/>
          <p:cNvSpPr txBox="1"/>
          <p:nvPr/>
        </p:nvSpPr>
        <p:spPr>
          <a:xfrm>
            <a:off x="3200400" y="2935224"/>
            <a:ext cx="8229600" cy="457200"/>
          </a:xfrm>
          <a:prstGeom prst="rect">
            <a:avLst/>
          </a:prstGeom>
          <a:noFill/>
        </p:spPr>
        <p:txBody>
          <a:bodyPr wrap="square" anchor="t"/>
          <a:lstStyle/>
          <a:p>
            <a:pPr algn="l">
              <a:defRPr sz="1100" b="0" i="0">
                <a:solidFill>
                  <a:srgbClr val="CCCCCC"/>
                </a:solidFill>
              </a:defRPr>
            </a:pPr>
            <a:r>
              <a:t>Section symbol. Used internally for relocation against section base.</a:t>
            </a:r>
          </a:p>
        </p:txBody>
      </p:sp>
      <p:sp>
        <p:nvSpPr>
          <p:cNvPr id="13" name="Rounded Rectangle 12"/>
          <p:cNvSpPr/>
          <p:nvPr/>
        </p:nvSpPr>
        <p:spPr>
          <a:xfrm>
            <a:off x="731520" y="3456432"/>
            <a:ext cx="2286000" cy="502920"/>
          </a:xfrm>
          <a:prstGeom prst="roundRect">
            <a:avLst/>
          </a:prstGeom>
          <a:solidFill>
            <a:srgbClr val="1C1C34"/>
          </a:solidFill>
          <a:ln w="12700">
            <a:solidFill>
              <a:srgbClr val="4488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4488FF"/>
                </a:solidFill>
              </a:defRPr>
            </a:pPr>
            <a:r>
              <a:t>STT_FILE (4)</a:t>
            </a:r>
          </a:p>
        </p:txBody>
      </p:sp>
      <p:sp>
        <p:nvSpPr>
          <p:cNvPr id="14" name="TextBox 13"/>
          <p:cNvSpPr txBox="1"/>
          <p:nvPr/>
        </p:nvSpPr>
        <p:spPr>
          <a:xfrm>
            <a:off x="3200400" y="3502152"/>
            <a:ext cx="8229600" cy="457200"/>
          </a:xfrm>
          <a:prstGeom prst="rect">
            <a:avLst/>
          </a:prstGeom>
          <a:noFill/>
        </p:spPr>
        <p:txBody>
          <a:bodyPr wrap="square" anchor="t"/>
          <a:lstStyle/>
          <a:p>
            <a:pPr algn="l">
              <a:defRPr sz="1100" b="0" i="0">
                <a:solidFill>
                  <a:srgbClr val="CCCCCC"/>
                </a:solidFill>
              </a:defRPr>
            </a:pPr>
            <a:r>
              <a:t>Source file name. For debugger convenience only.</a:t>
            </a:r>
          </a:p>
        </p:txBody>
      </p:sp>
      <p:sp>
        <p:nvSpPr>
          <p:cNvPr id="15" name="Rounded Rectangle 14"/>
          <p:cNvSpPr/>
          <p:nvPr/>
        </p:nvSpPr>
        <p:spPr>
          <a:xfrm>
            <a:off x="731520" y="4023360"/>
            <a:ext cx="2286000" cy="502920"/>
          </a:xfrm>
          <a:prstGeom prst="roundRect">
            <a:avLst/>
          </a:prstGeom>
          <a:solidFill>
            <a:srgbClr val="1C1C34"/>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8C00"/>
                </a:solidFill>
              </a:defRPr>
            </a:pPr>
            <a:r>
              <a:t>STT_COMMON (5)</a:t>
            </a:r>
          </a:p>
        </p:txBody>
      </p:sp>
      <p:sp>
        <p:nvSpPr>
          <p:cNvPr id="16" name="TextBox 15"/>
          <p:cNvSpPr txBox="1"/>
          <p:nvPr/>
        </p:nvSpPr>
        <p:spPr>
          <a:xfrm>
            <a:off x="3200400" y="4069080"/>
            <a:ext cx="8229600" cy="457200"/>
          </a:xfrm>
          <a:prstGeom prst="rect">
            <a:avLst/>
          </a:prstGeom>
          <a:noFill/>
        </p:spPr>
        <p:txBody>
          <a:bodyPr wrap="square" anchor="t"/>
          <a:lstStyle/>
          <a:p>
            <a:pPr algn="l">
              <a:defRPr sz="1100" b="0" i="0">
                <a:solidFill>
                  <a:srgbClr val="CCCCCC"/>
                </a:solidFill>
              </a:defRPr>
            </a:pPr>
            <a:r>
              <a:t>Tentative definition. Linker allocates space in .bss.</a:t>
            </a:r>
          </a:p>
        </p:txBody>
      </p:sp>
      <p:sp>
        <p:nvSpPr>
          <p:cNvPr id="17" name="Rounded Rectangle 16"/>
          <p:cNvSpPr/>
          <p:nvPr/>
        </p:nvSpPr>
        <p:spPr>
          <a:xfrm>
            <a:off x="731520" y="4590288"/>
            <a:ext cx="2286000" cy="502920"/>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BB86FC"/>
                </a:solidFill>
              </a:defRPr>
            </a:pPr>
            <a:r>
              <a:t>STT_TLS (6)</a:t>
            </a:r>
          </a:p>
        </p:txBody>
      </p:sp>
      <p:sp>
        <p:nvSpPr>
          <p:cNvPr id="18" name="TextBox 17"/>
          <p:cNvSpPr txBox="1"/>
          <p:nvPr/>
        </p:nvSpPr>
        <p:spPr>
          <a:xfrm>
            <a:off x="3200400" y="4636008"/>
            <a:ext cx="8229600" cy="457200"/>
          </a:xfrm>
          <a:prstGeom prst="rect">
            <a:avLst/>
          </a:prstGeom>
          <a:noFill/>
        </p:spPr>
        <p:txBody>
          <a:bodyPr wrap="square" anchor="t"/>
          <a:lstStyle/>
          <a:p>
            <a:pPr algn="l">
              <a:defRPr sz="1100" b="0" i="0">
                <a:solidFill>
                  <a:srgbClr val="CCCCCC"/>
                </a:solidFill>
              </a:defRPr>
            </a:pPr>
            <a:r>
              <a:t>Thread-local storage symbol. Value is offset into TLS block.</a:t>
            </a:r>
          </a:p>
        </p:txBody>
      </p:sp>
      <p:sp>
        <p:nvSpPr>
          <p:cNvPr id="19" name="Rounded Rectangle 18"/>
          <p:cNvSpPr/>
          <p:nvPr/>
        </p:nvSpPr>
        <p:spPr>
          <a:xfrm>
            <a:off x="731520" y="5157216"/>
            <a:ext cx="2286000" cy="50292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4444"/>
                </a:solidFill>
              </a:defRPr>
            </a:pPr>
            <a:r>
              <a:t>STT_GNU_IFUNC (10)</a:t>
            </a:r>
          </a:p>
        </p:txBody>
      </p:sp>
      <p:sp>
        <p:nvSpPr>
          <p:cNvPr id="20" name="TextBox 19"/>
          <p:cNvSpPr txBox="1"/>
          <p:nvPr/>
        </p:nvSpPr>
        <p:spPr>
          <a:xfrm>
            <a:off x="3200400" y="5202936"/>
            <a:ext cx="8229600" cy="457200"/>
          </a:xfrm>
          <a:prstGeom prst="rect">
            <a:avLst/>
          </a:prstGeom>
          <a:noFill/>
        </p:spPr>
        <p:txBody>
          <a:bodyPr wrap="square" anchor="t"/>
          <a:lstStyle/>
          <a:p>
            <a:pPr algn="l">
              <a:defRPr sz="1100" b="0" i="0">
                <a:solidFill>
                  <a:srgbClr val="CCCCCC"/>
                </a:solidFill>
              </a:defRPr>
            </a:pPr>
            <a:r>
              <a:t>Indirect function: st_value is a RESOLVER, not the final address.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Symbol Visibility (STV_*) — Interposition Control</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STV_HIDDEN and STV_PROTECTED are key for controlling what LD_PRELOAD can hook</a:t>
            </a:r>
          </a:p>
        </p:txBody>
      </p:sp>
      <p:sp>
        <p:nvSpPr>
          <p:cNvPr id="6" name="Rounded Rectangle 5"/>
          <p:cNvSpPr/>
          <p:nvPr/>
        </p:nvSpPr>
        <p:spPr>
          <a:xfrm>
            <a:off x="731520" y="1371600"/>
            <a:ext cx="2114296" cy="384048"/>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D4FF"/>
                </a:solidFill>
              </a:defRPr>
            </a:pPr>
            <a:r>
              <a:t>Visibility</a:t>
            </a:r>
          </a:p>
        </p:txBody>
      </p:sp>
      <p:sp>
        <p:nvSpPr>
          <p:cNvPr id="7" name="Rounded Rectangle 6"/>
          <p:cNvSpPr/>
          <p:nvPr/>
        </p:nvSpPr>
        <p:spPr>
          <a:xfrm>
            <a:off x="2871216" y="1371600"/>
            <a:ext cx="2114296" cy="384048"/>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FF88"/>
                </a:solidFill>
              </a:defRPr>
            </a:pPr>
            <a:r>
              <a:t>Value</a:t>
            </a:r>
          </a:p>
        </p:txBody>
      </p:sp>
      <p:sp>
        <p:nvSpPr>
          <p:cNvPr id="8" name="Rounded Rectangle 7"/>
          <p:cNvSpPr/>
          <p:nvPr/>
        </p:nvSpPr>
        <p:spPr>
          <a:xfrm>
            <a:off x="5010912" y="1371600"/>
            <a:ext cx="2114296" cy="384048"/>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D700"/>
                </a:solidFill>
              </a:defRPr>
            </a:pPr>
            <a:r>
              <a:t>Exported?</a:t>
            </a:r>
          </a:p>
        </p:txBody>
      </p:sp>
      <p:sp>
        <p:nvSpPr>
          <p:cNvPr id="9" name="Rounded Rectangle 8"/>
          <p:cNvSpPr/>
          <p:nvPr/>
        </p:nvSpPr>
        <p:spPr>
          <a:xfrm>
            <a:off x="7150608" y="1371600"/>
            <a:ext cx="2114296" cy="384048"/>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4444"/>
                </a:solidFill>
              </a:defRPr>
            </a:pPr>
            <a:r>
              <a:t>Interposable?</a:t>
            </a:r>
          </a:p>
        </p:txBody>
      </p:sp>
      <p:sp>
        <p:nvSpPr>
          <p:cNvPr id="10" name="Rounded Rectangle 9"/>
          <p:cNvSpPr/>
          <p:nvPr/>
        </p:nvSpPr>
        <p:spPr>
          <a:xfrm>
            <a:off x="9290304" y="1371600"/>
            <a:ext cx="2114296" cy="384048"/>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BB86FC"/>
                </a:solidFill>
              </a:defRPr>
            </a:pPr>
            <a:r>
              <a:t>Use Case</a:t>
            </a:r>
          </a:p>
        </p:txBody>
      </p:sp>
      <p:sp>
        <p:nvSpPr>
          <p:cNvPr id="11" name="Rounded Rectangle 10"/>
          <p:cNvSpPr/>
          <p:nvPr/>
        </p:nvSpPr>
        <p:spPr>
          <a:xfrm>
            <a:off x="731520" y="1793748"/>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STV_DEFAULT</a:t>
            </a:r>
          </a:p>
        </p:txBody>
      </p:sp>
      <p:sp>
        <p:nvSpPr>
          <p:cNvPr id="12" name="Rounded Rectangle 11"/>
          <p:cNvSpPr/>
          <p:nvPr/>
        </p:nvSpPr>
        <p:spPr>
          <a:xfrm>
            <a:off x="2871216" y="1793748"/>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0</a:t>
            </a:r>
          </a:p>
        </p:txBody>
      </p:sp>
      <p:sp>
        <p:nvSpPr>
          <p:cNvPr id="13" name="Rounded Rectangle 12"/>
          <p:cNvSpPr/>
          <p:nvPr/>
        </p:nvSpPr>
        <p:spPr>
          <a:xfrm>
            <a:off x="5010912" y="1793748"/>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Yes</a:t>
            </a:r>
          </a:p>
        </p:txBody>
      </p:sp>
      <p:sp>
        <p:nvSpPr>
          <p:cNvPr id="14" name="Rounded Rectangle 13"/>
          <p:cNvSpPr/>
          <p:nvPr/>
        </p:nvSpPr>
        <p:spPr>
          <a:xfrm>
            <a:off x="7150608" y="1793748"/>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Yes</a:t>
            </a:r>
          </a:p>
        </p:txBody>
      </p:sp>
      <p:sp>
        <p:nvSpPr>
          <p:cNvPr id="15" name="Rounded Rectangle 14"/>
          <p:cNvSpPr/>
          <p:nvPr/>
        </p:nvSpPr>
        <p:spPr>
          <a:xfrm>
            <a:off x="9290304" y="1793748"/>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Standard: LD_PRELOAD can override</a:t>
            </a:r>
          </a:p>
        </p:txBody>
      </p:sp>
      <p:sp>
        <p:nvSpPr>
          <p:cNvPr id="16" name="Rounded Rectangle 15"/>
          <p:cNvSpPr/>
          <p:nvPr/>
        </p:nvSpPr>
        <p:spPr>
          <a:xfrm>
            <a:off x="731520" y="2166620"/>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STV_INTERNAL</a:t>
            </a:r>
          </a:p>
        </p:txBody>
      </p:sp>
      <p:sp>
        <p:nvSpPr>
          <p:cNvPr id="17" name="Rounded Rectangle 16"/>
          <p:cNvSpPr/>
          <p:nvPr/>
        </p:nvSpPr>
        <p:spPr>
          <a:xfrm>
            <a:off x="2871216" y="2166620"/>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a:t>
            </a:r>
          </a:p>
        </p:txBody>
      </p:sp>
      <p:sp>
        <p:nvSpPr>
          <p:cNvPr id="18" name="Rounded Rectangle 17"/>
          <p:cNvSpPr/>
          <p:nvPr/>
        </p:nvSpPr>
        <p:spPr>
          <a:xfrm>
            <a:off x="5010912" y="2166620"/>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No</a:t>
            </a:r>
          </a:p>
        </p:txBody>
      </p:sp>
      <p:sp>
        <p:nvSpPr>
          <p:cNvPr id="19" name="Rounded Rectangle 18"/>
          <p:cNvSpPr/>
          <p:nvPr/>
        </p:nvSpPr>
        <p:spPr>
          <a:xfrm>
            <a:off x="7150608" y="2166620"/>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N/A</a:t>
            </a:r>
          </a:p>
        </p:txBody>
      </p:sp>
      <p:sp>
        <p:nvSpPr>
          <p:cNvPr id="20" name="Rounded Rectangle 19"/>
          <p:cNvSpPr/>
          <p:nvPr/>
        </p:nvSpPr>
        <p:spPr>
          <a:xfrm>
            <a:off x="9290304" y="2166620"/>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Implementation detail — rarely used</a:t>
            </a:r>
          </a:p>
        </p:txBody>
      </p:sp>
      <p:sp>
        <p:nvSpPr>
          <p:cNvPr id="21" name="Rounded Rectangle 20"/>
          <p:cNvSpPr/>
          <p:nvPr/>
        </p:nvSpPr>
        <p:spPr>
          <a:xfrm>
            <a:off x="731520" y="2539492"/>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STV_HIDDEN</a:t>
            </a:r>
          </a:p>
        </p:txBody>
      </p:sp>
      <p:sp>
        <p:nvSpPr>
          <p:cNvPr id="22" name="Rounded Rectangle 21"/>
          <p:cNvSpPr/>
          <p:nvPr/>
        </p:nvSpPr>
        <p:spPr>
          <a:xfrm>
            <a:off x="2871216" y="2539492"/>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2</a:t>
            </a:r>
          </a:p>
        </p:txBody>
      </p:sp>
      <p:sp>
        <p:nvSpPr>
          <p:cNvPr id="23" name="Rounded Rectangle 22"/>
          <p:cNvSpPr/>
          <p:nvPr/>
        </p:nvSpPr>
        <p:spPr>
          <a:xfrm>
            <a:off x="5010912" y="2539492"/>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No</a:t>
            </a:r>
          </a:p>
        </p:txBody>
      </p:sp>
      <p:sp>
        <p:nvSpPr>
          <p:cNvPr id="24" name="Rounded Rectangle 23"/>
          <p:cNvSpPr/>
          <p:nvPr/>
        </p:nvSpPr>
        <p:spPr>
          <a:xfrm>
            <a:off x="7150608" y="2539492"/>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N/A</a:t>
            </a:r>
          </a:p>
        </p:txBody>
      </p:sp>
      <p:sp>
        <p:nvSpPr>
          <p:cNvPr id="25" name="Rounded Rectangle 24"/>
          <p:cNvSpPr/>
          <p:nvPr/>
        </p:nvSpPr>
        <p:spPr>
          <a:xfrm>
            <a:off x="9290304" y="2539492"/>
            <a:ext cx="2114296"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Library internal: not in .dynsym at link time</a:t>
            </a:r>
          </a:p>
        </p:txBody>
      </p:sp>
      <p:sp>
        <p:nvSpPr>
          <p:cNvPr id="26" name="Rounded Rectangle 25"/>
          <p:cNvSpPr/>
          <p:nvPr/>
        </p:nvSpPr>
        <p:spPr>
          <a:xfrm>
            <a:off x="731520" y="2912364"/>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STV_PROTECTED</a:t>
            </a:r>
          </a:p>
        </p:txBody>
      </p:sp>
      <p:sp>
        <p:nvSpPr>
          <p:cNvPr id="27" name="Rounded Rectangle 26"/>
          <p:cNvSpPr/>
          <p:nvPr/>
        </p:nvSpPr>
        <p:spPr>
          <a:xfrm>
            <a:off x="2871216" y="2912364"/>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3</a:t>
            </a:r>
          </a:p>
        </p:txBody>
      </p:sp>
      <p:sp>
        <p:nvSpPr>
          <p:cNvPr id="28" name="Rounded Rectangle 27"/>
          <p:cNvSpPr/>
          <p:nvPr/>
        </p:nvSpPr>
        <p:spPr>
          <a:xfrm>
            <a:off x="5010912" y="2912364"/>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Yes</a:t>
            </a:r>
          </a:p>
        </p:txBody>
      </p:sp>
      <p:sp>
        <p:nvSpPr>
          <p:cNvPr id="29" name="Rounded Rectangle 28"/>
          <p:cNvSpPr/>
          <p:nvPr/>
        </p:nvSpPr>
        <p:spPr>
          <a:xfrm>
            <a:off x="7150608" y="2912364"/>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No</a:t>
            </a:r>
          </a:p>
        </p:txBody>
      </p:sp>
      <p:sp>
        <p:nvSpPr>
          <p:cNvPr id="30" name="Rounded Rectangle 29"/>
          <p:cNvSpPr/>
          <p:nvPr/>
        </p:nvSpPr>
        <p:spPr>
          <a:xfrm>
            <a:off x="9290304" y="2912364"/>
            <a:ext cx="2114296"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Exported but self-references bind locally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9</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Hash Tables:</a:t>
            </a:r>
            <a:br/>
            <a:r>
              <a:t>SysV .hash vs GNU .gnu.hash</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Accelerating symbol lookup — from O(n) chain walks to Bloom-filtered O(1)</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SysV .hash vs GNU .gnu.hash — Performance &amp; Design</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097280"/>
            <a:ext cx="5029200" cy="457200"/>
          </a:xfrm>
          <a:prstGeom prst="roundRect">
            <a:avLst/>
          </a:prstGeom>
          <a:solidFill>
            <a:srgbClr val="1C1C34"/>
          </a:solidFill>
          <a:ln w="254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600" b="1">
                <a:solidFill>
                  <a:srgbClr val="FF4444"/>
                </a:solidFill>
              </a:defRPr>
            </a:pPr>
            <a:r>
              <a:t>SysV .hash (Legacy)</a:t>
            </a:r>
          </a:p>
        </p:txBody>
      </p:sp>
      <p:sp>
        <p:nvSpPr>
          <p:cNvPr id="6" name="Rectangle 5"/>
          <p:cNvSpPr/>
          <p:nvPr/>
        </p:nvSpPr>
        <p:spPr>
          <a:xfrm>
            <a:off x="548640" y="1737360"/>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 y="173736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Layout: nbuckets + nchain + bucket[] + chain[]</a:t>
            </a:r>
          </a:p>
        </p:txBody>
      </p:sp>
      <p:sp>
        <p:nvSpPr>
          <p:cNvPr id="8" name="Rectangle 7"/>
          <p:cNvSpPr/>
          <p:nvPr/>
        </p:nvSpPr>
        <p:spPr>
          <a:xfrm>
            <a:off x="548640" y="2121408"/>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212140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nchain = total number of dynamic symbols</a:t>
            </a:r>
          </a:p>
        </p:txBody>
      </p:sp>
      <p:sp>
        <p:nvSpPr>
          <p:cNvPr id="10" name="Rectangle 9"/>
          <p:cNvSpPr/>
          <p:nvPr/>
        </p:nvSpPr>
        <p:spPr>
          <a:xfrm>
            <a:off x="548640" y="2505456"/>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 y="2505456"/>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Hash function: rotate-and-XOR (elf_hash)</a:t>
            </a:r>
          </a:p>
        </p:txBody>
      </p:sp>
      <p:sp>
        <p:nvSpPr>
          <p:cNvPr id="12" name="Rectangle 11"/>
          <p:cNvSpPr/>
          <p:nvPr/>
        </p:nvSpPr>
        <p:spPr>
          <a:xfrm>
            <a:off x="548640" y="2889504"/>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 y="2889504"/>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Every probe touches the symbol table (cold cache)</a:t>
            </a:r>
          </a:p>
        </p:txBody>
      </p:sp>
      <p:sp>
        <p:nvSpPr>
          <p:cNvPr id="14" name="Rectangle 13"/>
          <p:cNvSpPr/>
          <p:nvPr/>
        </p:nvSpPr>
        <p:spPr>
          <a:xfrm>
            <a:off x="548640" y="3273552"/>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 y="3273552"/>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Missing symbol → must walk chain to end</a:t>
            </a:r>
          </a:p>
        </p:txBody>
      </p:sp>
      <p:sp>
        <p:nvSpPr>
          <p:cNvPr id="16" name="Rectangle 15"/>
          <p:cNvSpPr/>
          <p:nvPr/>
        </p:nvSpPr>
        <p:spPr>
          <a:xfrm>
            <a:off x="548640" y="3657600"/>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 y="365760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No early termination for absent symbols</a:t>
            </a:r>
          </a:p>
        </p:txBody>
      </p:sp>
      <p:sp>
        <p:nvSpPr>
          <p:cNvPr id="18" name="Rectangle 17"/>
          <p:cNvSpPr/>
          <p:nvPr/>
        </p:nvSpPr>
        <p:spPr>
          <a:xfrm>
            <a:off x="548640" y="4041648"/>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 y="404164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O(n/nbuckets) average lookup</a:t>
            </a:r>
          </a:p>
        </p:txBody>
      </p:sp>
      <p:sp>
        <p:nvSpPr>
          <p:cNvPr id="20" name="Rectangle 19"/>
          <p:cNvSpPr/>
          <p:nvPr/>
        </p:nvSpPr>
        <p:spPr>
          <a:xfrm>
            <a:off x="548640" y="4425696"/>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792" y="4425696"/>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Still generated for compatibility with old loaders</a:t>
            </a:r>
          </a:p>
        </p:txBody>
      </p:sp>
      <p:sp>
        <p:nvSpPr>
          <p:cNvPr id="22" name="Rectangle 21"/>
          <p:cNvSpPr/>
          <p:nvPr/>
        </p:nvSpPr>
        <p:spPr>
          <a:xfrm>
            <a:off x="5623560" y="2743200"/>
            <a:ext cx="914400" cy="914400"/>
          </a:xfrm>
          <a:prstGeom prst="rect">
            <a:avLst/>
          </a:prstGeom>
          <a:solidFill>
            <a:srgbClr val="0A0A1A"/>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800" b="1">
                <a:solidFill>
                  <a:srgbClr val="FFD700"/>
                </a:solidFill>
              </a:defRPr>
            </a:pPr>
            <a:r>
              <a:t>&lt;&lt;</a:t>
            </a:r>
          </a:p>
        </p:txBody>
      </p:sp>
      <p:sp>
        <p:nvSpPr>
          <p:cNvPr id="23" name="Rounded Rectangle 22"/>
          <p:cNvSpPr/>
          <p:nvPr/>
        </p:nvSpPr>
        <p:spPr>
          <a:xfrm>
            <a:off x="6583680" y="1097280"/>
            <a:ext cx="5029200" cy="457200"/>
          </a:xfrm>
          <a:prstGeom prst="roundRect">
            <a:avLst/>
          </a:prstGeom>
          <a:solidFill>
            <a:srgbClr val="1C1C34"/>
          </a:solidFill>
          <a:ln w="254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600" b="1">
                <a:solidFill>
                  <a:srgbClr val="00FF88"/>
                </a:solidFill>
              </a:defRPr>
            </a:pPr>
            <a:r>
              <a:t>GNU .gnu.hash (Modern)</a:t>
            </a:r>
          </a:p>
        </p:txBody>
      </p:sp>
      <p:sp>
        <p:nvSpPr>
          <p:cNvPr id="24" name="Rectangle 23"/>
          <p:cNvSpPr/>
          <p:nvPr/>
        </p:nvSpPr>
        <p:spPr>
          <a:xfrm>
            <a:off x="6583680" y="1737360"/>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56832" y="173736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Layout: header + Bloom filter + bucket[] + chain[]</a:t>
            </a:r>
          </a:p>
        </p:txBody>
      </p:sp>
      <p:sp>
        <p:nvSpPr>
          <p:cNvPr id="26" name="Rectangle 25"/>
          <p:cNvSpPr/>
          <p:nvPr/>
        </p:nvSpPr>
        <p:spPr>
          <a:xfrm>
            <a:off x="6583680" y="2121408"/>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656832" y="212140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Bloom filter (64-bit words) for fast negative lookup</a:t>
            </a:r>
          </a:p>
        </p:txBody>
      </p:sp>
      <p:sp>
        <p:nvSpPr>
          <p:cNvPr id="28" name="Rectangle 27"/>
          <p:cNvSpPr/>
          <p:nvPr/>
        </p:nvSpPr>
        <p:spPr>
          <a:xfrm>
            <a:off x="6583680" y="2505456"/>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656832" y="2505456"/>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Hash function: DJB2 variant (h = h*33 + c)</a:t>
            </a:r>
          </a:p>
        </p:txBody>
      </p:sp>
      <p:sp>
        <p:nvSpPr>
          <p:cNvPr id="30" name="Rectangle 29"/>
          <p:cNvSpPr/>
          <p:nvPr/>
        </p:nvSpPr>
        <p:spPr>
          <a:xfrm>
            <a:off x="6583680" y="2889504"/>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656832" y="2889504"/>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Bloom probe eliminates absent symbols WITHOUT touching symtab</a:t>
            </a:r>
          </a:p>
        </p:txBody>
      </p:sp>
      <p:sp>
        <p:nvSpPr>
          <p:cNvPr id="32" name="Rectangle 31"/>
          <p:cNvSpPr/>
          <p:nvPr/>
        </p:nvSpPr>
        <p:spPr>
          <a:xfrm>
            <a:off x="6583680" y="3273552"/>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656832" y="3273552"/>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Chain stores HASH VALUES, not symbol indices</a:t>
            </a:r>
          </a:p>
        </p:txBody>
      </p:sp>
      <p:sp>
        <p:nvSpPr>
          <p:cNvPr id="34" name="Rectangle 33"/>
          <p:cNvSpPr/>
          <p:nvPr/>
        </p:nvSpPr>
        <p:spPr>
          <a:xfrm>
            <a:off x="6583680" y="3657600"/>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656832" y="365760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Most chain walks reject without symbol table access</a:t>
            </a:r>
          </a:p>
        </p:txBody>
      </p:sp>
      <p:sp>
        <p:nvSpPr>
          <p:cNvPr id="36" name="Rectangle 35"/>
          <p:cNvSpPr/>
          <p:nvPr/>
        </p:nvSpPr>
        <p:spPr>
          <a:xfrm>
            <a:off x="6583680" y="4041648"/>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656832" y="404164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Symbols sorted by bucket — contiguous in .dynsym</a:t>
            </a:r>
          </a:p>
        </p:txBody>
      </p:sp>
      <p:sp>
        <p:nvSpPr>
          <p:cNvPr id="38" name="Rectangle 37"/>
          <p:cNvSpPr/>
          <p:nvPr/>
        </p:nvSpPr>
        <p:spPr>
          <a:xfrm>
            <a:off x="6583680" y="4425696"/>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656832" y="4425696"/>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O(1) average for absent symbols (Bloom filter)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SysV Hash Function — elf_hash()</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9601200" y="320040"/>
            <a:ext cx="1828800" cy="274320"/>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D4FF"/>
                </a:solidFill>
              </a:defRPr>
            </a:pPr>
            <a:r>
              <a:t>C</a:t>
            </a:r>
          </a:p>
        </p:txBody>
      </p:sp>
      <p:sp>
        <p:nvSpPr>
          <p:cNvPr id="6" name="Rounded Rectangle 5"/>
          <p:cNvSpPr/>
          <p:nvPr/>
        </p:nvSpPr>
        <p:spPr>
          <a:xfrm>
            <a:off x="548640" y="1097280"/>
            <a:ext cx="10789920" cy="4389120"/>
          </a:xfrm>
          <a:prstGeom prst="roundRect">
            <a:avLst/>
          </a:prstGeom>
          <a:solidFill>
            <a:srgbClr val="14142A"/>
          </a:solidFill>
          <a:ln w="1270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cxnSp>
        <p:nvCxnSpPr>
          <p:cNvPr id="7" name="Connector 6"/>
          <p:cNvCxnSpPr/>
          <p:nvPr/>
        </p:nvCxnSpPr>
        <p:spPr>
          <a:xfrm>
            <a:off x="548640" y="1417320"/>
            <a:ext cx="10789920" cy="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7240" y="1207008"/>
            <a:ext cx="137160" cy="13716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Oval 8"/>
          <p:cNvSpPr/>
          <p:nvPr/>
        </p:nvSpPr>
        <p:spPr>
          <a:xfrm>
            <a:off x="1005840" y="1207008"/>
            <a:ext cx="137160" cy="1371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Oval 9"/>
          <p:cNvSpPr/>
          <p:nvPr/>
        </p:nvSpPr>
        <p:spPr>
          <a:xfrm>
            <a:off x="1234440" y="1207008"/>
            <a:ext cx="137160" cy="13716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777240" y="1508760"/>
            <a:ext cx="10332720" cy="3840480"/>
          </a:xfrm>
          <a:prstGeom prst="rect">
            <a:avLst/>
          </a:prstGeom>
          <a:noFill/>
        </p:spPr>
        <p:txBody>
          <a:bodyPr wrap="square" anchor="t"/>
          <a:lstStyle/>
          <a:p>
            <a:pPr algn="l">
              <a:defRPr sz="1000" b="0" i="0">
                <a:solidFill>
                  <a:srgbClr val="CCCCCC"/>
                </a:solidFill>
                <a:latin typeface="Consolas"/>
              </a:defRPr>
            </a:pPr>
            <a:r>
              <a:t>uint32_t elf_hash(const char *name) {</a:t>
            </a:r>
            <a:br/>
            <a:r>
              <a:t>    uint32_t h = 0, g;</a:t>
            </a:r>
            <a:br/>
            <a:r>
              <a:t>    while (*name) {</a:t>
            </a:r>
            <a:br/>
            <a:r>
              <a:t>        h = (h &lt;&lt; 4) + (unsigned char)*name++;</a:t>
            </a:r>
            <a:br/>
            <a:r>
              <a:t>        if ((g = h &amp; 0xF0000000))</a:t>
            </a:r>
            <a:br/>
            <a:r>
              <a:t>            h ^= g &gt;&gt; 24;</a:t>
            </a:r>
            <a:br/>
            <a:r>
              <a:t>        h &amp;= ~g;  // clear the high nibble</a:t>
            </a:r>
            <a:br/>
            <a:r>
              <a:t>    }</a:t>
            </a:r>
            <a:br/>
            <a:r>
              <a:t>    return h;</a:t>
            </a:r>
            <a:br/>
            <a:r>
              <a:t>}</a:t>
            </a:r>
            <a:br/>
            <a:br/>
            <a:r>
              <a:t>// Lookup:</a:t>
            </a:r>
            <a:br/>
            <a:r>
              <a:t>//   bucket_idx = elf_hash(name) % nbuckets</a:t>
            </a:r>
            <a:br/>
            <a:r>
              <a:t>//   i = bucket[bucket_idx]</a:t>
            </a:r>
            <a:br/>
            <a:r>
              <a:t>//   while (i != STN_UNDEF) {</a:t>
            </a:r>
            <a:br/>
            <a:r>
              <a:t>//       if (strcmp(dynsym[i].name, name) == 0) return &amp;dynsym[i];</a:t>
            </a:r>
            <a:br/>
            <a:r>
              <a:t>//       i = chain[i];  // follow chain</a:t>
            </a:r>
            <a:br/>
            <a:r>
              <a:t>//   }</a:t>
            </a:r>
          </a:p>
        </p:txBody>
      </p:sp>
      <p:sp>
        <p:nvSpPr>
          <p:cNvPr id="12" name="TextBox 11"/>
          <p:cNvSpPr txBox="1"/>
          <p:nvPr/>
        </p:nvSpPr>
        <p:spPr>
          <a:xfrm>
            <a:off x="731520" y="5623560"/>
            <a:ext cx="10515600" cy="274320"/>
          </a:xfrm>
          <a:prstGeom prst="rect">
            <a:avLst/>
          </a:prstGeom>
          <a:noFill/>
        </p:spPr>
        <p:txBody>
          <a:bodyPr wrap="square" anchor="t"/>
          <a:lstStyle/>
          <a:p>
            <a:pPr algn="l">
              <a:defRPr sz="1000" b="0" i="1">
                <a:solidFill>
                  <a:srgbClr val="999999"/>
                </a:solidFill>
              </a:defRPr>
            </a:pPr>
            <a:r>
              <a:t>→ Rotate-left-4 with high-nibble XOR — designed in the 1990s</a:t>
            </a:r>
          </a:p>
        </p:txBody>
      </p:sp>
      <p:sp>
        <p:nvSpPr>
          <p:cNvPr id="13" name="TextBox 12"/>
          <p:cNvSpPr txBox="1"/>
          <p:nvPr/>
        </p:nvSpPr>
        <p:spPr>
          <a:xfrm>
            <a:off x="731520" y="5879592"/>
            <a:ext cx="10515600" cy="274320"/>
          </a:xfrm>
          <a:prstGeom prst="rect">
            <a:avLst/>
          </a:prstGeom>
          <a:noFill/>
        </p:spPr>
        <p:txBody>
          <a:bodyPr wrap="square" anchor="t"/>
          <a:lstStyle/>
          <a:p>
            <a:pPr algn="l">
              <a:defRPr sz="1000" b="0" i="1">
                <a:solidFill>
                  <a:srgbClr val="999999"/>
                </a:solidFill>
              </a:defRPr>
            </a:pPr>
            <a:r>
              <a:t>→ Every chain step touches .dynsym (cache-hostile for large symbol tables)</a:t>
            </a:r>
          </a:p>
        </p:txBody>
      </p:sp>
      <p:sp>
        <p:nvSpPr>
          <p:cNvPr id="14" name="TextBox 13"/>
          <p:cNvSpPr txBox="1"/>
          <p:nvPr/>
        </p:nvSpPr>
        <p:spPr>
          <a:xfrm>
            <a:off x="731520" y="6135624"/>
            <a:ext cx="10515600" cy="274320"/>
          </a:xfrm>
          <a:prstGeom prst="rect">
            <a:avLst/>
          </a:prstGeom>
          <a:noFill/>
        </p:spPr>
        <p:txBody>
          <a:bodyPr wrap="square" anchor="t"/>
          <a:lstStyle/>
          <a:p>
            <a:pPr algn="l">
              <a:defRPr sz="1000" b="0" i="1">
                <a:solidFill>
                  <a:srgbClr val="999999"/>
                </a:solidFill>
              </a:defRPr>
            </a:pPr>
            <a:r>
              <a:t>→ Missing symbol requires full chain traversal — O(chain_length)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GNU Hash Function &amp; Bloom Filter Lookup</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9601200" y="320040"/>
            <a:ext cx="1828800" cy="274320"/>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D4FF"/>
                </a:solidFill>
              </a:defRPr>
            </a:pPr>
            <a:r>
              <a:t>C</a:t>
            </a:r>
          </a:p>
        </p:txBody>
      </p:sp>
      <p:sp>
        <p:nvSpPr>
          <p:cNvPr id="6" name="Rounded Rectangle 5"/>
          <p:cNvSpPr/>
          <p:nvPr/>
        </p:nvSpPr>
        <p:spPr>
          <a:xfrm>
            <a:off x="548640" y="1097280"/>
            <a:ext cx="10789920" cy="4389120"/>
          </a:xfrm>
          <a:prstGeom prst="roundRect">
            <a:avLst/>
          </a:prstGeom>
          <a:solidFill>
            <a:srgbClr val="14142A"/>
          </a:solidFill>
          <a:ln w="1270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cxnSp>
        <p:nvCxnSpPr>
          <p:cNvPr id="7" name="Connector 6"/>
          <p:cNvCxnSpPr/>
          <p:nvPr/>
        </p:nvCxnSpPr>
        <p:spPr>
          <a:xfrm>
            <a:off x="548640" y="1417320"/>
            <a:ext cx="10789920" cy="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7240" y="1207008"/>
            <a:ext cx="137160" cy="13716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Oval 8"/>
          <p:cNvSpPr/>
          <p:nvPr/>
        </p:nvSpPr>
        <p:spPr>
          <a:xfrm>
            <a:off x="1005840" y="1207008"/>
            <a:ext cx="137160" cy="1371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Oval 9"/>
          <p:cNvSpPr/>
          <p:nvPr/>
        </p:nvSpPr>
        <p:spPr>
          <a:xfrm>
            <a:off x="1234440" y="1207008"/>
            <a:ext cx="137160" cy="13716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777240" y="1508760"/>
            <a:ext cx="10332720" cy="3840480"/>
          </a:xfrm>
          <a:prstGeom prst="rect">
            <a:avLst/>
          </a:prstGeom>
          <a:noFill/>
        </p:spPr>
        <p:txBody>
          <a:bodyPr wrap="square" anchor="t"/>
          <a:lstStyle/>
          <a:p>
            <a:pPr algn="l">
              <a:defRPr sz="1000" b="0" i="0">
                <a:solidFill>
                  <a:srgbClr val="CCCCCC"/>
                </a:solidFill>
                <a:latin typeface="Consolas"/>
              </a:defRPr>
            </a:pPr>
            <a:r>
              <a:t>uint32_t gnu_hash(const char *name) {</a:t>
            </a:r>
            <a:br/>
            <a:r>
              <a:t>    uint32_t h = 5381;</a:t>
            </a:r>
            <a:br/>
            <a:r>
              <a:t>    while (*name)</a:t>
            </a:r>
            <a:br/>
            <a:r>
              <a:t>        h = (h * 33) + (unsigned char)*name++;</a:t>
            </a:r>
            <a:br/>
            <a:r>
              <a:t>    return h;</a:t>
            </a:r>
            <a:br/>
            <a:r>
              <a:t>}</a:t>
            </a:r>
            <a:br/>
            <a:br/>
            <a:r>
              <a:t>// 3-stage lookup:</a:t>
            </a:r>
            <a:br/>
            <a:r>
              <a:t>// Stage 1: Bloom filter (fast negative)</a:t>
            </a:r>
            <a:br/>
            <a:r>
              <a:t>//   word = bloom[(h / 64) % bloom_size]</a:t>
            </a:r>
            <a:br/>
            <a:r>
              <a:t>//   bit1 = (h) % 64</a:t>
            </a:r>
            <a:br/>
            <a:r>
              <a:t>//   bit2 = (h &gt;&gt; bloom_shift) % 64</a:t>
            </a:r>
            <a:br/>
            <a:r>
              <a:t>//   if (!(word &amp; (1ULL &lt;&lt; bit1)) || !(word &amp; (1ULL &lt;&lt; bit2)))</a:t>
            </a:r>
            <a:br/>
            <a:r>
              <a:t>//       return NULL;  // DEFINITELY not in this DSO</a:t>
            </a:r>
            <a:br/>
            <a:r>
              <a:t>//</a:t>
            </a:r>
            <a:br/>
            <a:r>
              <a:t>// Stage 2: Bucket probe</a:t>
            </a:r>
            <a:br/>
            <a:r>
              <a:t>//   i = bucket[h % nbuckets]</a:t>
            </a:r>
            <a:br/>
            <a:r>
              <a:t>//   if (i &lt; symoffset) return NULL;</a:t>
            </a:r>
            <a:br/>
            <a:r>
              <a:t>//</a:t>
            </a:r>
            <a:br/>
            <a:r>
              <a:t>// Stage 3: Chain walk (compares hash values, not names)</a:t>
            </a:r>
            <a:br/>
            <a:r>
              <a:t>//   while (true) {</a:t>
            </a:r>
            <a:br/>
            <a:r>
              <a:t>//       if ((chain[i - symoffset] | 1) == (h | 1))  // hash match</a:t>
            </a:r>
            <a:br/>
            <a:r>
              <a:t>//           if (strcmp(dynsym[i].name, name) == 0) return &amp;dynsym[i];</a:t>
            </a:r>
            <a:br/>
            <a:r>
              <a:t>//       if (chain[i - symoffset] &amp; 1) break;  // end of chain</a:t>
            </a:r>
            <a:br/>
            <a:r>
              <a:t>//       i++;</a:t>
            </a:r>
            <a:br/>
            <a:r>
              <a:t>//   }</a:t>
            </a:r>
          </a:p>
        </p:txBody>
      </p:sp>
      <p:sp>
        <p:nvSpPr>
          <p:cNvPr id="12" name="TextBox 11"/>
          <p:cNvSpPr txBox="1"/>
          <p:nvPr/>
        </p:nvSpPr>
        <p:spPr>
          <a:xfrm>
            <a:off x="731520" y="5623560"/>
            <a:ext cx="10515600" cy="274320"/>
          </a:xfrm>
          <a:prstGeom prst="rect">
            <a:avLst/>
          </a:prstGeom>
          <a:noFill/>
        </p:spPr>
        <p:txBody>
          <a:bodyPr wrap="square" anchor="t"/>
          <a:lstStyle/>
          <a:p>
            <a:pPr algn="l">
              <a:defRPr sz="1000" b="0" i="1">
                <a:solidFill>
                  <a:srgbClr val="999999"/>
                </a:solidFill>
              </a:defRPr>
            </a:pPr>
            <a:r>
              <a:t>→ Bloom filter eliminates absent symbols without any .dynsym access</a:t>
            </a:r>
          </a:p>
        </p:txBody>
      </p:sp>
      <p:sp>
        <p:nvSpPr>
          <p:cNvPr id="13" name="TextBox 12"/>
          <p:cNvSpPr txBox="1"/>
          <p:nvPr/>
        </p:nvSpPr>
        <p:spPr>
          <a:xfrm>
            <a:off x="731520" y="5879592"/>
            <a:ext cx="10515600" cy="274320"/>
          </a:xfrm>
          <a:prstGeom prst="rect">
            <a:avLst/>
          </a:prstGeom>
          <a:noFill/>
        </p:spPr>
        <p:txBody>
          <a:bodyPr wrap="square" anchor="t"/>
          <a:lstStyle/>
          <a:p>
            <a:pPr algn="l">
              <a:defRPr sz="1000" b="0" i="1">
                <a:solidFill>
                  <a:srgbClr val="999999"/>
                </a:solidFill>
              </a:defRPr>
            </a:pPr>
            <a:r>
              <a:t>→ Chain stores hash values — most rejections avoid strcmp entirely</a:t>
            </a:r>
          </a:p>
        </p:txBody>
      </p:sp>
      <p:sp>
        <p:nvSpPr>
          <p:cNvPr id="14" name="TextBox 13"/>
          <p:cNvSpPr txBox="1"/>
          <p:nvPr/>
        </p:nvSpPr>
        <p:spPr>
          <a:xfrm>
            <a:off x="731520" y="6135624"/>
            <a:ext cx="10515600" cy="274320"/>
          </a:xfrm>
          <a:prstGeom prst="rect">
            <a:avLst/>
          </a:prstGeom>
          <a:noFill/>
        </p:spPr>
        <p:txBody>
          <a:bodyPr wrap="square" anchor="t"/>
          <a:lstStyle/>
          <a:p>
            <a:pPr algn="l">
              <a:defRPr sz="1000" b="0" i="1">
                <a:solidFill>
                  <a:srgbClr val="999999"/>
                </a:solidFill>
              </a:defRPr>
            </a:pPr>
            <a:r>
              <a:t>→ DJB2 variant: better distribution than SysV hash, fewer collisions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GNU Hash Bloom Filter — Fast Negative Lookup</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The dominant performance win: skipping entire DSOs for absent symbols</a:t>
            </a:r>
          </a:p>
        </p:txBody>
      </p:sp>
      <p:sp>
        <p:nvSpPr>
          <p:cNvPr id="6" name="Rounded Rectangle 5"/>
          <p:cNvSpPr/>
          <p:nvPr/>
        </p:nvSpPr>
        <p:spPr>
          <a:xfrm>
            <a:off x="568960" y="1803400"/>
            <a:ext cx="1879600" cy="736600"/>
          </a:xfrm>
          <a:prstGeom prst="roundRect">
            <a:avLst/>
          </a:prstGeom>
          <a:noFill/>
          <a:ln w="317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7" name="Rounded Rectangle 6"/>
          <p:cNvSpPr/>
          <p:nvPr/>
        </p:nvSpPr>
        <p:spPr>
          <a:xfrm>
            <a:off x="594360" y="1828800"/>
            <a:ext cx="1828800" cy="68580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Compute</a:t>
            </a:r>
            <a:br/>
            <a:r>
              <a:t>gnu_hash(name)</a:t>
            </a:r>
          </a:p>
        </p:txBody>
      </p:sp>
      <p:sp>
        <p:nvSpPr>
          <p:cNvPr id="8" name="Right Arrow 7"/>
          <p:cNvSpPr/>
          <p:nvPr/>
        </p:nvSpPr>
        <p:spPr>
          <a:xfrm>
            <a:off x="2473960" y="2034540"/>
            <a:ext cx="264160" cy="228600"/>
          </a:xfrm>
          <a:prstGeom prst="rightArrow">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63520" y="1803400"/>
            <a:ext cx="1879600" cy="736600"/>
          </a:xfrm>
          <a:prstGeom prst="roundRect">
            <a:avLst/>
          </a:prstGeom>
          <a:noFill/>
          <a:ln w="317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Rounded Rectangle 9"/>
          <p:cNvSpPr/>
          <p:nvPr/>
        </p:nvSpPr>
        <p:spPr>
          <a:xfrm>
            <a:off x="2788920" y="1828800"/>
            <a:ext cx="1828800" cy="685800"/>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Test bit 1:</a:t>
            </a:r>
            <a:br/>
            <a:r>
              <a:t>h % 64</a:t>
            </a:r>
          </a:p>
        </p:txBody>
      </p:sp>
      <p:sp>
        <p:nvSpPr>
          <p:cNvPr id="11" name="Right Arrow 10"/>
          <p:cNvSpPr/>
          <p:nvPr/>
        </p:nvSpPr>
        <p:spPr>
          <a:xfrm>
            <a:off x="4668520" y="2034540"/>
            <a:ext cx="264160" cy="228600"/>
          </a:xfrm>
          <a:prstGeom prst="rightArrow">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58080" y="1803400"/>
            <a:ext cx="1879600" cy="736600"/>
          </a:xfrm>
          <a:prstGeom prst="roundRect">
            <a:avLst/>
          </a:prstGeom>
          <a:noFill/>
          <a:ln w="317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3" name="Rounded Rectangle 12"/>
          <p:cNvSpPr/>
          <p:nvPr/>
        </p:nvSpPr>
        <p:spPr>
          <a:xfrm>
            <a:off x="4983480" y="1828800"/>
            <a:ext cx="1828800" cy="68580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Test bit 2:</a:t>
            </a:r>
            <a:br/>
            <a:r>
              <a:t>(h &gt;&gt; shift) % 64</a:t>
            </a:r>
          </a:p>
        </p:txBody>
      </p:sp>
      <p:sp>
        <p:nvSpPr>
          <p:cNvPr id="14" name="Right Arrow 13"/>
          <p:cNvSpPr/>
          <p:nvPr/>
        </p:nvSpPr>
        <p:spPr>
          <a:xfrm>
            <a:off x="6863080" y="2034540"/>
            <a:ext cx="264160" cy="228600"/>
          </a:xfrm>
          <a:prstGeom prst="righ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52640" y="1803400"/>
            <a:ext cx="1879600" cy="736600"/>
          </a:xfrm>
          <a:prstGeom prst="roundRect">
            <a:avLst/>
          </a:prstGeom>
          <a:noFill/>
          <a:ln w="317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6" name="Rounded Rectangle 15"/>
          <p:cNvSpPr/>
          <p:nvPr/>
        </p:nvSpPr>
        <p:spPr>
          <a:xfrm>
            <a:off x="7178040" y="1828800"/>
            <a:ext cx="1828800" cy="68580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Either 0?</a:t>
            </a:r>
            <a:br/>
            <a:r>
              <a:t>→ NOT HERE</a:t>
            </a:r>
          </a:p>
        </p:txBody>
      </p:sp>
      <p:sp>
        <p:nvSpPr>
          <p:cNvPr id="17" name="Right Arrow 16"/>
          <p:cNvSpPr/>
          <p:nvPr/>
        </p:nvSpPr>
        <p:spPr>
          <a:xfrm>
            <a:off x="9057640" y="2034540"/>
            <a:ext cx="264160" cy="228600"/>
          </a:xfrm>
          <a:prstGeom prst="rightArrow">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347200" y="1803400"/>
            <a:ext cx="1879600" cy="736600"/>
          </a:xfrm>
          <a:prstGeom prst="roundRect">
            <a:avLst/>
          </a:prstGeom>
          <a:noFill/>
          <a:ln w="317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9" name="Rounded Rectangle 18"/>
          <p:cNvSpPr/>
          <p:nvPr/>
        </p:nvSpPr>
        <p:spPr>
          <a:xfrm>
            <a:off x="9372600" y="1828800"/>
            <a:ext cx="1828800" cy="685800"/>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Both 1?</a:t>
            </a:r>
            <a:br/>
            <a:r>
              <a:t>→ Check bucket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Hash Table Performance Comparison</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pic>
        <p:nvPicPr>
          <p:cNvPr id="5" name="Picture 4" descr="image.png"/>
          <p:cNvPicPr>
            <a:picLocks noChangeAspect="1"/>
          </p:cNvPicPr>
          <p:nvPr/>
        </p:nvPicPr>
        <p:blipFill>
          <a:blip r:embed="rId2"/>
          <a:stretch>
            <a:fillRect/>
          </a:stretch>
        </p:blipFill>
        <p:spPr>
          <a:xfrm>
            <a:off x="457200" y="1188720"/>
            <a:ext cx="5486400" cy="5029200"/>
          </a:xfrm>
          <a:prstGeom prst="rect">
            <a:avLst/>
          </a:prstGeom>
        </p:spPr>
      </p:pic>
      <p:sp>
        <p:nvSpPr>
          <p:cNvPr id="6" name="TextBox 5"/>
          <p:cNvSpPr txBox="1"/>
          <p:nvPr/>
        </p:nvSpPr>
        <p:spPr>
          <a:xfrm>
            <a:off x="6400800" y="1188720"/>
            <a:ext cx="5029200" cy="320040"/>
          </a:xfrm>
          <a:prstGeom prst="rect">
            <a:avLst/>
          </a:prstGeom>
          <a:noFill/>
        </p:spPr>
        <p:txBody>
          <a:bodyPr wrap="square" anchor="t"/>
          <a:lstStyle/>
          <a:p>
            <a:pPr algn="l">
              <a:defRPr sz="1100" b="0" i="0">
                <a:solidFill>
                  <a:srgbClr val="CCCCCC"/>
                </a:solidFill>
              </a:defRPr>
            </a:pPr>
            <a:r>
              <a:t>▸ GNU .gnu.hash is 5-10x faster for absent symbols</a:t>
            </a:r>
          </a:p>
        </p:txBody>
      </p:sp>
      <p:sp>
        <p:nvSpPr>
          <p:cNvPr id="7" name="TextBox 6"/>
          <p:cNvSpPr txBox="1"/>
          <p:nvPr/>
        </p:nvSpPr>
        <p:spPr>
          <a:xfrm>
            <a:off x="6400800" y="1536192"/>
            <a:ext cx="5029200" cy="320040"/>
          </a:xfrm>
          <a:prstGeom prst="rect">
            <a:avLst/>
          </a:prstGeom>
          <a:noFill/>
        </p:spPr>
        <p:txBody>
          <a:bodyPr wrap="square" anchor="t"/>
          <a:lstStyle/>
          <a:p>
            <a:pPr algn="l">
              <a:defRPr sz="1100" b="0" i="0">
                <a:solidFill>
                  <a:srgbClr val="CCCCCC"/>
                </a:solidFill>
              </a:defRPr>
            </a:pPr>
            <a:r>
              <a:t>▸ Bloom filter eliminates most lookups without touching .dynsym</a:t>
            </a:r>
          </a:p>
        </p:txBody>
      </p:sp>
      <p:sp>
        <p:nvSpPr>
          <p:cNvPr id="8" name="TextBox 7"/>
          <p:cNvSpPr txBox="1"/>
          <p:nvPr/>
        </p:nvSpPr>
        <p:spPr>
          <a:xfrm>
            <a:off x="6400800" y="1883664"/>
            <a:ext cx="5029200" cy="320040"/>
          </a:xfrm>
          <a:prstGeom prst="rect">
            <a:avLst/>
          </a:prstGeom>
          <a:noFill/>
        </p:spPr>
        <p:txBody>
          <a:bodyPr wrap="square" anchor="t"/>
          <a:lstStyle/>
          <a:p>
            <a:pPr algn="l">
              <a:defRPr sz="1100" b="0" i="0">
                <a:solidFill>
                  <a:srgbClr val="CCCCCC"/>
                </a:solidFill>
              </a:defRPr>
            </a:pPr>
            <a:r>
              <a:t>▸ Chain stores hash values — strcmp avoided for mismatches</a:t>
            </a:r>
          </a:p>
        </p:txBody>
      </p:sp>
      <p:sp>
        <p:nvSpPr>
          <p:cNvPr id="9" name="TextBox 8"/>
          <p:cNvSpPr txBox="1"/>
          <p:nvPr/>
        </p:nvSpPr>
        <p:spPr>
          <a:xfrm>
            <a:off x="6400800" y="2231136"/>
            <a:ext cx="5029200" cy="320040"/>
          </a:xfrm>
          <a:prstGeom prst="rect">
            <a:avLst/>
          </a:prstGeom>
          <a:noFill/>
        </p:spPr>
        <p:txBody>
          <a:bodyPr wrap="square" anchor="t"/>
          <a:lstStyle/>
          <a:p>
            <a:pPr algn="l">
              <a:defRPr sz="1100" b="0" i="0">
                <a:solidFill>
                  <a:srgbClr val="CCCCCC"/>
                </a:solidFill>
              </a:defRPr>
            </a:pPr>
            <a:r>
              <a:t>▸ Impact: process startup time significantly reduced</a:t>
            </a:r>
          </a:p>
        </p:txBody>
      </p:sp>
      <p:sp>
        <p:nvSpPr>
          <p:cNvPr id="10" name="TextBox 9"/>
          <p:cNvSpPr txBox="1"/>
          <p:nvPr/>
        </p:nvSpPr>
        <p:spPr>
          <a:xfrm>
            <a:off x="6400800" y="2578608"/>
            <a:ext cx="5029200" cy="320040"/>
          </a:xfrm>
          <a:prstGeom prst="rect">
            <a:avLst/>
          </a:prstGeom>
          <a:noFill/>
        </p:spPr>
        <p:txBody>
          <a:bodyPr wrap="square" anchor="t"/>
          <a:lstStyle/>
          <a:p>
            <a:pPr algn="l">
              <a:defRPr sz="1100" b="0" i="0">
                <a:solidFill>
                  <a:srgbClr val="CCCCCC"/>
                </a:solidFill>
              </a:defRPr>
            </a:pPr>
            <a:r>
              <a:t>▸ Build systems: both can coexist; loader prefers .gnu.hash</a:t>
            </a:r>
          </a:p>
        </p:txBody>
      </p:sp>
      <p:sp>
        <p:nvSpPr>
          <p:cNvPr id="11" name="TextBox 10"/>
          <p:cNvSpPr txBox="1"/>
          <p:nvPr/>
        </p:nvSpPr>
        <p:spPr>
          <a:xfrm>
            <a:off x="6400800" y="2926080"/>
            <a:ext cx="5029200" cy="320040"/>
          </a:xfrm>
          <a:prstGeom prst="rect">
            <a:avLst/>
          </a:prstGeom>
          <a:noFill/>
        </p:spPr>
        <p:txBody>
          <a:bodyPr wrap="square" anchor="t"/>
          <a:lstStyle/>
          <a:p>
            <a:pPr algn="l">
              <a:defRPr sz="1100" b="0" i="0">
                <a:solidFill>
                  <a:srgbClr val="CCCCCC"/>
                </a:solidFill>
              </a:defRPr>
            </a:pPr>
            <a:r>
              <a:t>▸ If only DT_GNU_HASH present, old loaders fail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10</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Relocations</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The dynamic linker's patching instructions — from RELATIVE to JUMP_SLOT</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Elf64_Rela — Relocation Entry with Explicit Addend</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9601200" y="320040"/>
            <a:ext cx="1828800" cy="274320"/>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D4FF"/>
                </a:solidFill>
              </a:defRPr>
            </a:pPr>
            <a:r>
              <a:t>C (elf.h)</a:t>
            </a:r>
          </a:p>
        </p:txBody>
      </p:sp>
      <p:sp>
        <p:nvSpPr>
          <p:cNvPr id="6" name="Rounded Rectangle 5"/>
          <p:cNvSpPr/>
          <p:nvPr/>
        </p:nvSpPr>
        <p:spPr>
          <a:xfrm>
            <a:off x="548640" y="1097280"/>
            <a:ext cx="10789920" cy="4389120"/>
          </a:xfrm>
          <a:prstGeom prst="roundRect">
            <a:avLst/>
          </a:prstGeom>
          <a:solidFill>
            <a:srgbClr val="14142A"/>
          </a:solidFill>
          <a:ln w="1270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cxnSp>
        <p:nvCxnSpPr>
          <p:cNvPr id="7" name="Connector 6"/>
          <p:cNvCxnSpPr/>
          <p:nvPr/>
        </p:nvCxnSpPr>
        <p:spPr>
          <a:xfrm>
            <a:off x="548640" y="1417320"/>
            <a:ext cx="10789920" cy="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7240" y="1207008"/>
            <a:ext cx="137160" cy="13716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Oval 8"/>
          <p:cNvSpPr/>
          <p:nvPr/>
        </p:nvSpPr>
        <p:spPr>
          <a:xfrm>
            <a:off x="1005840" y="1207008"/>
            <a:ext cx="137160" cy="1371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Oval 9"/>
          <p:cNvSpPr/>
          <p:nvPr/>
        </p:nvSpPr>
        <p:spPr>
          <a:xfrm>
            <a:off x="1234440" y="1207008"/>
            <a:ext cx="137160" cy="13716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777240" y="1508760"/>
            <a:ext cx="10332720" cy="3840480"/>
          </a:xfrm>
          <a:prstGeom prst="rect">
            <a:avLst/>
          </a:prstGeom>
          <a:noFill/>
        </p:spPr>
        <p:txBody>
          <a:bodyPr wrap="square" anchor="t"/>
          <a:lstStyle/>
          <a:p>
            <a:pPr algn="l">
              <a:defRPr sz="1000" b="0" i="0">
                <a:solidFill>
                  <a:srgbClr val="CCCCCC"/>
                </a:solidFill>
                <a:latin typeface="Consolas"/>
              </a:defRPr>
            </a:pPr>
            <a:r>
              <a:t>typedef struct {</a:t>
            </a:r>
            <a:br/>
            <a:r>
              <a:t>    Elf64_Addr   r_offset;   // Virtual address to be patched</a:t>
            </a:r>
            <a:br/>
            <a:r>
              <a:t>    Elf64_Xword  r_info;     // (sym_index &lt;&lt; 32) | type</a:t>
            </a:r>
            <a:br/>
            <a:r>
              <a:t>    Elf64_Sxword r_addend;   // Explicit addend</a:t>
            </a:r>
            <a:br/>
            <a:r>
              <a:t>} Elf64_Rela;  // 24 bytes</a:t>
            </a:r>
            <a:br/>
            <a:br/>
            <a:r>
              <a:t>// Extract fields:</a:t>
            </a:r>
            <a:br/>
            <a:r>
              <a:t>//   ELF64_R_SYM(info)  = (info) &gt;&gt; 32     // symbol table index</a:t>
            </a:r>
            <a:br/>
            <a:r>
              <a:t>//   ELF64_R_TYPE(info)  = (info) &amp; 0xFFFFFFFF  // relocation type</a:t>
            </a:r>
            <a:br/>
            <a:r>
              <a:t>//   ELF64_R_INFO(sym, type) = ((sym) &lt;&lt; 32) | (type)</a:t>
            </a:r>
            <a:br/>
            <a:br/>
            <a:r>
              <a:t>// Two relocation tables in a typical binary:</a:t>
            </a:r>
            <a:br/>
            <a:r>
              <a:t>//   .rela.dyn  — relocations applied eagerly at load time</a:t>
            </a:r>
            <a:br/>
            <a:r>
              <a:t>//   .rela.plt  — PLT relocations (lazy unless BIND_NOW)</a:t>
            </a:r>
          </a:p>
        </p:txBody>
      </p:sp>
      <p:sp>
        <p:nvSpPr>
          <p:cNvPr id="12" name="TextBox 11"/>
          <p:cNvSpPr txBox="1"/>
          <p:nvPr/>
        </p:nvSpPr>
        <p:spPr>
          <a:xfrm>
            <a:off x="731520" y="5623560"/>
            <a:ext cx="10515600" cy="274320"/>
          </a:xfrm>
          <a:prstGeom prst="rect">
            <a:avLst/>
          </a:prstGeom>
          <a:noFill/>
        </p:spPr>
        <p:txBody>
          <a:bodyPr wrap="square" anchor="t"/>
          <a:lstStyle/>
          <a:p>
            <a:pPr algn="l">
              <a:defRPr sz="1000" b="0" i="1">
                <a:solidFill>
                  <a:srgbClr val="999999"/>
                </a:solidFill>
              </a:defRPr>
            </a:pPr>
            <a:r>
              <a:t>→ r_offset: where to write the computed value (GOT slot, data pointer, etc.)</a:t>
            </a:r>
          </a:p>
        </p:txBody>
      </p:sp>
      <p:sp>
        <p:nvSpPr>
          <p:cNvPr id="13" name="TextBox 12"/>
          <p:cNvSpPr txBox="1"/>
          <p:nvPr/>
        </p:nvSpPr>
        <p:spPr>
          <a:xfrm>
            <a:off x="731520" y="5879592"/>
            <a:ext cx="10515600" cy="274320"/>
          </a:xfrm>
          <a:prstGeom prst="rect">
            <a:avLst/>
          </a:prstGeom>
          <a:noFill/>
        </p:spPr>
        <p:txBody>
          <a:bodyPr wrap="square" anchor="t"/>
          <a:lstStyle/>
          <a:p>
            <a:pPr algn="l">
              <a:defRPr sz="1000" b="0" i="1">
                <a:solidFill>
                  <a:srgbClr val="999999"/>
                </a:solidFill>
              </a:defRPr>
            </a:pPr>
            <a:r>
              <a:t>→ r_info packs both the symbol index AND the relocation type</a:t>
            </a:r>
          </a:p>
        </p:txBody>
      </p:sp>
      <p:sp>
        <p:nvSpPr>
          <p:cNvPr id="14" name="TextBox 13"/>
          <p:cNvSpPr txBox="1"/>
          <p:nvPr/>
        </p:nvSpPr>
        <p:spPr>
          <a:xfrm>
            <a:off x="731520" y="6135624"/>
            <a:ext cx="10515600" cy="274320"/>
          </a:xfrm>
          <a:prstGeom prst="rect">
            <a:avLst/>
          </a:prstGeom>
          <a:noFill/>
        </p:spPr>
        <p:txBody>
          <a:bodyPr wrap="square" anchor="t"/>
          <a:lstStyle/>
          <a:p>
            <a:pPr algn="l">
              <a:defRPr sz="1000" b="0" i="1">
                <a:solidFill>
                  <a:srgbClr val="999999"/>
                </a:solidFill>
              </a:defRPr>
            </a:pPr>
            <a:r>
              <a:t>→ x86_64 uses RELA (explicit addend); ARM32 uses REL (implicit addend in target)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x86_64 Relocation Types — Complete Reference</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The relocation type determines the formula for computing the patched value</a:t>
            </a:r>
          </a:p>
        </p:txBody>
      </p:sp>
      <p:sp>
        <p:nvSpPr>
          <p:cNvPr id="6" name="Rounded Rectangle 5"/>
          <p:cNvSpPr/>
          <p:nvPr/>
        </p:nvSpPr>
        <p:spPr>
          <a:xfrm>
            <a:off x="731520" y="1371600"/>
            <a:ext cx="2649220" cy="384048"/>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D4FF"/>
                </a:solidFill>
              </a:defRPr>
            </a:pPr>
            <a:r>
              <a:t>Type</a:t>
            </a:r>
          </a:p>
        </p:txBody>
      </p:sp>
      <p:sp>
        <p:nvSpPr>
          <p:cNvPr id="7" name="Rounded Rectangle 6"/>
          <p:cNvSpPr/>
          <p:nvPr/>
        </p:nvSpPr>
        <p:spPr>
          <a:xfrm>
            <a:off x="3406140" y="1371600"/>
            <a:ext cx="2649220" cy="384048"/>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00FF88"/>
                </a:solidFill>
              </a:defRPr>
            </a:pPr>
            <a:r>
              <a:t>Value</a:t>
            </a:r>
          </a:p>
        </p:txBody>
      </p:sp>
      <p:sp>
        <p:nvSpPr>
          <p:cNvPr id="8" name="Rounded Rectangle 7"/>
          <p:cNvSpPr/>
          <p:nvPr/>
        </p:nvSpPr>
        <p:spPr>
          <a:xfrm>
            <a:off x="6080760" y="1371600"/>
            <a:ext cx="2649220" cy="384048"/>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D700"/>
                </a:solidFill>
              </a:defRPr>
            </a:pPr>
            <a:r>
              <a:t>Formula</a:t>
            </a:r>
          </a:p>
        </p:txBody>
      </p:sp>
      <p:sp>
        <p:nvSpPr>
          <p:cNvPr id="9" name="Rounded Rectangle 8"/>
          <p:cNvSpPr/>
          <p:nvPr/>
        </p:nvSpPr>
        <p:spPr>
          <a:xfrm>
            <a:off x="8755380" y="1371600"/>
            <a:ext cx="2649220" cy="384048"/>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4444"/>
                </a:solidFill>
              </a:defRPr>
            </a:pPr>
            <a:r>
              <a:t>Use Case</a:t>
            </a:r>
          </a:p>
        </p:txBody>
      </p:sp>
      <p:sp>
        <p:nvSpPr>
          <p:cNvPr id="10" name="Rounded Rectangle 9"/>
          <p:cNvSpPr/>
          <p:nvPr/>
        </p:nvSpPr>
        <p:spPr>
          <a:xfrm>
            <a:off x="73152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R_X86_64_RELATIVE</a:t>
            </a:r>
          </a:p>
        </p:txBody>
      </p:sp>
      <p:sp>
        <p:nvSpPr>
          <p:cNvPr id="11" name="Rounded Rectangle 10"/>
          <p:cNvSpPr/>
          <p:nvPr/>
        </p:nvSpPr>
        <p:spPr>
          <a:xfrm>
            <a:off x="340614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8</a:t>
            </a:r>
          </a:p>
        </p:txBody>
      </p:sp>
      <p:sp>
        <p:nvSpPr>
          <p:cNvPr id="12" name="Rounded Rectangle 11"/>
          <p:cNvSpPr/>
          <p:nvPr/>
        </p:nvSpPr>
        <p:spPr>
          <a:xfrm>
            <a:off x="608076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*offset = base + addend</a:t>
            </a:r>
          </a:p>
        </p:txBody>
      </p:sp>
      <p:sp>
        <p:nvSpPr>
          <p:cNvPr id="13" name="Rounded Rectangle 12"/>
          <p:cNvSpPr/>
          <p:nvPr/>
        </p:nvSpPr>
        <p:spPr>
          <a:xfrm>
            <a:off x="8755380" y="1793748"/>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Self-refs in PIE (most common)</a:t>
            </a:r>
          </a:p>
        </p:txBody>
      </p:sp>
      <p:sp>
        <p:nvSpPr>
          <p:cNvPr id="14" name="Rounded Rectangle 13"/>
          <p:cNvSpPr/>
          <p:nvPr/>
        </p:nvSpPr>
        <p:spPr>
          <a:xfrm>
            <a:off x="73152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R_X86_64_GLOB_DAT</a:t>
            </a:r>
          </a:p>
        </p:txBody>
      </p:sp>
      <p:sp>
        <p:nvSpPr>
          <p:cNvPr id="15" name="Rounded Rectangle 14"/>
          <p:cNvSpPr/>
          <p:nvPr/>
        </p:nvSpPr>
        <p:spPr>
          <a:xfrm>
            <a:off x="340614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6</a:t>
            </a:r>
          </a:p>
        </p:txBody>
      </p:sp>
      <p:sp>
        <p:nvSpPr>
          <p:cNvPr id="16" name="Rounded Rectangle 15"/>
          <p:cNvSpPr/>
          <p:nvPr/>
        </p:nvSpPr>
        <p:spPr>
          <a:xfrm>
            <a:off x="608076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*offset = sym_addr</a:t>
            </a:r>
          </a:p>
        </p:txBody>
      </p:sp>
      <p:sp>
        <p:nvSpPr>
          <p:cNvPr id="17" name="Rounded Rectangle 16"/>
          <p:cNvSpPr/>
          <p:nvPr/>
        </p:nvSpPr>
        <p:spPr>
          <a:xfrm>
            <a:off x="8755380" y="2166620"/>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GOT entries for global variables</a:t>
            </a:r>
          </a:p>
        </p:txBody>
      </p:sp>
      <p:sp>
        <p:nvSpPr>
          <p:cNvPr id="18" name="Rounded Rectangle 17"/>
          <p:cNvSpPr/>
          <p:nvPr/>
        </p:nvSpPr>
        <p:spPr>
          <a:xfrm>
            <a:off x="73152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R_X86_64_JUMP_SLOT</a:t>
            </a:r>
          </a:p>
        </p:txBody>
      </p:sp>
      <p:sp>
        <p:nvSpPr>
          <p:cNvPr id="19" name="Rounded Rectangle 18"/>
          <p:cNvSpPr/>
          <p:nvPr/>
        </p:nvSpPr>
        <p:spPr>
          <a:xfrm>
            <a:off x="340614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7</a:t>
            </a:r>
          </a:p>
        </p:txBody>
      </p:sp>
      <p:sp>
        <p:nvSpPr>
          <p:cNvPr id="20" name="Rounded Rectangle 19"/>
          <p:cNvSpPr/>
          <p:nvPr/>
        </p:nvSpPr>
        <p:spPr>
          <a:xfrm>
            <a:off x="608076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*offset = sym_addr</a:t>
            </a:r>
          </a:p>
        </p:txBody>
      </p:sp>
      <p:sp>
        <p:nvSpPr>
          <p:cNvPr id="21" name="Rounded Rectangle 20"/>
          <p:cNvSpPr/>
          <p:nvPr/>
        </p:nvSpPr>
        <p:spPr>
          <a:xfrm>
            <a:off x="8755380" y="2539492"/>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PLT GOT entries (lazy binding)</a:t>
            </a:r>
          </a:p>
        </p:txBody>
      </p:sp>
      <p:sp>
        <p:nvSpPr>
          <p:cNvPr id="22" name="Rounded Rectangle 21"/>
          <p:cNvSpPr/>
          <p:nvPr/>
        </p:nvSpPr>
        <p:spPr>
          <a:xfrm>
            <a:off x="73152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R_X86_64_64</a:t>
            </a:r>
          </a:p>
        </p:txBody>
      </p:sp>
      <p:sp>
        <p:nvSpPr>
          <p:cNvPr id="23" name="Rounded Rectangle 22"/>
          <p:cNvSpPr/>
          <p:nvPr/>
        </p:nvSpPr>
        <p:spPr>
          <a:xfrm>
            <a:off x="340614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a:t>
            </a:r>
          </a:p>
        </p:txBody>
      </p:sp>
      <p:sp>
        <p:nvSpPr>
          <p:cNvPr id="24" name="Rounded Rectangle 23"/>
          <p:cNvSpPr/>
          <p:nvPr/>
        </p:nvSpPr>
        <p:spPr>
          <a:xfrm>
            <a:off x="608076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*offset = sym + addend</a:t>
            </a:r>
          </a:p>
        </p:txBody>
      </p:sp>
      <p:sp>
        <p:nvSpPr>
          <p:cNvPr id="25" name="Rounded Rectangle 24"/>
          <p:cNvSpPr/>
          <p:nvPr/>
        </p:nvSpPr>
        <p:spPr>
          <a:xfrm>
            <a:off x="8755380" y="2912364"/>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Direct 64-bit absolute (non-PIE)</a:t>
            </a:r>
          </a:p>
        </p:txBody>
      </p:sp>
      <p:sp>
        <p:nvSpPr>
          <p:cNvPr id="26" name="Rounded Rectangle 25"/>
          <p:cNvSpPr/>
          <p:nvPr/>
        </p:nvSpPr>
        <p:spPr>
          <a:xfrm>
            <a:off x="731520" y="328523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R_X86_64_PC32</a:t>
            </a:r>
          </a:p>
        </p:txBody>
      </p:sp>
      <p:sp>
        <p:nvSpPr>
          <p:cNvPr id="27" name="Rounded Rectangle 26"/>
          <p:cNvSpPr/>
          <p:nvPr/>
        </p:nvSpPr>
        <p:spPr>
          <a:xfrm>
            <a:off x="3406140" y="328523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2</a:t>
            </a:r>
          </a:p>
        </p:txBody>
      </p:sp>
      <p:sp>
        <p:nvSpPr>
          <p:cNvPr id="28" name="Rounded Rectangle 27"/>
          <p:cNvSpPr/>
          <p:nvPr/>
        </p:nvSpPr>
        <p:spPr>
          <a:xfrm>
            <a:off x="6080760" y="328523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*offset = sym + add - off</a:t>
            </a:r>
          </a:p>
        </p:txBody>
      </p:sp>
      <p:sp>
        <p:nvSpPr>
          <p:cNvPr id="29" name="Rounded Rectangle 28"/>
          <p:cNvSpPr/>
          <p:nvPr/>
        </p:nvSpPr>
        <p:spPr>
          <a:xfrm>
            <a:off x="8755380" y="3285236"/>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PC-relative 32-bit</a:t>
            </a:r>
          </a:p>
        </p:txBody>
      </p:sp>
      <p:sp>
        <p:nvSpPr>
          <p:cNvPr id="30" name="Rounded Rectangle 29"/>
          <p:cNvSpPr/>
          <p:nvPr/>
        </p:nvSpPr>
        <p:spPr>
          <a:xfrm>
            <a:off x="731520" y="365810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R_X86_64_COPY</a:t>
            </a:r>
          </a:p>
        </p:txBody>
      </p:sp>
      <p:sp>
        <p:nvSpPr>
          <p:cNvPr id="31" name="Rounded Rectangle 30"/>
          <p:cNvSpPr/>
          <p:nvPr/>
        </p:nvSpPr>
        <p:spPr>
          <a:xfrm>
            <a:off x="3406140" y="365810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5</a:t>
            </a:r>
          </a:p>
        </p:txBody>
      </p:sp>
      <p:sp>
        <p:nvSpPr>
          <p:cNvPr id="32" name="Rounded Rectangle 31"/>
          <p:cNvSpPr/>
          <p:nvPr/>
        </p:nvSpPr>
        <p:spPr>
          <a:xfrm>
            <a:off x="6080760" y="365810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memcpy from DSO to exe</a:t>
            </a:r>
          </a:p>
        </p:txBody>
      </p:sp>
      <p:sp>
        <p:nvSpPr>
          <p:cNvPr id="33" name="Rounded Rectangle 32"/>
          <p:cNvSpPr/>
          <p:nvPr/>
        </p:nvSpPr>
        <p:spPr>
          <a:xfrm>
            <a:off x="8755380" y="3658108"/>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Non-PIC exe refs DSO global var</a:t>
            </a:r>
          </a:p>
        </p:txBody>
      </p:sp>
      <p:sp>
        <p:nvSpPr>
          <p:cNvPr id="34" name="Rounded Rectangle 33"/>
          <p:cNvSpPr/>
          <p:nvPr/>
        </p:nvSpPr>
        <p:spPr>
          <a:xfrm>
            <a:off x="731520" y="403098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R_X86_64_IRELATIVE</a:t>
            </a:r>
          </a:p>
        </p:txBody>
      </p:sp>
      <p:sp>
        <p:nvSpPr>
          <p:cNvPr id="35" name="Rounded Rectangle 34"/>
          <p:cNvSpPr/>
          <p:nvPr/>
        </p:nvSpPr>
        <p:spPr>
          <a:xfrm>
            <a:off x="3406140" y="403098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37</a:t>
            </a:r>
          </a:p>
        </p:txBody>
      </p:sp>
      <p:sp>
        <p:nvSpPr>
          <p:cNvPr id="36" name="Rounded Rectangle 35"/>
          <p:cNvSpPr/>
          <p:nvPr/>
        </p:nvSpPr>
        <p:spPr>
          <a:xfrm>
            <a:off x="6080760" y="403098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*offset = resolver()</a:t>
            </a:r>
          </a:p>
        </p:txBody>
      </p:sp>
      <p:sp>
        <p:nvSpPr>
          <p:cNvPr id="37" name="Rounded Rectangle 36"/>
          <p:cNvSpPr/>
          <p:nvPr/>
        </p:nvSpPr>
        <p:spPr>
          <a:xfrm>
            <a:off x="8755380" y="4030980"/>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IFUNC within same object</a:t>
            </a:r>
          </a:p>
        </p:txBody>
      </p:sp>
      <p:sp>
        <p:nvSpPr>
          <p:cNvPr id="38" name="Rounded Rectangle 37"/>
          <p:cNvSpPr/>
          <p:nvPr/>
        </p:nvSpPr>
        <p:spPr>
          <a:xfrm>
            <a:off x="731520" y="4403852"/>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R_X86_64_TPOFF64</a:t>
            </a:r>
          </a:p>
        </p:txBody>
      </p:sp>
      <p:sp>
        <p:nvSpPr>
          <p:cNvPr id="39" name="Rounded Rectangle 38"/>
          <p:cNvSpPr/>
          <p:nvPr/>
        </p:nvSpPr>
        <p:spPr>
          <a:xfrm>
            <a:off x="3406140" y="4403852"/>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18</a:t>
            </a:r>
          </a:p>
        </p:txBody>
      </p:sp>
      <p:sp>
        <p:nvSpPr>
          <p:cNvPr id="40" name="Rounded Rectangle 39"/>
          <p:cNvSpPr/>
          <p:nvPr/>
        </p:nvSpPr>
        <p:spPr>
          <a:xfrm>
            <a:off x="6080760" y="4403852"/>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*offset = sym - TP</a:t>
            </a:r>
          </a:p>
        </p:txBody>
      </p:sp>
      <p:sp>
        <p:nvSpPr>
          <p:cNvPr id="41" name="Rounded Rectangle 40"/>
          <p:cNvSpPr/>
          <p:nvPr/>
        </p:nvSpPr>
        <p:spPr>
          <a:xfrm>
            <a:off x="8755380" y="4403852"/>
            <a:ext cx="2649220" cy="347472"/>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TLS: offset from thread pointer</a:t>
            </a:r>
          </a:p>
        </p:txBody>
      </p:sp>
      <p:sp>
        <p:nvSpPr>
          <p:cNvPr id="42" name="Rounded Rectangle 41"/>
          <p:cNvSpPr/>
          <p:nvPr/>
        </p:nvSpPr>
        <p:spPr>
          <a:xfrm>
            <a:off x="731520" y="4776724"/>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R_X86_64_DTPMOD64</a:t>
            </a:r>
          </a:p>
        </p:txBody>
      </p:sp>
      <p:sp>
        <p:nvSpPr>
          <p:cNvPr id="43" name="Rounded Rectangle 42"/>
          <p:cNvSpPr/>
          <p:nvPr/>
        </p:nvSpPr>
        <p:spPr>
          <a:xfrm>
            <a:off x="3406140" y="4776724"/>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16</a:t>
            </a:r>
          </a:p>
        </p:txBody>
      </p:sp>
      <p:sp>
        <p:nvSpPr>
          <p:cNvPr id="44" name="Rounded Rectangle 43"/>
          <p:cNvSpPr/>
          <p:nvPr/>
        </p:nvSpPr>
        <p:spPr>
          <a:xfrm>
            <a:off x="6080760" y="4776724"/>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*offset = module_id</a:t>
            </a:r>
          </a:p>
        </p:txBody>
      </p:sp>
      <p:sp>
        <p:nvSpPr>
          <p:cNvPr id="45" name="Rounded Rectangle 44"/>
          <p:cNvSpPr/>
          <p:nvPr/>
        </p:nvSpPr>
        <p:spPr>
          <a:xfrm>
            <a:off x="8755380" y="4776724"/>
            <a:ext cx="2649220" cy="347472"/>
          </a:xfrm>
          <a:prstGeom prst="round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000" b="0">
                <a:solidFill>
                  <a:srgbClr val="CCCCCC"/>
                </a:solidFill>
              </a:defRPr>
            </a:pPr>
            <a:r>
              <a:t>TLS: module ID for dlopen'd libs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Relocation Type Distribution in a Typical PIE Binary</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RELATIVE dominates: every self-referencing pointer in a PIE needs one</a:t>
            </a:r>
          </a:p>
        </p:txBody>
      </p:sp>
      <p:pic>
        <p:nvPicPr>
          <p:cNvPr id="6" name="Picture 5" descr="image.png"/>
          <p:cNvPicPr>
            <a:picLocks noChangeAspect="1"/>
          </p:cNvPicPr>
          <p:nvPr/>
        </p:nvPicPr>
        <p:blipFill>
          <a:blip r:embed="rId2"/>
          <a:stretch>
            <a:fillRect/>
          </a:stretch>
        </p:blipFill>
        <p:spPr>
          <a:xfrm>
            <a:off x="2743200" y="1097280"/>
            <a:ext cx="6400800" cy="50292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DT_TEXTREL — The Dangerous Relocation Flag</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234440"/>
            <a:ext cx="1097280" cy="292608"/>
          </a:xfrm>
          <a:prstGeom prst="roundRect">
            <a:avLst/>
          </a:prstGeom>
          <a:solidFill>
            <a:srgbClr val="FF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CRITICAL</a:t>
            </a:r>
          </a:p>
        </p:txBody>
      </p:sp>
      <p:sp>
        <p:nvSpPr>
          <p:cNvPr id="6" name="TextBox 5"/>
          <p:cNvSpPr txBox="1"/>
          <p:nvPr/>
        </p:nvSpPr>
        <p:spPr>
          <a:xfrm>
            <a:off x="2011680" y="1188720"/>
            <a:ext cx="9326880" cy="384048"/>
          </a:xfrm>
          <a:prstGeom prst="rect">
            <a:avLst/>
          </a:prstGeom>
          <a:noFill/>
        </p:spPr>
        <p:txBody>
          <a:bodyPr wrap="square" anchor="t"/>
          <a:lstStyle/>
          <a:p>
            <a:pPr algn="l">
              <a:defRPr sz="1200" b="0" i="0">
                <a:solidFill>
                  <a:srgbClr val="CCCCCC"/>
                </a:solidFill>
              </a:defRPr>
            </a:pPr>
            <a:r>
              <a:t>DT_TEXTREL means relocations target READ-ONLY segments (text-segment relocations)</a:t>
            </a:r>
          </a:p>
        </p:txBody>
      </p:sp>
      <p:sp>
        <p:nvSpPr>
          <p:cNvPr id="7" name="Rounded Rectangle 6"/>
          <p:cNvSpPr/>
          <p:nvPr/>
        </p:nvSpPr>
        <p:spPr>
          <a:xfrm>
            <a:off x="731520" y="1691640"/>
            <a:ext cx="1097280" cy="292608"/>
          </a:xfrm>
          <a:prstGeom prst="roundRect">
            <a:avLst/>
          </a:prstGeom>
          <a:solidFill>
            <a:srgbClr val="FF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CRITICAL</a:t>
            </a:r>
          </a:p>
        </p:txBody>
      </p:sp>
      <p:sp>
        <p:nvSpPr>
          <p:cNvPr id="8" name="TextBox 7"/>
          <p:cNvSpPr txBox="1"/>
          <p:nvPr/>
        </p:nvSpPr>
        <p:spPr>
          <a:xfrm>
            <a:off x="2011680" y="1645920"/>
            <a:ext cx="9326880" cy="384048"/>
          </a:xfrm>
          <a:prstGeom prst="rect">
            <a:avLst/>
          </a:prstGeom>
          <a:noFill/>
        </p:spPr>
        <p:txBody>
          <a:bodyPr wrap="square" anchor="t"/>
          <a:lstStyle/>
          <a:p>
            <a:pPr algn="l">
              <a:defRPr sz="1200" b="0" i="0">
                <a:solidFill>
                  <a:srgbClr val="CCCCCC"/>
                </a:solidFill>
              </a:defRPr>
            </a:pPr>
            <a:r>
              <a:t>Loader must mprotect text WRITABLE → apply relocs → mprotect back → DANGEROUS</a:t>
            </a:r>
          </a:p>
        </p:txBody>
      </p:sp>
      <p:sp>
        <p:nvSpPr>
          <p:cNvPr id="9" name="Rounded Rectangle 8"/>
          <p:cNvSpPr/>
          <p:nvPr/>
        </p:nvSpPr>
        <p:spPr>
          <a:xfrm>
            <a:off x="731520" y="2148840"/>
            <a:ext cx="1097280" cy="292608"/>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HIGH</a:t>
            </a:r>
          </a:p>
        </p:txBody>
      </p:sp>
      <p:sp>
        <p:nvSpPr>
          <p:cNvPr id="10" name="TextBox 9"/>
          <p:cNvSpPr txBox="1"/>
          <p:nvPr/>
        </p:nvSpPr>
        <p:spPr>
          <a:xfrm>
            <a:off x="2011680" y="2103120"/>
            <a:ext cx="9326880" cy="384048"/>
          </a:xfrm>
          <a:prstGeom prst="rect">
            <a:avLst/>
          </a:prstGeom>
          <a:noFill/>
        </p:spPr>
        <p:txBody>
          <a:bodyPr wrap="square" anchor="t"/>
          <a:lstStyle/>
          <a:p>
            <a:pPr algn="l">
              <a:defRPr sz="1200" b="0" i="0">
                <a:solidFill>
                  <a:srgbClr val="CCCCCC"/>
                </a:solidFill>
              </a:defRPr>
            </a:pPr>
            <a:r>
              <a:t>Writable .text during load = window for code injection if another thread races</a:t>
            </a:r>
          </a:p>
        </p:txBody>
      </p:sp>
      <p:sp>
        <p:nvSpPr>
          <p:cNvPr id="11" name="Rounded Rectangle 10"/>
          <p:cNvSpPr/>
          <p:nvPr/>
        </p:nvSpPr>
        <p:spPr>
          <a:xfrm>
            <a:off x="731520" y="2606040"/>
            <a:ext cx="1097280" cy="292608"/>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HIGH</a:t>
            </a:r>
          </a:p>
        </p:txBody>
      </p:sp>
      <p:sp>
        <p:nvSpPr>
          <p:cNvPr id="12" name="TextBox 11"/>
          <p:cNvSpPr txBox="1"/>
          <p:nvPr/>
        </p:nvSpPr>
        <p:spPr>
          <a:xfrm>
            <a:off x="2011680" y="2560320"/>
            <a:ext cx="9326880" cy="384048"/>
          </a:xfrm>
          <a:prstGeom prst="rect">
            <a:avLst/>
          </a:prstGeom>
          <a:noFill/>
        </p:spPr>
        <p:txBody>
          <a:bodyPr wrap="square" anchor="t"/>
          <a:lstStyle/>
          <a:p>
            <a:pPr algn="l">
              <a:defRPr sz="1200" b="0" i="0">
                <a:solidFill>
                  <a:srgbClr val="CCCCCC"/>
                </a:solidFill>
              </a:defRPr>
            </a:pPr>
            <a:r>
              <a:t>Extra mprotect syscalls = measurable performance penalty</a:t>
            </a:r>
          </a:p>
        </p:txBody>
      </p:sp>
      <p:sp>
        <p:nvSpPr>
          <p:cNvPr id="13" name="Rounded Rectangle 12"/>
          <p:cNvSpPr/>
          <p:nvPr/>
        </p:nvSpPr>
        <p:spPr>
          <a:xfrm>
            <a:off x="731520" y="3063240"/>
            <a:ext cx="1097280" cy="292608"/>
          </a:xfrm>
          <a:prstGeom prst="round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MEDIUM</a:t>
            </a:r>
          </a:p>
        </p:txBody>
      </p:sp>
      <p:sp>
        <p:nvSpPr>
          <p:cNvPr id="14" name="TextBox 13"/>
          <p:cNvSpPr txBox="1"/>
          <p:nvPr/>
        </p:nvSpPr>
        <p:spPr>
          <a:xfrm>
            <a:off x="2011680" y="3017520"/>
            <a:ext cx="9326880" cy="384048"/>
          </a:xfrm>
          <a:prstGeom prst="rect">
            <a:avLst/>
          </a:prstGeom>
          <a:noFill/>
        </p:spPr>
        <p:txBody>
          <a:bodyPr wrap="square" anchor="t"/>
          <a:lstStyle/>
          <a:p>
            <a:pPr algn="l">
              <a:defRPr sz="1200" b="0" i="0">
                <a:solidFill>
                  <a:srgbClr val="CCCCCC"/>
                </a:solidFill>
              </a:defRPr>
            </a:pPr>
            <a:r>
              <a:t>Modern toolchains: -z text makes DT_TEXTREL a hard linker error</a:t>
            </a:r>
          </a:p>
        </p:txBody>
      </p:sp>
      <p:sp>
        <p:nvSpPr>
          <p:cNvPr id="15" name="Rounded Rectangle 14"/>
          <p:cNvSpPr/>
          <p:nvPr/>
        </p:nvSpPr>
        <p:spPr>
          <a:xfrm>
            <a:off x="731520" y="3520440"/>
            <a:ext cx="1097280" cy="292608"/>
          </a:xfrm>
          <a:prstGeom prst="roundRect">
            <a:avLst/>
          </a:prstGeom>
          <a:solidFill>
            <a:srgbClr val="4488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INFO</a:t>
            </a:r>
          </a:p>
        </p:txBody>
      </p:sp>
      <p:sp>
        <p:nvSpPr>
          <p:cNvPr id="16" name="TextBox 15"/>
          <p:cNvSpPr txBox="1"/>
          <p:nvPr/>
        </p:nvSpPr>
        <p:spPr>
          <a:xfrm>
            <a:off x="2011680" y="3474720"/>
            <a:ext cx="9326880" cy="384048"/>
          </a:xfrm>
          <a:prstGeom prst="rect">
            <a:avLst/>
          </a:prstGeom>
          <a:noFill/>
        </p:spPr>
        <p:txBody>
          <a:bodyPr wrap="square" anchor="t"/>
          <a:lstStyle/>
          <a:p>
            <a:pPr algn="l">
              <a:defRPr sz="1200" b="0" i="0">
                <a:solidFill>
                  <a:srgbClr val="CCCCCC"/>
                </a:solidFill>
              </a:defRPr>
            </a:pPr>
            <a:r>
              <a:t>Cause: non-PIC code in shared libraries (historical, e.g., old assembly)</a:t>
            </a:r>
          </a:p>
        </p:txBody>
      </p:sp>
      <p:sp>
        <p:nvSpPr>
          <p:cNvPr id="17" name="Rounded Rectangle 16"/>
          <p:cNvSpPr/>
          <p:nvPr/>
        </p:nvSpPr>
        <p:spPr>
          <a:xfrm>
            <a:off x="731520" y="3977640"/>
            <a:ext cx="1097280" cy="292608"/>
          </a:xfrm>
          <a:prstGeom prst="roundRect">
            <a:avLst/>
          </a:prstGeom>
          <a:solidFill>
            <a:srgbClr val="4488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FFFF"/>
                </a:solidFill>
              </a:defRPr>
            </a:pPr>
            <a:r>
              <a:t>INFO</a:t>
            </a:r>
          </a:p>
        </p:txBody>
      </p:sp>
      <p:sp>
        <p:nvSpPr>
          <p:cNvPr id="18" name="TextBox 17"/>
          <p:cNvSpPr txBox="1"/>
          <p:nvPr/>
        </p:nvSpPr>
        <p:spPr>
          <a:xfrm>
            <a:off x="2011680" y="3931920"/>
            <a:ext cx="9326880" cy="384048"/>
          </a:xfrm>
          <a:prstGeom prst="rect">
            <a:avLst/>
          </a:prstGeom>
          <a:noFill/>
        </p:spPr>
        <p:txBody>
          <a:bodyPr wrap="square" anchor="t"/>
          <a:lstStyle/>
          <a:p>
            <a:pPr algn="l">
              <a:defRPr sz="1200" b="0" i="0">
                <a:solidFill>
                  <a:srgbClr val="CCCCCC"/>
                </a:solidFill>
              </a:defRPr>
            </a:pPr>
            <a:r>
              <a:t>Detection: readelf -d binary | grep TEXTREL — strong negative quality signal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11</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The GOT, the PLT &amp;</a:t>
            </a:r>
            <a:br/>
            <a:r>
              <a:t>Lazy Binding</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The mechanism that makes dynamic linking work — and the #1 exploit target in ELF</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.got vs .got.plt — Two Global Offset Tables</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097280"/>
            <a:ext cx="5029200" cy="457200"/>
          </a:xfrm>
          <a:prstGeom prst="roundRect">
            <a:avLst/>
          </a:prstGeom>
          <a:solidFill>
            <a:srgbClr val="1C1C34"/>
          </a:solidFill>
          <a:ln w="254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600" b="1">
                <a:solidFill>
                  <a:srgbClr val="00FF88"/>
                </a:solidFill>
              </a:defRPr>
            </a:pPr>
            <a:r>
              <a:t>.got (Data GOT)</a:t>
            </a:r>
          </a:p>
        </p:txBody>
      </p:sp>
      <p:sp>
        <p:nvSpPr>
          <p:cNvPr id="6" name="Rectangle 5"/>
          <p:cNvSpPr/>
          <p:nvPr/>
        </p:nvSpPr>
        <p:spPr>
          <a:xfrm>
            <a:off x="548640" y="1737360"/>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 y="173736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Holds imported global VARIABLE addresses</a:t>
            </a:r>
          </a:p>
        </p:txBody>
      </p:sp>
      <p:sp>
        <p:nvSpPr>
          <p:cNvPr id="8" name="Rectangle 7"/>
          <p:cNvSpPr/>
          <p:nvPr/>
        </p:nvSpPr>
        <p:spPr>
          <a:xfrm>
            <a:off x="548640" y="2121408"/>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212140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Populated by R_X86_64_GLOB_DAT relocations</a:t>
            </a:r>
          </a:p>
        </p:txBody>
      </p:sp>
      <p:sp>
        <p:nvSpPr>
          <p:cNvPr id="10" name="Rectangle 9"/>
          <p:cNvSpPr/>
          <p:nvPr/>
        </p:nvSpPr>
        <p:spPr>
          <a:xfrm>
            <a:off x="548640" y="2505456"/>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 y="2505456"/>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Resolved EAGERLY at load time (always)</a:t>
            </a:r>
          </a:p>
        </p:txBody>
      </p:sp>
      <p:sp>
        <p:nvSpPr>
          <p:cNvPr id="12" name="Rectangle 11"/>
          <p:cNvSpPr/>
          <p:nvPr/>
        </p:nvSpPr>
        <p:spPr>
          <a:xfrm>
            <a:off x="548640" y="2889504"/>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 y="2889504"/>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Contains _GLOBAL_OFFSET_TABLE_ symbol</a:t>
            </a:r>
          </a:p>
        </p:txBody>
      </p:sp>
      <p:sp>
        <p:nvSpPr>
          <p:cNvPr id="14" name="Rectangle 13"/>
          <p:cNvSpPr/>
          <p:nvPr/>
        </p:nvSpPr>
        <p:spPr>
          <a:xfrm>
            <a:off x="548640" y="3273552"/>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 y="3273552"/>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Under full RELRO: read-only after relocation</a:t>
            </a:r>
          </a:p>
        </p:txBody>
      </p:sp>
      <p:sp>
        <p:nvSpPr>
          <p:cNvPr id="16" name="Rectangle 15"/>
          <p:cNvSpPr/>
          <p:nvPr/>
        </p:nvSpPr>
        <p:spPr>
          <a:xfrm>
            <a:off x="548640" y="3657600"/>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 y="365760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Under partial RELRO: ALSO read-only (protected)</a:t>
            </a:r>
          </a:p>
        </p:txBody>
      </p:sp>
      <p:sp>
        <p:nvSpPr>
          <p:cNvPr id="18" name="Rectangle 17"/>
          <p:cNvSpPr/>
          <p:nvPr/>
        </p:nvSpPr>
        <p:spPr>
          <a:xfrm>
            <a:off x="548640" y="4041648"/>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 y="404164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Not a direct exploit target (already protected)</a:t>
            </a:r>
          </a:p>
        </p:txBody>
      </p:sp>
      <p:sp>
        <p:nvSpPr>
          <p:cNvPr id="20" name="Rectangle 19"/>
          <p:cNvSpPr/>
          <p:nvPr/>
        </p:nvSpPr>
        <p:spPr>
          <a:xfrm>
            <a:off x="5623560" y="2743200"/>
            <a:ext cx="914400" cy="914400"/>
          </a:xfrm>
          <a:prstGeom prst="rect">
            <a:avLst/>
          </a:prstGeom>
          <a:solidFill>
            <a:srgbClr val="0A0A1A"/>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800" b="1">
                <a:solidFill>
                  <a:srgbClr val="FFD700"/>
                </a:solidFill>
              </a:defRPr>
            </a:pPr>
            <a:r>
              <a:t>≠</a:t>
            </a:r>
          </a:p>
        </p:txBody>
      </p:sp>
      <p:sp>
        <p:nvSpPr>
          <p:cNvPr id="21" name="Rounded Rectangle 20"/>
          <p:cNvSpPr/>
          <p:nvPr/>
        </p:nvSpPr>
        <p:spPr>
          <a:xfrm>
            <a:off x="6583680" y="1097280"/>
            <a:ext cx="5029200" cy="457200"/>
          </a:xfrm>
          <a:prstGeom prst="roundRect">
            <a:avLst/>
          </a:prstGeom>
          <a:solidFill>
            <a:srgbClr val="1C1C34"/>
          </a:solidFill>
          <a:ln w="254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600" b="1">
                <a:solidFill>
                  <a:srgbClr val="FF4444"/>
                </a:solidFill>
              </a:defRPr>
            </a:pPr>
            <a:r>
              <a:t>.got.plt (Function GOT)</a:t>
            </a:r>
          </a:p>
        </p:txBody>
      </p:sp>
      <p:sp>
        <p:nvSpPr>
          <p:cNvPr id="22" name="Rectangle 21"/>
          <p:cNvSpPr/>
          <p:nvPr/>
        </p:nvSpPr>
        <p:spPr>
          <a:xfrm>
            <a:off x="6583680" y="1737360"/>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656832" y="173736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Holds imported FUNCTION pointer slots</a:t>
            </a:r>
          </a:p>
        </p:txBody>
      </p:sp>
      <p:sp>
        <p:nvSpPr>
          <p:cNvPr id="24" name="Rectangle 23"/>
          <p:cNvSpPr/>
          <p:nvPr/>
        </p:nvSpPr>
        <p:spPr>
          <a:xfrm>
            <a:off x="6583680" y="2121408"/>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56832" y="212140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Populated by R_X86_64_JUMP_SLOT relocations</a:t>
            </a:r>
          </a:p>
        </p:txBody>
      </p:sp>
      <p:sp>
        <p:nvSpPr>
          <p:cNvPr id="26" name="Rectangle 25"/>
          <p:cNvSpPr/>
          <p:nvPr/>
        </p:nvSpPr>
        <p:spPr>
          <a:xfrm>
            <a:off x="6583680" y="2505456"/>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656832" y="2505456"/>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Lazy binding: resolved on FIRST CALL</a:t>
            </a:r>
          </a:p>
        </p:txBody>
      </p:sp>
      <p:sp>
        <p:nvSpPr>
          <p:cNvPr id="28" name="Rectangle 27"/>
          <p:cNvSpPr/>
          <p:nvPr/>
        </p:nvSpPr>
        <p:spPr>
          <a:xfrm>
            <a:off x="6583680" y="2889504"/>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656832" y="2889504"/>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Eager binding (BIND_NOW): resolved at load time</a:t>
            </a:r>
          </a:p>
        </p:txBody>
      </p:sp>
      <p:sp>
        <p:nvSpPr>
          <p:cNvPr id="30" name="Rectangle 29"/>
          <p:cNvSpPr/>
          <p:nvPr/>
        </p:nvSpPr>
        <p:spPr>
          <a:xfrm>
            <a:off x="6583680" y="3273552"/>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656832" y="3273552"/>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Entries [0-2] reserved: .dynamic, link_map, _dl_runtime_resolve</a:t>
            </a:r>
          </a:p>
        </p:txBody>
      </p:sp>
      <p:sp>
        <p:nvSpPr>
          <p:cNvPr id="32" name="Rectangle 31"/>
          <p:cNvSpPr/>
          <p:nvPr/>
        </p:nvSpPr>
        <p:spPr>
          <a:xfrm>
            <a:off x="6583680" y="3657600"/>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656832" y="365760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Under partial RELRO: WRITABLE (exploit target!)</a:t>
            </a:r>
          </a:p>
        </p:txBody>
      </p:sp>
      <p:sp>
        <p:nvSpPr>
          <p:cNvPr id="34" name="Rectangle 33"/>
          <p:cNvSpPr/>
          <p:nvPr/>
        </p:nvSpPr>
        <p:spPr>
          <a:xfrm>
            <a:off x="6583680" y="4041648"/>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656832" y="404164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Under full RELRO: read-only after relocation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.got.plt Reserved Entries (Indices 0-2)</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188720"/>
            <a:ext cx="2286000" cy="50292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D4FF"/>
                </a:solidFill>
              </a:defRPr>
            </a:pPr>
            <a:r>
              <a:t>.got.plt[0]</a:t>
            </a:r>
          </a:p>
        </p:txBody>
      </p:sp>
      <p:sp>
        <p:nvSpPr>
          <p:cNvPr id="6" name="TextBox 5"/>
          <p:cNvSpPr txBox="1"/>
          <p:nvPr/>
        </p:nvSpPr>
        <p:spPr>
          <a:xfrm>
            <a:off x="3200400" y="1234440"/>
            <a:ext cx="8229600" cy="457200"/>
          </a:xfrm>
          <a:prstGeom prst="rect">
            <a:avLst/>
          </a:prstGeom>
          <a:noFill/>
        </p:spPr>
        <p:txBody>
          <a:bodyPr wrap="square" anchor="t"/>
          <a:lstStyle/>
          <a:p>
            <a:pPr algn="l">
              <a:defRPr sz="1100" b="0" i="0">
                <a:solidFill>
                  <a:srgbClr val="CCCCCC"/>
                </a:solidFill>
              </a:defRPr>
            </a:pPr>
            <a:r>
              <a:t>Address of .dynamic — PLT trampolines can find .dynamic via PC-relative load</a:t>
            </a:r>
          </a:p>
        </p:txBody>
      </p:sp>
      <p:sp>
        <p:nvSpPr>
          <p:cNvPr id="7" name="Rounded Rectangle 6"/>
          <p:cNvSpPr/>
          <p:nvPr/>
        </p:nvSpPr>
        <p:spPr>
          <a:xfrm>
            <a:off x="731520" y="1755648"/>
            <a:ext cx="2286000" cy="502920"/>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00FF88"/>
                </a:solidFill>
              </a:defRPr>
            </a:pPr>
            <a:r>
              <a:t>.got.plt[1]</a:t>
            </a:r>
          </a:p>
        </p:txBody>
      </p:sp>
      <p:sp>
        <p:nvSpPr>
          <p:cNvPr id="8" name="TextBox 7"/>
          <p:cNvSpPr txBox="1"/>
          <p:nvPr/>
        </p:nvSpPr>
        <p:spPr>
          <a:xfrm>
            <a:off x="3200400" y="1801368"/>
            <a:ext cx="8229600" cy="457200"/>
          </a:xfrm>
          <a:prstGeom prst="rect">
            <a:avLst/>
          </a:prstGeom>
          <a:noFill/>
        </p:spPr>
        <p:txBody>
          <a:bodyPr wrap="square" anchor="t"/>
          <a:lstStyle/>
          <a:p>
            <a:pPr algn="l">
              <a:defRPr sz="1100" b="0" i="0">
                <a:solidFill>
                  <a:srgbClr val="CCCCCC"/>
                </a:solidFill>
              </a:defRPr>
            </a:pPr>
            <a:r>
              <a:t>Address of link_map for this object — populated by ld.so at load time</a:t>
            </a:r>
          </a:p>
        </p:txBody>
      </p:sp>
      <p:sp>
        <p:nvSpPr>
          <p:cNvPr id="9" name="Rounded Rectangle 8"/>
          <p:cNvSpPr/>
          <p:nvPr/>
        </p:nvSpPr>
        <p:spPr>
          <a:xfrm>
            <a:off x="731520" y="2322576"/>
            <a:ext cx="2286000" cy="50292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D700"/>
                </a:solidFill>
              </a:defRPr>
            </a:pPr>
            <a:r>
              <a:t>.got.plt[2]</a:t>
            </a:r>
          </a:p>
        </p:txBody>
      </p:sp>
      <p:sp>
        <p:nvSpPr>
          <p:cNvPr id="10" name="TextBox 9"/>
          <p:cNvSpPr txBox="1"/>
          <p:nvPr/>
        </p:nvSpPr>
        <p:spPr>
          <a:xfrm>
            <a:off x="3200400" y="2368296"/>
            <a:ext cx="8229600" cy="457200"/>
          </a:xfrm>
          <a:prstGeom prst="rect">
            <a:avLst/>
          </a:prstGeom>
          <a:noFill/>
        </p:spPr>
        <p:txBody>
          <a:bodyPr wrap="square" anchor="t"/>
          <a:lstStyle/>
          <a:p>
            <a:pPr algn="l">
              <a:defRPr sz="1100" b="0" i="0">
                <a:solidFill>
                  <a:srgbClr val="CCCCCC"/>
                </a:solidFill>
              </a:defRPr>
            </a:pPr>
            <a:r>
              <a:t>Address of _dl_runtime_resolve — the lazy binding resolver entry point</a:t>
            </a:r>
          </a:p>
        </p:txBody>
      </p:sp>
      <p:sp>
        <p:nvSpPr>
          <p:cNvPr id="11" name="Rounded Rectangle 10"/>
          <p:cNvSpPr/>
          <p:nvPr/>
        </p:nvSpPr>
        <p:spPr>
          <a:xfrm>
            <a:off x="731520" y="2889504"/>
            <a:ext cx="2286000" cy="50292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200" b="1">
                <a:solidFill>
                  <a:srgbClr val="FF4444"/>
                </a:solidFill>
              </a:defRPr>
            </a:pPr>
            <a:r>
              <a:t>.got.plt[3+]</a:t>
            </a:r>
          </a:p>
        </p:txBody>
      </p:sp>
      <p:sp>
        <p:nvSpPr>
          <p:cNvPr id="12" name="TextBox 11"/>
          <p:cNvSpPr txBox="1"/>
          <p:nvPr/>
        </p:nvSpPr>
        <p:spPr>
          <a:xfrm>
            <a:off x="3200400" y="2935224"/>
            <a:ext cx="8229600" cy="457200"/>
          </a:xfrm>
          <a:prstGeom prst="rect">
            <a:avLst/>
          </a:prstGeom>
          <a:noFill/>
        </p:spPr>
        <p:txBody>
          <a:bodyPr wrap="square" anchor="t"/>
          <a:lstStyle/>
          <a:p>
            <a:pPr algn="l">
              <a:defRPr sz="1100" b="0" i="0">
                <a:solidFill>
                  <a:srgbClr val="CCCCCC"/>
                </a:solidFill>
              </a:defRPr>
            </a:pPr>
            <a:r>
              <a:t>Per-imported-function slots — initially point back to PLT stub push instruction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PLT Entry — 16 Bytes Per Imported Function</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9601200" y="320040"/>
            <a:ext cx="1828800" cy="274320"/>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D4FF"/>
                </a:solidFill>
              </a:defRPr>
            </a:pPr>
            <a:r>
              <a:t>x86asm</a:t>
            </a:r>
          </a:p>
        </p:txBody>
      </p:sp>
      <p:sp>
        <p:nvSpPr>
          <p:cNvPr id="6" name="Rounded Rectangle 5"/>
          <p:cNvSpPr/>
          <p:nvPr/>
        </p:nvSpPr>
        <p:spPr>
          <a:xfrm>
            <a:off x="548640" y="1097280"/>
            <a:ext cx="10789920" cy="4389120"/>
          </a:xfrm>
          <a:prstGeom prst="roundRect">
            <a:avLst/>
          </a:prstGeom>
          <a:solidFill>
            <a:srgbClr val="14142A"/>
          </a:solidFill>
          <a:ln w="1270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cxnSp>
        <p:nvCxnSpPr>
          <p:cNvPr id="7" name="Connector 6"/>
          <p:cNvCxnSpPr/>
          <p:nvPr/>
        </p:nvCxnSpPr>
        <p:spPr>
          <a:xfrm>
            <a:off x="548640" y="1417320"/>
            <a:ext cx="10789920" cy="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7240" y="1207008"/>
            <a:ext cx="137160" cy="13716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Oval 8"/>
          <p:cNvSpPr/>
          <p:nvPr/>
        </p:nvSpPr>
        <p:spPr>
          <a:xfrm>
            <a:off x="1005840" y="1207008"/>
            <a:ext cx="137160" cy="1371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Oval 9"/>
          <p:cNvSpPr/>
          <p:nvPr/>
        </p:nvSpPr>
        <p:spPr>
          <a:xfrm>
            <a:off x="1234440" y="1207008"/>
            <a:ext cx="137160" cy="13716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777240" y="1508760"/>
            <a:ext cx="10332720" cy="3840480"/>
          </a:xfrm>
          <a:prstGeom prst="rect">
            <a:avLst/>
          </a:prstGeom>
          <a:noFill/>
        </p:spPr>
        <p:txBody>
          <a:bodyPr wrap="square" anchor="t"/>
          <a:lstStyle/>
          <a:p>
            <a:pPr algn="l">
              <a:defRPr sz="1000" b="0" i="0">
                <a:solidFill>
                  <a:srgbClr val="CCCCCC"/>
                </a:solidFill>
                <a:latin typeface="Consolas"/>
              </a:defRPr>
            </a:pPr>
            <a:r>
              <a:t>// PLT0 (header stub):</a:t>
            </a:r>
            <a:br/>
            <a:r>
              <a:t>PLT0:</a:t>
            </a:r>
            <a:br/>
            <a:r>
              <a:t>  push   QWORD PTR [rip + got_plt_1]   // push link_map</a:t>
            </a:r>
            <a:br/>
            <a:r>
              <a:t>  jmp    QWORD PTR [rip + got_plt_2]   // jmp _dl_runtime_resolve</a:t>
            </a:r>
            <a:br/>
            <a:r>
              <a:t>  nop; nop; nop; nop                    // padding to 16 bytes</a:t>
            </a:r>
            <a:br/>
            <a:br/>
            <a:r>
              <a:t>// Per-function PLT stub (e.g., puts@plt):</a:t>
            </a:r>
            <a:br/>
            <a:r>
              <a:t>puts@plt:</a:t>
            </a:r>
            <a:br/>
            <a:r>
              <a:t>  jmp    QWORD PTR [rip + GOT_OFFSET]  // 6 bytes: indirect jmp via GOT</a:t>
            </a:r>
            <a:br/>
            <a:r>
              <a:t>  push   &lt;reloc_index&gt;                 // 5 bytes: push .rela.plt index</a:t>
            </a:r>
            <a:br/>
            <a:r>
              <a:t>  jmp    PLT0                          // 5 bytes: relative jmp to header</a:t>
            </a:r>
            <a:br/>
            <a:br/>
            <a:r>
              <a:t>// First call: GOT entry → second instruction (push + jmp PLT0)</a:t>
            </a:r>
            <a:br/>
            <a:r>
              <a:t>// After resolution: GOT entry → actual puts() in libc</a:t>
            </a:r>
          </a:p>
        </p:txBody>
      </p:sp>
      <p:sp>
        <p:nvSpPr>
          <p:cNvPr id="12" name="TextBox 11"/>
          <p:cNvSpPr txBox="1"/>
          <p:nvPr/>
        </p:nvSpPr>
        <p:spPr>
          <a:xfrm>
            <a:off x="731520" y="5623560"/>
            <a:ext cx="10515600" cy="274320"/>
          </a:xfrm>
          <a:prstGeom prst="rect">
            <a:avLst/>
          </a:prstGeom>
          <a:noFill/>
        </p:spPr>
        <p:txBody>
          <a:bodyPr wrap="square" anchor="t"/>
          <a:lstStyle/>
          <a:p>
            <a:pPr algn="l">
              <a:defRPr sz="1000" b="0" i="1">
                <a:solidFill>
                  <a:srgbClr val="999999"/>
                </a:solidFill>
              </a:defRPr>
            </a:pPr>
            <a:r>
              <a:t>→ First call path: PLT stub → push reloc_index → PLT0 → _dl_runtime_resolve → puts()</a:t>
            </a:r>
          </a:p>
        </p:txBody>
      </p:sp>
      <p:sp>
        <p:nvSpPr>
          <p:cNvPr id="13" name="TextBox 12"/>
          <p:cNvSpPr txBox="1"/>
          <p:nvPr/>
        </p:nvSpPr>
        <p:spPr>
          <a:xfrm>
            <a:off x="731520" y="5879592"/>
            <a:ext cx="10515600" cy="274320"/>
          </a:xfrm>
          <a:prstGeom prst="rect">
            <a:avLst/>
          </a:prstGeom>
          <a:noFill/>
        </p:spPr>
        <p:txBody>
          <a:bodyPr wrap="square" anchor="t"/>
          <a:lstStyle/>
          <a:p>
            <a:pPr algn="l">
              <a:defRPr sz="1000" b="0" i="1">
                <a:solidFill>
                  <a:srgbClr val="999999"/>
                </a:solidFill>
              </a:defRPr>
            </a:pPr>
            <a:r>
              <a:t>→ Subsequent calls: PLT stub → GOT already resolved → puts() directly (no resolver)</a:t>
            </a:r>
          </a:p>
        </p:txBody>
      </p:sp>
      <p:sp>
        <p:nvSpPr>
          <p:cNvPr id="14" name="TextBox 13"/>
          <p:cNvSpPr txBox="1"/>
          <p:nvPr/>
        </p:nvSpPr>
        <p:spPr>
          <a:xfrm>
            <a:off x="731520" y="6135624"/>
            <a:ext cx="10515600" cy="274320"/>
          </a:xfrm>
          <a:prstGeom prst="rect">
            <a:avLst/>
          </a:prstGeom>
          <a:noFill/>
        </p:spPr>
        <p:txBody>
          <a:bodyPr wrap="square" anchor="t"/>
          <a:lstStyle/>
          <a:p>
            <a:pPr algn="l">
              <a:defRPr sz="1000" b="0" i="1">
                <a:solidFill>
                  <a:srgbClr val="999999"/>
                </a:solidFill>
              </a:defRPr>
            </a:pPr>
            <a:r>
              <a:t>→ CET-aware .plt.sec: starts with endbr64 for indirect branch tracking</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Lazy Binding — First Call Resolution Flow</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First call: 7-step resolution. Second call: 1-step direct jump via GOT.</a:t>
            </a:r>
          </a:p>
        </p:txBody>
      </p:sp>
      <p:sp>
        <p:nvSpPr>
          <p:cNvPr id="6" name="Rounded Rectangle 5"/>
          <p:cNvSpPr/>
          <p:nvPr/>
        </p:nvSpPr>
        <p:spPr>
          <a:xfrm>
            <a:off x="568960" y="1803400"/>
            <a:ext cx="1304834" cy="736600"/>
          </a:xfrm>
          <a:prstGeom prst="roundRect">
            <a:avLst/>
          </a:prstGeom>
          <a:noFill/>
          <a:ln w="317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7" name="Rounded Rectangle 6"/>
          <p:cNvSpPr/>
          <p:nvPr/>
        </p:nvSpPr>
        <p:spPr>
          <a:xfrm>
            <a:off x="594360" y="1828800"/>
            <a:ext cx="1254034" cy="68580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Program calls</a:t>
            </a:r>
            <a:br/>
            <a:r>
              <a:t>puts@plt</a:t>
            </a:r>
          </a:p>
        </p:txBody>
      </p:sp>
      <p:sp>
        <p:nvSpPr>
          <p:cNvPr id="8" name="Right Arrow 7"/>
          <p:cNvSpPr/>
          <p:nvPr/>
        </p:nvSpPr>
        <p:spPr>
          <a:xfrm>
            <a:off x="1899194" y="2034540"/>
            <a:ext cx="264159" cy="228600"/>
          </a:xfrm>
          <a:prstGeom prst="rightArrow">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88754" y="1803400"/>
            <a:ext cx="1304834" cy="736600"/>
          </a:xfrm>
          <a:prstGeom prst="roundRect">
            <a:avLst/>
          </a:prstGeom>
          <a:noFill/>
          <a:ln w="317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Rounded Rectangle 9"/>
          <p:cNvSpPr/>
          <p:nvPr/>
        </p:nvSpPr>
        <p:spPr>
          <a:xfrm>
            <a:off x="2214154" y="1828800"/>
            <a:ext cx="1254034" cy="685800"/>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jmp [GOT]</a:t>
            </a:r>
            <a:br/>
            <a:r>
              <a:t>→ self-loop</a:t>
            </a:r>
          </a:p>
        </p:txBody>
      </p:sp>
      <p:sp>
        <p:nvSpPr>
          <p:cNvPr id="11" name="Right Arrow 10"/>
          <p:cNvSpPr/>
          <p:nvPr/>
        </p:nvSpPr>
        <p:spPr>
          <a:xfrm>
            <a:off x="3518988" y="2034540"/>
            <a:ext cx="264160" cy="228600"/>
          </a:xfrm>
          <a:prstGeom prst="rightArrow">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808548" y="1803400"/>
            <a:ext cx="1304834" cy="736600"/>
          </a:xfrm>
          <a:prstGeom prst="roundRect">
            <a:avLst/>
          </a:prstGeom>
          <a:noFill/>
          <a:ln w="317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3" name="Rounded Rectangle 12"/>
          <p:cNvSpPr/>
          <p:nvPr/>
        </p:nvSpPr>
        <p:spPr>
          <a:xfrm>
            <a:off x="3833948" y="1828800"/>
            <a:ext cx="1254034" cy="68580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push reloc_index</a:t>
            </a:r>
            <a:br/>
            <a:r>
              <a:t>jmp PLT0</a:t>
            </a:r>
          </a:p>
        </p:txBody>
      </p:sp>
      <p:sp>
        <p:nvSpPr>
          <p:cNvPr id="14" name="Right Arrow 13"/>
          <p:cNvSpPr/>
          <p:nvPr/>
        </p:nvSpPr>
        <p:spPr>
          <a:xfrm>
            <a:off x="5138782" y="2034540"/>
            <a:ext cx="264160" cy="228600"/>
          </a:xfrm>
          <a:prstGeom prst="righ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28342" y="1803400"/>
            <a:ext cx="1304834" cy="736600"/>
          </a:xfrm>
          <a:prstGeom prst="roundRect">
            <a:avLst/>
          </a:prstGeom>
          <a:noFill/>
          <a:ln w="317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6" name="Rounded Rectangle 15"/>
          <p:cNvSpPr/>
          <p:nvPr/>
        </p:nvSpPr>
        <p:spPr>
          <a:xfrm>
            <a:off x="5453742" y="1828800"/>
            <a:ext cx="1254034" cy="68580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push link_map</a:t>
            </a:r>
            <a:br/>
            <a:r>
              <a:t>jmp _dl_runtime_resolve</a:t>
            </a:r>
          </a:p>
        </p:txBody>
      </p:sp>
      <p:sp>
        <p:nvSpPr>
          <p:cNvPr id="17" name="Right Arrow 16"/>
          <p:cNvSpPr/>
          <p:nvPr/>
        </p:nvSpPr>
        <p:spPr>
          <a:xfrm>
            <a:off x="6758577" y="2034540"/>
            <a:ext cx="264160" cy="228600"/>
          </a:xfrm>
          <a:prstGeom prst="rightArrow">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48137" y="1803400"/>
            <a:ext cx="1304834" cy="736600"/>
          </a:xfrm>
          <a:prstGeom prst="roundRect">
            <a:avLst/>
          </a:prstGeom>
          <a:noFill/>
          <a:ln w="317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9" name="Rounded Rectangle 18"/>
          <p:cNvSpPr/>
          <p:nvPr/>
        </p:nvSpPr>
        <p:spPr>
          <a:xfrm>
            <a:off x="7073537" y="1828800"/>
            <a:ext cx="1254034" cy="685800"/>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_dl_fixup</a:t>
            </a:r>
            <a:br/>
            <a:r>
              <a:t>resolves symbol</a:t>
            </a:r>
          </a:p>
        </p:txBody>
      </p:sp>
      <p:sp>
        <p:nvSpPr>
          <p:cNvPr id="20" name="Right Arrow 19"/>
          <p:cNvSpPr/>
          <p:nvPr/>
        </p:nvSpPr>
        <p:spPr>
          <a:xfrm>
            <a:off x="8378371" y="2034540"/>
            <a:ext cx="264160" cy="228600"/>
          </a:xfrm>
          <a:prstGeom prst="rightArrow">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67931" y="1803400"/>
            <a:ext cx="1304834" cy="736600"/>
          </a:xfrm>
          <a:prstGeom prst="roundRect">
            <a:avLst/>
          </a:prstGeom>
          <a:noFill/>
          <a:ln w="317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2" name="Rounded Rectangle 21"/>
          <p:cNvSpPr/>
          <p:nvPr/>
        </p:nvSpPr>
        <p:spPr>
          <a:xfrm>
            <a:off x="8693331" y="1828800"/>
            <a:ext cx="1254034" cy="685800"/>
          </a:xfrm>
          <a:prstGeom prst="roundRect">
            <a:avLst/>
          </a:prstGeom>
          <a:solidFill>
            <a:srgbClr val="1C1C34"/>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GOT updated</a:t>
            </a:r>
            <a:br/>
            <a:r>
              <a:t>→ libc puts()</a:t>
            </a:r>
          </a:p>
        </p:txBody>
      </p:sp>
      <p:sp>
        <p:nvSpPr>
          <p:cNvPr id="23" name="Right Arrow 22"/>
          <p:cNvSpPr/>
          <p:nvPr/>
        </p:nvSpPr>
        <p:spPr>
          <a:xfrm>
            <a:off x="9998165" y="2034540"/>
            <a:ext cx="264160" cy="228600"/>
          </a:xfrm>
          <a:prstGeom prst="rightArrow">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287725" y="1803400"/>
            <a:ext cx="1304834" cy="736600"/>
          </a:xfrm>
          <a:prstGeom prst="roundRect">
            <a:avLst/>
          </a:prstGeom>
          <a:noFill/>
          <a:ln w="317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5" name="Rounded Rectangle 24"/>
          <p:cNvSpPr/>
          <p:nvPr/>
        </p:nvSpPr>
        <p:spPr>
          <a:xfrm>
            <a:off x="10313125" y="1828800"/>
            <a:ext cx="1254034" cy="685800"/>
          </a:xfrm>
          <a:prstGeom prst="roundRect">
            <a:avLst/>
          </a:prstGeom>
          <a:solidFill>
            <a:srgbClr val="1C1C34"/>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000" b="1">
                <a:solidFill>
                  <a:srgbClr val="FFFFFF"/>
                </a:solidFill>
              </a:defRPr>
            </a:pPr>
            <a:r>
              <a:t>Tail-jump</a:t>
            </a:r>
            <a:br/>
            <a:r>
              <a:t>to puts()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_dl_fixup() — The Lazy Binding Resolver</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_dl_fixup(struct link_map *l, ElfW(Word) reloc_arg)</a:t>
            </a:r>
          </a:p>
        </p:txBody>
      </p:sp>
      <p:sp>
        <p:nvSpPr>
          <p:cNvPr id="6" name="Rectangle 5"/>
          <p:cNvSpPr/>
          <p:nvPr/>
        </p:nvSpPr>
        <p:spPr>
          <a:xfrm>
            <a:off x="731520" y="1371600"/>
            <a:ext cx="54864" cy="5943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3200400" cy="274320"/>
          </a:xfrm>
          <a:prstGeom prst="rect">
            <a:avLst/>
          </a:prstGeom>
          <a:noFill/>
        </p:spPr>
        <p:txBody>
          <a:bodyPr wrap="square" anchor="t"/>
          <a:lstStyle/>
          <a:p>
            <a:pPr algn="l">
              <a:defRPr sz="1300" b="1" i="0">
                <a:solidFill>
                  <a:srgbClr val="00D4FF"/>
                </a:solidFill>
              </a:defRPr>
            </a:pPr>
            <a:r>
              <a:t>Step 1: Read relocation entry</a:t>
            </a:r>
          </a:p>
        </p:txBody>
      </p:sp>
      <p:sp>
        <p:nvSpPr>
          <p:cNvPr id="8" name="TextBox 7"/>
          <p:cNvSpPr txBox="1"/>
          <p:nvPr/>
        </p:nvSpPr>
        <p:spPr>
          <a:xfrm>
            <a:off x="914400" y="1627632"/>
            <a:ext cx="10058400" cy="365760"/>
          </a:xfrm>
          <a:prstGeom prst="rect">
            <a:avLst/>
          </a:prstGeom>
          <a:noFill/>
        </p:spPr>
        <p:txBody>
          <a:bodyPr wrap="square" anchor="t"/>
          <a:lstStyle/>
          <a:p>
            <a:pPr algn="l">
              <a:defRPr sz="1100" b="0" i="0">
                <a:solidFill>
                  <a:srgbClr val="CCCCCC"/>
                </a:solidFill>
              </a:defRPr>
            </a:pPr>
            <a:r>
              <a:t>Reads .rela.plt[reloc_arg] → extracts r_info (symbol index + type) and r_offset (GOT slot).</a:t>
            </a:r>
          </a:p>
        </p:txBody>
      </p:sp>
      <p:sp>
        <p:nvSpPr>
          <p:cNvPr id="9" name="Rectangle 8"/>
          <p:cNvSpPr/>
          <p:nvPr/>
        </p:nvSpPr>
        <p:spPr>
          <a:xfrm>
            <a:off x="731520" y="2029968"/>
            <a:ext cx="54864" cy="59436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29968"/>
            <a:ext cx="3200400" cy="274320"/>
          </a:xfrm>
          <a:prstGeom prst="rect">
            <a:avLst/>
          </a:prstGeom>
          <a:noFill/>
        </p:spPr>
        <p:txBody>
          <a:bodyPr wrap="square" anchor="t"/>
          <a:lstStyle/>
          <a:p>
            <a:pPr algn="l">
              <a:defRPr sz="1300" b="1" i="0">
                <a:solidFill>
                  <a:srgbClr val="00FF88"/>
                </a:solidFill>
              </a:defRPr>
            </a:pPr>
            <a:r>
              <a:t>Step 2: Look up symbol</a:t>
            </a:r>
          </a:p>
        </p:txBody>
      </p:sp>
      <p:sp>
        <p:nvSpPr>
          <p:cNvPr id="11" name="TextBox 10"/>
          <p:cNvSpPr txBox="1"/>
          <p:nvPr/>
        </p:nvSpPr>
        <p:spPr>
          <a:xfrm>
            <a:off x="914400" y="2286000"/>
            <a:ext cx="10058400" cy="365760"/>
          </a:xfrm>
          <a:prstGeom prst="rect">
            <a:avLst/>
          </a:prstGeom>
          <a:noFill/>
        </p:spPr>
        <p:txBody>
          <a:bodyPr wrap="square" anchor="t"/>
          <a:lstStyle/>
          <a:p>
            <a:pPr algn="l">
              <a:defRPr sz="1100" b="0" i="0">
                <a:solidFill>
                  <a:srgbClr val="CCCCCC"/>
                </a:solidFill>
              </a:defRPr>
            </a:pPr>
            <a:r>
              <a:t>Extracts symbol index from r_info, reads .dynsym[sym_idx], gets name from .dynstr.</a:t>
            </a:r>
          </a:p>
        </p:txBody>
      </p:sp>
      <p:sp>
        <p:nvSpPr>
          <p:cNvPr id="12" name="Rectangle 11"/>
          <p:cNvSpPr/>
          <p:nvPr/>
        </p:nvSpPr>
        <p:spPr>
          <a:xfrm>
            <a:off x="731520" y="2688336"/>
            <a:ext cx="54864" cy="5943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688336"/>
            <a:ext cx="3200400" cy="274320"/>
          </a:xfrm>
          <a:prstGeom prst="rect">
            <a:avLst/>
          </a:prstGeom>
          <a:noFill/>
        </p:spPr>
        <p:txBody>
          <a:bodyPr wrap="square" anchor="t"/>
          <a:lstStyle/>
          <a:p>
            <a:pPr algn="l">
              <a:defRPr sz="1300" b="1" i="0">
                <a:solidFill>
                  <a:srgbClr val="FFD700"/>
                </a:solidFill>
              </a:defRPr>
            </a:pPr>
            <a:r>
              <a:t>Step 3: Search global scope</a:t>
            </a:r>
          </a:p>
        </p:txBody>
      </p:sp>
      <p:sp>
        <p:nvSpPr>
          <p:cNvPr id="14" name="TextBox 13"/>
          <p:cNvSpPr txBox="1"/>
          <p:nvPr/>
        </p:nvSpPr>
        <p:spPr>
          <a:xfrm>
            <a:off x="914400" y="2944368"/>
            <a:ext cx="10058400" cy="365760"/>
          </a:xfrm>
          <a:prstGeom prst="rect">
            <a:avLst/>
          </a:prstGeom>
          <a:noFill/>
        </p:spPr>
        <p:txBody>
          <a:bodyPr wrap="square" anchor="t"/>
          <a:lstStyle/>
          <a:p>
            <a:pPr algn="l">
              <a:defRPr sz="1100" b="0" i="0">
                <a:solidFill>
                  <a:srgbClr val="CCCCCC"/>
                </a:solidFill>
              </a:defRPr>
            </a:pPr>
            <a:r>
              <a:t>Walks the scope chain: executable → LD_PRELOAD → DT_NEEDED (BFS order). First match wins.</a:t>
            </a:r>
          </a:p>
        </p:txBody>
      </p:sp>
      <p:sp>
        <p:nvSpPr>
          <p:cNvPr id="15" name="Rectangle 14"/>
          <p:cNvSpPr/>
          <p:nvPr/>
        </p:nvSpPr>
        <p:spPr>
          <a:xfrm>
            <a:off x="731520" y="3346704"/>
            <a:ext cx="54864" cy="59436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346704"/>
            <a:ext cx="3200400" cy="274320"/>
          </a:xfrm>
          <a:prstGeom prst="rect">
            <a:avLst/>
          </a:prstGeom>
          <a:noFill/>
        </p:spPr>
        <p:txBody>
          <a:bodyPr wrap="square" anchor="t"/>
          <a:lstStyle/>
          <a:p>
            <a:pPr algn="l">
              <a:defRPr sz="1300" b="1" i="0">
                <a:solidFill>
                  <a:srgbClr val="FF4444"/>
                </a:solidFill>
              </a:defRPr>
            </a:pPr>
            <a:r>
              <a:t>Step 4: Write to GOT</a:t>
            </a:r>
          </a:p>
        </p:txBody>
      </p:sp>
      <p:sp>
        <p:nvSpPr>
          <p:cNvPr id="17" name="TextBox 16"/>
          <p:cNvSpPr txBox="1"/>
          <p:nvPr/>
        </p:nvSpPr>
        <p:spPr>
          <a:xfrm>
            <a:off x="914400" y="3602736"/>
            <a:ext cx="10058400" cy="365760"/>
          </a:xfrm>
          <a:prstGeom prst="rect">
            <a:avLst/>
          </a:prstGeom>
          <a:noFill/>
        </p:spPr>
        <p:txBody>
          <a:bodyPr wrap="square" anchor="t"/>
          <a:lstStyle/>
          <a:p>
            <a:pPr algn="l">
              <a:defRPr sz="1100" b="0" i="0">
                <a:solidFill>
                  <a:srgbClr val="CCCCCC"/>
                </a:solidFill>
              </a:defRPr>
            </a:pPr>
            <a:r>
              <a:t>Writes resolved address to *r_offset (the .got.plt slot). GOT now points to actual function.</a:t>
            </a:r>
          </a:p>
        </p:txBody>
      </p:sp>
      <p:sp>
        <p:nvSpPr>
          <p:cNvPr id="18" name="Rectangle 17"/>
          <p:cNvSpPr/>
          <p:nvPr/>
        </p:nvSpPr>
        <p:spPr>
          <a:xfrm>
            <a:off x="731520" y="4005072"/>
            <a:ext cx="54864" cy="59436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05072"/>
            <a:ext cx="3200400" cy="274320"/>
          </a:xfrm>
          <a:prstGeom prst="rect">
            <a:avLst/>
          </a:prstGeom>
          <a:noFill/>
        </p:spPr>
        <p:txBody>
          <a:bodyPr wrap="square" anchor="t"/>
          <a:lstStyle/>
          <a:p>
            <a:pPr algn="l">
              <a:defRPr sz="1300" b="1" i="0">
                <a:solidFill>
                  <a:srgbClr val="BB86FC"/>
                </a:solidFill>
              </a:defRPr>
            </a:pPr>
            <a:r>
              <a:t>Step 5: Return address</a:t>
            </a:r>
          </a:p>
        </p:txBody>
      </p:sp>
      <p:sp>
        <p:nvSpPr>
          <p:cNvPr id="20" name="TextBox 19"/>
          <p:cNvSpPr txBox="1"/>
          <p:nvPr/>
        </p:nvSpPr>
        <p:spPr>
          <a:xfrm>
            <a:off x="914400" y="4261104"/>
            <a:ext cx="10058400" cy="365760"/>
          </a:xfrm>
          <a:prstGeom prst="rect">
            <a:avLst/>
          </a:prstGeom>
          <a:noFill/>
        </p:spPr>
        <p:txBody>
          <a:bodyPr wrap="square" anchor="t"/>
          <a:lstStyle/>
          <a:p>
            <a:pPr algn="l">
              <a:defRPr sz="1100" b="0" i="0">
                <a:solidFill>
                  <a:srgbClr val="CCCCCC"/>
                </a:solidFill>
              </a:defRPr>
            </a:pPr>
            <a:r>
              <a:t>Returns resolved address to _dl_runtime_resolve, which restores registers and tail-jumps to it.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Symbol Resolution — Scope &amp; Order</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The global scope is an ordered list — position determines priority</a:t>
            </a:r>
          </a:p>
        </p:txBody>
      </p:sp>
      <p:sp>
        <p:nvSpPr>
          <p:cNvPr id="6" name="Rectangle 5"/>
          <p:cNvSpPr/>
          <p:nvPr/>
        </p:nvSpPr>
        <p:spPr>
          <a:xfrm>
            <a:off x="731520" y="1371600"/>
            <a:ext cx="54864" cy="5943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3200400" cy="274320"/>
          </a:xfrm>
          <a:prstGeom prst="rect">
            <a:avLst/>
          </a:prstGeom>
          <a:noFill/>
        </p:spPr>
        <p:txBody>
          <a:bodyPr wrap="square" anchor="t"/>
          <a:lstStyle/>
          <a:p>
            <a:pPr algn="l">
              <a:defRPr sz="1300" b="1" i="0">
                <a:solidFill>
                  <a:srgbClr val="00D4FF"/>
                </a:solidFill>
              </a:defRPr>
            </a:pPr>
            <a:r>
              <a:t>1. The Executable</a:t>
            </a:r>
          </a:p>
        </p:txBody>
      </p:sp>
      <p:sp>
        <p:nvSpPr>
          <p:cNvPr id="8" name="TextBox 7"/>
          <p:cNvSpPr txBox="1"/>
          <p:nvPr/>
        </p:nvSpPr>
        <p:spPr>
          <a:xfrm>
            <a:off x="914400" y="1627632"/>
            <a:ext cx="10058400" cy="365760"/>
          </a:xfrm>
          <a:prstGeom prst="rect">
            <a:avLst/>
          </a:prstGeom>
          <a:noFill/>
        </p:spPr>
        <p:txBody>
          <a:bodyPr wrap="square" anchor="t"/>
          <a:lstStyle/>
          <a:p>
            <a:pPr algn="l">
              <a:defRPr sz="1100" b="0" i="0">
                <a:solidFill>
                  <a:srgbClr val="CCCCCC"/>
                </a:solidFill>
              </a:defRPr>
            </a:pPr>
            <a:r>
              <a:t>Searched first. Symbols defined in the main binary take precedence over everything.</a:t>
            </a:r>
          </a:p>
        </p:txBody>
      </p:sp>
      <p:sp>
        <p:nvSpPr>
          <p:cNvPr id="9" name="Rectangle 8"/>
          <p:cNvSpPr/>
          <p:nvPr/>
        </p:nvSpPr>
        <p:spPr>
          <a:xfrm>
            <a:off x="731520" y="2029968"/>
            <a:ext cx="54864" cy="59436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29968"/>
            <a:ext cx="3200400" cy="274320"/>
          </a:xfrm>
          <a:prstGeom prst="rect">
            <a:avLst/>
          </a:prstGeom>
          <a:noFill/>
        </p:spPr>
        <p:txBody>
          <a:bodyPr wrap="square" anchor="t"/>
          <a:lstStyle/>
          <a:p>
            <a:pPr algn="l">
              <a:defRPr sz="1300" b="1" i="0">
                <a:solidFill>
                  <a:srgbClr val="00FF88"/>
                </a:solidFill>
              </a:defRPr>
            </a:pPr>
            <a:r>
              <a:t>2. LD_PRELOAD Objects</a:t>
            </a:r>
          </a:p>
        </p:txBody>
      </p:sp>
      <p:sp>
        <p:nvSpPr>
          <p:cNvPr id="11" name="TextBox 10"/>
          <p:cNvSpPr txBox="1"/>
          <p:nvPr/>
        </p:nvSpPr>
        <p:spPr>
          <a:xfrm>
            <a:off x="914400" y="2286000"/>
            <a:ext cx="10058400" cy="365760"/>
          </a:xfrm>
          <a:prstGeom prst="rect">
            <a:avLst/>
          </a:prstGeom>
          <a:noFill/>
        </p:spPr>
        <p:txBody>
          <a:bodyPr wrap="square" anchor="t"/>
          <a:lstStyle/>
          <a:p>
            <a:pPr algn="l">
              <a:defRPr sz="1100" b="0" i="0">
                <a:solidFill>
                  <a:srgbClr val="CCCCCC"/>
                </a:solidFill>
              </a:defRPr>
            </a:pPr>
            <a:r>
              <a:t>Searched second, in the order specified. This is WHY LD_PRELOAD hooking works — preloaded definitions shadow later-loaded ones.</a:t>
            </a:r>
          </a:p>
        </p:txBody>
      </p:sp>
      <p:sp>
        <p:nvSpPr>
          <p:cNvPr id="12" name="Rectangle 11"/>
          <p:cNvSpPr/>
          <p:nvPr/>
        </p:nvSpPr>
        <p:spPr>
          <a:xfrm>
            <a:off x="731520" y="2688336"/>
            <a:ext cx="54864" cy="5943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688336"/>
            <a:ext cx="3200400" cy="274320"/>
          </a:xfrm>
          <a:prstGeom prst="rect">
            <a:avLst/>
          </a:prstGeom>
          <a:noFill/>
        </p:spPr>
        <p:txBody>
          <a:bodyPr wrap="square" anchor="t"/>
          <a:lstStyle/>
          <a:p>
            <a:pPr algn="l">
              <a:defRPr sz="1300" b="1" i="0">
                <a:solidFill>
                  <a:srgbClr val="FFD700"/>
                </a:solidFill>
              </a:defRPr>
            </a:pPr>
            <a:r>
              <a:t>3. DT_NEEDED Libraries (BFS order)</a:t>
            </a:r>
          </a:p>
        </p:txBody>
      </p:sp>
      <p:sp>
        <p:nvSpPr>
          <p:cNvPr id="14" name="TextBox 13"/>
          <p:cNvSpPr txBox="1"/>
          <p:nvPr/>
        </p:nvSpPr>
        <p:spPr>
          <a:xfrm>
            <a:off x="914400" y="2944368"/>
            <a:ext cx="10058400" cy="365760"/>
          </a:xfrm>
          <a:prstGeom prst="rect">
            <a:avLst/>
          </a:prstGeom>
          <a:noFill/>
        </p:spPr>
        <p:txBody>
          <a:bodyPr wrap="square" anchor="t"/>
          <a:lstStyle/>
          <a:p>
            <a:pPr algn="l">
              <a:defRPr sz="1100" b="0" i="0">
                <a:solidFill>
                  <a:srgbClr val="CCCCCC"/>
                </a:solidFill>
              </a:defRPr>
            </a:pPr>
            <a:r>
              <a:t>Breadth-first traversal of the dependency graph. First definition found wins. libc is typically last because everything depends on it.</a:t>
            </a:r>
          </a:p>
        </p:txBody>
      </p:sp>
      <p:sp>
        <p:nvSpPr>
          <p:cNvPr id="15" name="Rectangle 14"/>
          <p:cNvSpPr/>
          <p:nvPr/>
        </p:nvSpPr>
        <p:spPr>
          <a:xfrm>
            <a:off x="731520" y="3346704"/>
            <a:ext cx="54864" cy="59436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346704"/>
            <a:ext cx="3200400" cy="274320"/>
          </a:xfrm>
          <a:prstGeom prst="rect">
            <a:avLst/>
          </a:prstGeom>
          <a:noFill/>
        </p:spPr>
        <p:txBody>
          <a:bodyPr wrap="square" anchor="t"/>
          <a:lstStyle/>
          <a:p>
            <a:pPr algn="l">
              <a:defRPr sz="1300" b="1" i="0">
                <a:solidFill>
                  <a:srgbClr val="FF4444"/>
                </a:solidFill>
              </a:defRPr>
            </a:pPr>
            <a:r>
              <a:t>STV_PROTECTED Exception</a:t>
            </a:r>
          </a:p>
        </p:txBody>
      </p:sp>
      <p:sp>
        <p:nvSpPr>
          <p:cNvPr id="17" name="TextBox 16"/>
          <p:cNvSpPr txBox="1"/>
          <p:nvPr/>
        </p:nvSpPr>
        <p:spPr>
          <a:xfrm>
            <a:off x="914400" y="3602736"/>
            <a:ext cx="10058400" cy="365760"/>
          </a:xfrm>
          <a:prstGeom prst="rect">
            <a:avLst/>
          </a:prstGeom>
          <a:noFill/>
        </p:spPr>
        <p:txBody>
          <a:bodyPr wrap="square" anchor="t"/>
          <a:lstStyle/>
          <a:p>
            <a:pPr algn="l">
              <a:defRPr sz="1100" b="0" i="0">
                <a:solidFill>
                  <a:srgbClr val="CCCCCC"/>
                </a:solidFill>
              </a:defRPr>
            </a:pPr>
            <a:r>
              <a:t>Protected symbols bind locally within the defining object — immune to LD_PRELOAD interposition. Used inside libc to prevent internal calls from being redirected.</a:t>
            </a:r>
          </a:p>
        </p:txBody>
      </p:sp>
      <p:sp>
        <p:nvSpPr>
          <p:cNvPr id="18" name="Rectangle 17"/>
          <p:cNvSpPr/>
          <p:nvPr/>
        </p:nvSpPr>
        <p:spPr>
          <a:xfrm>
            <a:off x="731520" y="4005072"/>
            <a:ext cx="54864" cy="59436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05072"/>
            <a:ext cx="3200400" cy="274320"/>
          </a:xfrm>
          <a:prstGeom prst="rect">
            <a:avLst/>
          </a:prstGeom>
          <a:noFill/>
        </p:spPr>
        <p:txBody>
          <a:bodyPr wrap="square" anchor="t"/>
          <a:lstStyle/>
          <a:p>
            <a:pPr algn="l">
              <a:defRPr sz="1300" b="1" i="0">
                <a:solidFill>
                  <a:srgbClr val="BB86FC"/>
                </a:solidFill>
              </a:defRPr>
            </a:pPr>
            <a:r>
              <a:t>DF_SYMBOLIC / -Bsymbolic</a:t>
            </a:r>
          </a:p>
        </p:txBody>
      </p:sp>
      <p:sp>
        <p:nvSpPr>
          <p:cNvPr id="20" name="TextBox 19"/>
          <p:cNvSpPr txBox="1"/>
          <p:nvPr/>
        </p:nvSpPr>
        <p:spPr>
          <a:xfrm>
            <a:off x="914400" y="4261104"/>
            <a:ext cx="10058400" cy="365760"/>
          </a:xfrm>
          <a:prstGeom prst="rect">
            <a:avLst/>
          </a:prstGeom>
          <a:noFill/>
        </p:spPr>
        <p:txBody>
          <a:bodyPr wrap="square" anchor="t"/>
          <a:lstStyle/>
          <a:p>
            <a:pPr algn="l">
              <a:defRPr sz="1100" b="0" i="0">
                <a:solidFill>
                  <a:srgbClr val="CCCCCC"/>
                </a:solidFill>
              </a:defRPr>
            </a:pPr>
            <a:r>
              <a:t>Makes the object prefer its own definitions over global scope. Similar effect to making all symbols STV_PROTECTED. Changes LD_PRELOAD semantics for that DSO.</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12</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Why Lazy Binding</a:t>
            </a:r>
            <a:br/>
            <a:r>
              <a:t>Is Increasingly Disabled</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Full RELRO closes the GOT as an exploit target — at a small startup cost</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Lazy Binding vs Full RELRO (Eager Binding)</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097280"/>
            <a:ext cx="5029200" cy="457200"/>
          </a:xfrm>
          <a:prstGeom prst="roundRect">
            <a:avLst/>
          </a:prstGeom>
          <a:solidFill>
            <a:srgbClr val="1C1C34"/>
          </a:solidFill>
          <a:ln w="254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600" b="1">
                <a:solidFill>
                  <a:srgbClr val="FF4444"/>
                </a:solidFill>
              </a:defRPr>
            </a:pPr>
            <a:r>
              <a:t>Lazy Binding (Partial RELRO)</a:t>
            </a:r>
          </a:p>
        </p:txBody>
      </p:sp>
      <p:sp>
        <p:nvSpPr>
          <p:cNvPr id="6" name="Rectangle 5"/>
          <p:cNvSpPr/>
          <p:nvPr/>
        </p:nvSpPr>
        <p:spPr>
          <a:xfrm>
            <a:off x="548640" y="1737360"/>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 y="173736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Resolves symbols on FIRST CALL only</a:t>
            </a:r>
          </a:p>
        </p:txBody>
      </p:sp>
      <p:sp>
        <p:nvSpPr>
          <p:cNvPr id="8" name="Rectangle 7"/>
          <p:cNvSpPr/>
          <p:nvPr/>
        </p:nvSpPr>
        <p:spPr>
          <a:xfrm>
            <a:off x="548640" y="2121408"/>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212140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Skips unused symbols → saves startup time</a:t>
            </a:r>
          </a:p>
        </p:txBody>
      </p:sp>
      <p:sp>
        <p:nvSpPr>
          <p:cNvPr id="10" name="Rectangle 9"/>
          <p:cNvSpPr/>
          <p:nvPr/>
        </p:nvSpPr>
        <p:spPr>
          <a:xfrm>
            <a:off x="548640" y="2505456"/>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 y="2505456"/>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.got.plt remains WRITABLE at runtime</a:t>
            </a:r>
          </a:p>
        </p:txBody>
      </p:sp>
      <p:sp>
        <p:nvSpPr>
          <p:cNvPr id="12" name="Rectangle 11"/>
          <p:cNvSpPr/>
          <p:nvPr/>
        </p:nvSpPr>
        <p:spPr>
          <a:xfrm>
            <a:off x="548640" y="2889504"/>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 y="2889504"/>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GOT overwrite = classic exploit primitive</a:t>
            </a:r>
          </a:p>
        </p:txBody>
      </p:sp>
      <p:sp>
        <p:nvSpPr>
          <p:cNvPr id="14" name="Rectangle 13"/>
          <p:cNvSpPr/>
          <p:nvPr/>
        </p:nvSpPr>
        <p:spPr>
          <a:xfrm>
            <a:off x="548640" y="3273552"/>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 y="3273552"/>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Non-deterministic memory image (changes at each first call)</a:t>
            </a:r>
          </a:p>
        </p:txBody>
      </p:sp>
      <p:sp>
        <p:nvSpPr>
          <p:cNvPr id="16" name="Rectangle 15"/>
          <p:cNvSpPr/>
          <p:nvPr/>
        </p:nvSpPr>
        <p:spPr>
          <a:xfrm>
            <a:off x="548640" y="3657600"/>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 y="365760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Default on older toolchains without -z now</a:t>
            </a:r>
          </a:p>
        </p:txBody>
      </p:sp>
      <p:sp>
        <p:nvSpPr>
          <p:cNvPr id="18" name="Rectangle 17"/>
          <p:cNvSpPr/>
          <p:nvPr/>
        </p:nvSpPr>
        <p:spPr>
          <a:xfrm>
            <a:off x="548640" y="4041648"/>
            <a:ext cx="54864" cy="329184"/>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 y="404164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Unpredictable resolution latency at call sites</a:t>
            </a:r>
          </a:p>
        </p:txBody>
      </p:sp>
      <p:sp>
        <p:nvSpPr>
          <p:cNvPr id="20" name="Rectangle 19"/>
          <p:cNvSpPr/>
          <p:nvPr/>
        </p:nvSpPr>
        <p:spPr>
          <a:xfrm>
            <a:off x="5623560" y="2743200"/>
            <a:ext cx="914400" cy="914400"/>
          </a:xfrm>
          <a:prstGeom prst="rect">
            <a:avLst/>
          </a:prstGeom>
          <a:solidFill>
            <a:srgbClr val="0A0A1A"/>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800" b="1">
                <a:solidFill>
                  <a:srgbClr val="FFD700"/>
                </a:solidFill>
              </a:defRPr>
            </a:pPr>
            <a:r>
              <a:t>→</a:t>
            </a:r>
          </a:p>
        </p:txBody>
      </p:sp>
      <p:sp>
        <p:nvSpPr>
          <p:cNvPr id="21" name="Rounded Rectangle 20"/>
          <p:cNvSpPr/>
          <p:nvPr/>
        </p:nvSpPr>
        <p:spPr>
          <a:xfrm>
            <a:off x="6583680" y="1097280"/>
            <a:ext cx="5029200" cy="457200"/>
          </a:xfrm>
          <a:prstGeom prst="roundRect">
            <a:avLst/>
          </a:prstGeom>
          <a:solidFill>
            <a:srgbClr val="1C1C34"/>
          </a:solidFill>
          <a:ln w="254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600" b="1">
                <a:solidFill>
                  <a:srgbClr val="00FF88"/>
                </a:solidFill>
              </a:defRPr>
            </a:pPr>
            <a:r>
              <a:t>Full RELRO (-z relro -z now)</a:t>
            </a:r>
          </a:p>
        </p:txBody>
      </p:sp>
      <p:sp>
        <p:nvSpPr>
          <p:cNvPr id="22" name="Rectangle 21"/>
          <p:cNvSpPr/>
          <p:nvPr/>
        </p:nvSpPr>
        <p:spPr>
          <a:xfrm>
            <a:off x="6583680" y="1737360"/>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656832" y="173736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Resolves ALL symbols at LOAD TIME</a:t>
            </a:r>
          </a:p>
        </p:txBody>
      </p:sp>
      <p:sp>
        <p:nvSpPr>
          <p:cNvPr id="24" name="Rectangle 23"/>
          <p:cNvSpPr/>
          <p:nvPr/>
        </p:nvSpPr>
        <p:spPr>
          <a:xfrm>
            <a:off x="6583680" y="2121408"/>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56832" y="212140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Slight startup penalty (microseconds for most binaries)</a:t>
            </a:r>
          </a:p>
        </p:txBody>
      </p:sp>
      <p:sp>
        <p:nvSpPr>
          <p:cNvPr id="26" name="Rectangle 25"/>
          <p:cNvSpPr/>
          <p:nvPr/>
        </p:nvSpPr>
        <p:spPr>
          <a:xfrm>
            <a:off x="6583680" y="2505456"/>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656832" y="2505456"/>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.got.plt mprotect'd READ-ONLY after relocation</a:t>
            </a:r>
          </a:p>
        </p:txBody>
      </p:sp>
      <p:sp>
        <p:nvSpPr>
          <p:cNvPr id="28" name="Rectangle 27"/>
          <p:cNvSpPr/>
          <p:nvPr/>
        </p:nvSpPr>
        <p:spPr>
          <a:xfrm>
            <a:off x="6583680" y="2889504"/>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656832" y="2889504"/>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GOT overwrite → SIGSEGV (attack fails)</a:t>
            </a:r>
          </a:p>
        </p:txBody>
      </p:sp>
      <p:sp>
        <p:nvSpPr>
          <p:cNvPr id="30" name="Rectangle 29"/>
          <p:cNvSpPr/>
          <p:nvPr/>
        </p:nvSpPr>
        <p:spPr>
          <a:xfrm>
            <a:off x="6583680" y="3273552"/>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656832" y="3273552"/>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Deterministic memory image from first instruction</a:t>
            </a:r>
          </a:p>
        </p:txBody>
      </p:sp>
      <p:sp>
        <p:nvSpPr>
          <p:cNvPr id="32" name="Rectangle 31"/>
          <p:cNvSpPr/>
          <p:nvPr/>
        </p:nvSpPr>
        <p:spPr>
          <a:xfrm>
            <a:off x="6583680" y="3657600"/>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656832" y="3657600"/>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Standard on all modern hardened toolchains</a:t>
            </a:r>
          </a:p>
        </p:txBody>
      </p:sp>
      <p:sp>
        <p:nvSpPr>
          <p:cNvPr id="34" name="Rectangle 33"/>
          <p:cNvSpPr/>
          <p:nvPr/>
        </p:nvSpPr>
        <p:spPr>
          <a:xfrm>
            <a:off x="6583680" y="4041648"/>
            <a:ext cx="54864" cy="32918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656832" y="4041648"/>
            <a:ext cx="4956048" cy="329184"/>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Predictable performance: no lazy resolution spikes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Detecting RELRO Posture — Quick Checks</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9601200" y="320040"/>
            <a:ext cx="1828800" cy="274320"/>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D4FF"/>
                </a:solidFill>
              </a:defRPr>
            </a:pPr>
            <a:r>
              <a:t>bash</a:t>
            </a:r>
          </a:p>
        </p:txBody>
      </p:sp>
      <p:sp>
        <p:nvSpPr>
          <p:cNvPr id="6" name="Rounded Rectangle 5"/>
          <p:cNvSpPr/>
          <p:nvPr/>
        </p:nvSpPr>
        <p:spPr>
          <a:xfrm>
            <a:off x="548640" y="1097280"/>
            <a:ext cx="10789920" cy="4389120"/>
          </a:xfrm>
          <a:prstGeom prst="roundRect">
            <a:avLst/>
          </a:prstGeom>
          <a:solidFill>
            <a:srgbClr val="14142A"/>
          </a:solidFill>
          <a:ln w="1270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cxnSp>
        <p:nvCxnSpPr>
          <p:cNvPr id="7" name="Connector 6"/>
          <p:cNvCxnSpPr/>
          <p:nvPr/>
        </p:nvCxnSpPr>
        <p:spPr>
          <a:xfrm>
            <a:off x="548640" y="1417320"/>
            <a:ext cx="10789920" cy="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7240" y="1207008"/>
            <a:ext cx="137160" cy="13716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Oval 8"/>
          <p:cNvSpPr/>
          <p:nvPr/>
        </p:nvSpPr>
        <p:spPr>
          <a:xfrm>
            <a:off x="1005840" y="1207008"/>
            <a:ext cx="137160" cy="1371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Oval 9"/>
          <p:cNvSpPr/>
          <p:nvPr/>
        </p:nvSpPr>
        <p:spPr>
          <a:xfrm>
            <a:off x="1234440" y="1207008"/>
            <a:ext cx="137160" cy="13716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777240" y="1508760"/>
            <a:ext cx="10332720" cy="3840480"/>
          </a:xfrm>
          <a:prstGeom prst="rect">
            <a:avLst/>
          </a:prstGeom>
          <a:noFill/>
        </p:spPr>
        <p:txBody>
          <a:bodyPr wrap="square" anchor="t"/>
          <a:lstStyle/>
          <a:p>
            <a:pPr algn="l">
              <a:defRPr sz="1000" b="0" i="0">
                <a:solidFill>
                  <a:srgbClr val="CCCCCC"/>
                </a:solidFill>
                <a:latin typeface="Consolas"/>
              </a:defRPr>
            </a:pPr>
            <a:r>
              <a:t># Check with checksec (pwntools)</a:t>
            </a:r>
            <a:br/>
            <a:r>
              <a:t>$ checksec --file=./binary</a:t>
            </a:r>
            <a:br/>
            <a:r>
              <a:t>    Arch:     amd64-64-little</a:t>
            </a:r>
            <a:br/>
            <a:r>
              <a:t>    RELRO:    Full RELRO          # ← what you want</a:t>
            </a:r>
            <a:br/>
            <a:r>
              <a:t>    Stack:    Canary found</a:t>
            </a:r>
            <a:br/>
            <a:r>
              <a:t>    NX:       NX enabled</a:t>
            </a:r>
            <a:br/>
            <a:r>
              <a:t>    PIE:      PIE enabled</a:t>
            </a:r>
            <a:br/>
            <a:br/>
            <a:r>
              <a:t># Check with readelf</a:t>
            </a:r>
            <a:br/>
            <a:r>
              <a:t>$ readelf -d ./binary | grep -E 'BIND_NOW|FLAGS'</a:t>
            </a:r>
            <a:br/>
            <a:r>
              <a:t> 0x000000000000001e (FLAGS)    BIND_NOW</a:t>
            </a:r>
            <a:br/>
            <a:r>
              <a:t> 0x000000006ffffffb (FLAGS_1)  Flags: NOW PIE</a:t>
            </a:r>
            <a:br/>
            <a:br/>
            <a:r>
              <a:t># Check for GNU_RELRO segment</a:t>
            </a:r>
            <a:br/>
            <a:r>
              <a:t>$ readelf -l ./binary | grep GNU_RELRO</a:t>
            </a:r>
            <a:br/>
            <a:r>
              <a:t>  GNU_RELRO      0x002d90 0x0000000000003d90 ...</a:t>
            </a:r>
            <a:br/>
            <a:br/>
            <a:r>
              <a:t># Compile with full RELRO</a:t>
            </a:r>
            <a:br/>
            <a:r>
              <a:t>$ gcc -Wl,-z,relro,-z,now -o binary source.c</a:t>
            </a:r>
          </a:p>
        </p:txBody>
      </p:sp>
      <p:sp>
        <p:nvSpPr>
          <p:cNvPr id="12" name="TextBox 11"/>
          <p:cNvSpPr txBox="1"/>
          <p:nvPr/>
        </p:nvSpPr>
        <p:spPr>
          <a:xfrm>
            <a:off x="731520" y="5623560"/>
            <a:ext cx="10515600" cy="274320"/>
          </a:xfrm>
          <a:prstGeom prst="rect">
            <a:avLst/>
          </a:prstGeom>
          <a:noFill/>
        </p:spPr>
        <p:txBody>
          <a:bodyPr wrap="square" anchor="t"/>
          <a:lstStyle/>
          <a:p>
            <a:pPr algn="l">
              <a:defRPr sz="1000" b="0" i="1">
                <a:solidFill>
                  <a:srgbClr val="999999"/>
                </a:solidFill>
              </a:defRPr>
            </a:pPr>
            <a:r>
              <a:t>→ BIND_NOW in FLAGS or FLAGS_1 = eager binding = full RELRO possible</a:t>
            </a:r>
          </a:p>
        </p:txBody>
      </p:sp>
      <p:sp>
        <p:nvSpPr>
          <p:cNvPr id="13" name="TextBox 12"/>
          <p:cNvSpPr txBox="1"/>
          <p:nvPr/>
        </p:nvSpPr>
        <p:spPr>
          <a:xfrm>
            <a:off x="731520" y="5879592"/>
            <a:ext cx="10515600" cy="274320"/>
          </a:xfrm>
          <a:prstGeom prst="rect">
            <a:avLst/>
          </a:prstGeom>
          <a:noFill/>
        </p:spPr>
        <p:txBody>
          <a:bodyPr wrap="square" anchor="t"/>
          <a:lstStyle/>
          <a:p>
            <a:pPr algn="l">
              <a:defRPr sz="1000" b="0" i="1">
                <a:solidFill>
                  <a:srgbClr val="999999"/>
                </a:solidFill>
              </a:defRPr>
            </a:pPr>
            <a:r>
              <a:t>→ GNU_RELRO segment present = some RELRO protection (could be partial)</a:t>
            </a:r>
          </a:p>
        </p:txBody>
      </p:sp>
      <p:sp>
        <p:nvSpPr>
          <p:cNvPr id="14" name="TextBox 13"/>
          <p:cNvSpPr txBox="1"/>
          <p:nvPr/>
        </p:nvSpPr>
        <p:spPr>
          <a:xfrm>
            <a:off x="731520" y="6135624"/>
            <a:ext cx="10515600" cy="274320"/>
          </a:xfrm>
          <a:prstGeom prst="rect">
            <a:avLst/>
          </a:prstGeom>
          <a:noFill/>
        </p:spPr>
        <p:txBody>
          <a:bodyPr wrap="square" anchor="t"/>
          <a:lstStyle/>
          <a:p>
            <a:pPr algn="l">
              <a:defRPr sz="1000" b="0" i="1">
                <a:solidFill>
                  <a:srgbClr val="999999"/>
                </a:solidFill>
              </a:defRPr>
            </a:pPr>
            <a:r>
              <a:t>→ Both BIND_NOW + GNU_RELRO = full RELRO (GOT is read-only after load)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Three Forces Killing Lazy Binding</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026767" y="1280160"/>
            <a:ext cx="2560320" cy="201168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6" name="TextBox 5"/>
          <p:cNvSpPr txBox="1"/>
          <p:nvPr/>
        </p:nvSpPr>
        <p:spPr>
          <a:xfrm>
            <a:off x="2026767" y="1417320"/>
            <a:ext cx="2560320" cy="457200"/>
          </a:xfrm>
          <a:prstGeom prst="rect">
            <a:avLst/>
          </a:prstGeom>
          <a:noFill/>
        </p:spPr>
        <p:txBody>
          <a:bodyPr wrap="square" anchor="t"/>
          <a:lstStyle/>
          <a:p>
            <a:pPr algn="ctr">
              <a:defRPr sz="2800" b="0" i="0">
                <a:solidFill>
                  <a:srgbClr val="FF4444"/>
                </a:solidFill>
              </a:defRPr>
            </a:pPr>
            <a:r>
              <a:t>🔒</a:t>
            </a:r>
          </a:p>
        </p:txBody>
      </p:sp>
      <p:sp>
        <p:nvSpPr>
          <p:cNvPr id="7" name="TextBox 6"/>
          <p:cNvSpPr txBox="1"/>
          <p:nvPr/>
        </p:nvSpPr>
        <p:spPr>
          <a:xfrm>
            <a:off x="2163927" y="1920240"/>
            <a:ext cx="2286000" cy="320040"/>
          </a:xfrm>
          <a:prstGeom prst="rect">
            <a:avLst/>
          </a:prstGeom>
          <a:noFill/>
        </p:spPr>
        <p:txBody>
          <a:bodyPr wrap="square" anchor="t"/>
          <a:lstStyle/>
          <a:p>
            <a:pPr algn="ctr">
              <a:defRPr sz="1200" b="1" i="0">
                <a:solidFill>
                  <a:srgbClr val="FFFFFF"/>
                </a:solidFill>
              </a:defRPr>
            </a:pPr>
            <a:r>
              <a:t>Security</a:t>
            </a:r>
          </a:p>
        </p:txBody>
      </p:sp>
      <p:sp>
        <p:nvSpPr>
          <p:cNvPr id="8" name="TextBox 7"/>
          <p:cNvSpPr txBox="1"/>
          <p:nvPr/>
        </p:nvSpPr>
        <p:spPr>
          <a:xfrm>
            <a:off x="2163927" y="2286000"/>
            <a:ext cx="2286000" cy="822960"/>
          </a:xfrm>
          <a:prstGeom prst="rect">
            <a:avLst/>
          </a:prstGeom>
          <a:noFill/>
        </p:spPr>
        <p:txBody>
          <a:bodyPr wrap="square" anchor="t"/>
          <a:lstStyle/>
          <a:p>
            <a:pPr algn="ctr">
              <a:defRPr sz="900" b="0" i="0">
                <a:solidFill>
                  <a:srgbClr val="CCCCCC"/>
                </a:solidFill>
              </a:defRPr>
            </a:pPr>
            <a:r>
              <a:t>Writable .got.plt = classic exploit target. Full RELRO + BIND_NOW makes GOT overwrite produce SIGSEGV instead of code execution.</a:t>
            </a:r>
          </a:p>
        </p:txBody>
      </p:sp>
      <p:sp>
        <p:nvSpPr>
          <p:cNvPr id="9" name="Rounded Rectangle 8"/>
          <p:cNvSpPr/>
          <p:nvPr/>
        </p:nvSpPr>
        <p:spPr>
          <a:xfrm>
            <a:off x="4815687" y="1280160"/>
            <a:ext cx="2560320" cy="201168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TextBox 9"/>
          <p:cNvSpPr txBox="1"/>
          <p:nvPr/>
        </p:nvSpPr>
        <p:spPr>
          <a:xfrm>
            <a:off x="4815687" y="1417320"/>
            <a:ext cx="2560320" cy="457200"/>
          </a:xfrm>
          <a:prstGeom prst="rect">
            <a:avLst/>
          </a:prstGeom>
          <a:noFill/>
        </p:spPr>
        <p:txBody>
          <a:bodyPr wrap="square" anchor="t"/>
          <a:lstStyle/>
          <a:p>
            <a:pPr algn="ctr">
              <a:defRPr sz="2800" b="0" i="0">
                <a:solidFill>
                  <a:srgbClr val="FFD700"/>
                </a:solidFill>
              </a:defRPr>
            </a:pPr>
            <a:r>
              <a:t>📐</a:t>
            </a:r>
          </a:p>
        </p:txBody>
      </p:sp>
      <p:sp>
        <p:nvSpPr>
          <p:cNvPr id="11" name="TextBox 10"/>
          <p:cNvSpPr txBox="1"/>
          <p:nvPr/>
        </p:nvSpPr>
        <p:spPr>
          <a:xfrm>
            <a:off x="4952847" y="1920240"/>
            <a:ext cx="2286000" cy="320040"/>
          </a:xfrm>
          <a:prstGeom prst="rect">
            <a:avLst/>
          </a:prstGeom>
          <a:noFill/>
        </p:spPr>
        <p:txBody>
          <a:bodyPr wrap="square" anchor="t"/>
          <a:lstStyle/>
          <a:p>
            <a:pPr algn="ctr">
              <a:defRPr sz="1200" b="1" i="0">
                <a:solidFill>
                  <a:srgbClr val="FFFFFF"/>
                </a:solidFill>
              </a:defRPr>
            </a:pPr>
            <a:r>
              <a:t>Determinism</a:t>
            </a:r>
          </a:p>
        </p:txBody>
      </p:sp>
      <p:sp>
        <p:nvSpPr>
          <p:cNvPr id="12" name="TextBox 11"/>
          <p:cNvSpPr txBox="1"/>
          <p:nvPr/>
        </p:nvSpPr>
        <p:spPr>
          <a:xfrm>
            <a:off x="4952847" y="2286000"/>
            <a:ext cx="2286000" cy="822960"/>
          </a:xfrm>
          <a:prstGeom prst="rect">
            <a:avLst/>
          </a:prstGeom>
          <a:noFill/>
        </p:spPr>
        <p:txBody>
          <a:bodyPr wrap="square" anchor="t"/>
          <a:lstStyle/>
          <a:p>
            <a:pPr algn="ctr">
              <a:defRPr sz="900" b="0" i="0">
                <a:solidFill>
                  <a:srgbClr val="CCCCCC"/>
                </a:solidFill>
              </a:defRPr>
            </a:pPr>
            <a:r>
              <a:t>Lazy binding creates non-deterministic memory images. Memory forensics, snapshots, and fingerprinting tools prefer deterministic state.</a:t>
            </a:r>
          </a:p>
        </p:txBody>
      </p:sp>
      <p:sp>
        <p:nvSpPr>
          <p:cNvPr id="13" name="Rounded Rectangle 12"/>
          <p:cNvSpPr/>
          <p:nvPr/>
        </p:nvSpPr>
        <p:spPr>
          <a:xfrm>
            <a:off x="7604607" y="1280160"/>
            <a:ext cx="2560320" cy="201168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4" name="TextBox 13"/>
          <p:cNvSpPr txBox="1"/>
          <p:nvPr/>
        </p:nvSpPr>
        <p:spPr>
          <a:xfrm>
            <a:off x="7604607" y="1417320"/>
            <a:ext cx="2560320" cy="457200"/>
          </a:xfrm>
          <a:prstGeom prst="rect">
            <a:avLst/>
          </a:prstGeom>
          <a:noFill/>
        </p:spPr>
        <p:txBody>
          <a:bodyPr wrap="square" anchor="t"/>
          <a:lstStyle/>
          <a:p>
            <a:pPr algn="ctr">
              <a:defRPr sz="2800" b="0" i="0">
                <a:solidFill>
                  <a:srgbClr val="00D4FF"/>
                </a:solidFill>
              </a:defRPr>
            </a:pPr>
            <a:r>
              <a:t>⚡</a:t>
            </a:r>
          </a:p>
        </p:txBody>
      </p:sp>
      <p:sp>
        <p:nvSpPr>
          <p:cNvPr id="15" name="TextBox 14"/>
          <p:cNvSpPr txBox="1"/>
          <p:nvPr/>
        </p:nvSpPr>
        <p:spPr>
          <a:xfrm>
            <a:off x="7741767" y="1920240"/>
            <a:ext cx="2286000" cy="320040"/>
          </a:xfrm>
          <a:prstGeom prst="rect">
            <a:avLst/>
          </a:prstGeom>
          <a:noFill/>
        </p:spPr>
        <p:txBody>
          <a:bodyPr wrap="square" anchor="t"/>
          <a:lstStyle/>
          <a:p>
            <a:pPr algn="ctr">
              <a:defRPr sz="1200" b="1" i="0">
                <a:solidFill>
                  <a:srgbClr val="FFFFFF"/>
                </a:solidFill>
              </a:defRPr>
            </a:pPr>
            <a:r>
              <a:t>PGO</a:t>
            </a:r>
          </a:p>
        </p:txBody>
      </p:sp>
      <p:sp>
        <p:nvSpPr>
          <p:cNvPr id="16" name="TextBox 15"/>
          <p:cNvSpPr txBox="1"/>
          <p:nvPr/>
        </p:nvSpPr>
        <p:spPr>
          <a:xfrm>
            <a:off x="7741767" y="2286000"/>
            <a:ext cx="2286000" cy="822960"/>
          </a:xfrm>
          <a:prstGeom prst="rect">
            <a:avLst/>
          </a:prstGeom>
          <a:noFill/>
        </p:spPr>
        <p:txBody>
          <a:bodyPr wrap="square" anchor="t"/>
          <a:lstStyle/>
          <a:p>
            <a:pPr algn="ctr">
              <a:defRPr sz="900" b="0" i="0">
                <a:solidFill>
                  <a:srgbClr val="CCCCCC"/>
                </a:solidFill>
              </a:defRPr>
            </a:pPr>
            <a:r>
              <a:t>Profile-Guided Optimization reorders code and pre-resolves hot symbols. Lazy binding savings are smaller than they used to be.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13</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Complete ELF</a:t>
            </a:r>
            <a:br/>
            <a:r>
              <a:t>Load Sequence</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From execve() to main() — every step in order</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 Load Sequence — Phase 1: Kernel</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3200400"/>
            <a:ext cx="11247120" cy="0"/>
          </a:xfrm>
          <a:prstGeom prst="line">
            <a:avLst/>
          </a:prstGeom>
          <a:ln w="25400">
            <a:solidFill>
              <a:srgbClr val="333350"/>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640080" y="3108960"/>
            <a:ext cx="182880" cy="1828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7" name="TextBox 6"/>
          <p:cNvSpPr txBox="1"/>
          <p:nvPr/>
        </p:nvSpPr>
        <p:spPr>
          <a:xfrm>
            <a:off x="274320" y="2103120"/>
            <a:ext cx="1371600" cy="274320"/>
          </a:xfrm>
          <a:prstGeom prst="rect">
            <a:avLst/>
          </a:prstGeom>
          <a:noFill/>
        </p:spPr>
        <p:txBody>
          <a:bodyPr wrap="square" anchor="t"/>
          <a:lstStyle/>
          <a:p>
            <a:pPr algn="ctr">
              <a:defRPr sz="1100" b="1" i="0">
                <a:solidFill>
                  <a:srgbClr val="00D4FF"/>
                </a:solidFill>
              </a:defRPr>
            </a:pPr>
            <a:r>
              <a:t>execve()</a:t>
            </a:r>
          </a:p>
        </p:txBody>
      </p:sp>
      <p:sp>
        <p:nvSpPr>
          <p:cNvPr id="8" name="TextBox 7"/>
          <p:cNvSpPr txBox="1"/>
          <p:nvPr/>
        </p:nvSpPr>
        <p:spPr>
          <a:xfrm>
            <a:off x="91440" y="2377440"/>
            <a:ext cx="1645920" cy="548640"/>
          </a:xfrm>
          <a:prstGeom prst="rect">
            <a:avLst/>
          </a:prstGeom>
          <a:noFill/>
        </p:spPr>
        <p:txBody>
          <a:bodyPr wrap="square" anchor="t"/>
          <a:lstStyle/>
          <a:p>
            <a:pPr algn="ctr">
              <a:defRPr sz="900" b="0" i="0">
                <a:solidFill>
                  <a:srgbClr val="CCCCCC"/>
                </a:solidFill>
              </a:defRPr>
            </a:pPr>
            <a:r>
              <a:t>User calls execve() syscall</a:t>
            </a:r>
          </a:p>
        </p:txBody>
      </p:sp>
      <p:cxnSp>
        <p:nvCxnSpPr>
          <p:cNvPr id="9" name="Connector 8"/>
          <p:cNvCxnSpPr/>
          <p:nvPr/>
        </p:nvCxnSpPr>
        <p:spPr>
          <a:xfrm>
            <a:off x="731520.0" y="2880360"/>
            <a:ext cx="0.0" cy="22860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468880" y="3108960"/>
            <a:ext cx="182880" cy="18288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2103120" y="3566160"/>
            <a:ext cx="1371600" cy="274320"/>
          </a:xfrm>
          <a:prstGeom prst="rect">
            <a:avLst/>
          </a:prstGeom>
          <a:noFill/>
        </p:spPr>
        <p:txBody>
          <a:bodyPr wrap="square" anchor="t"/>
          <a:lstStyle/>
          <a:p>
            <a:pPr algn="ctr">
              <a:defRPr sz="1100" b="1" i="0">
                <a:solidFill>
                  <a:srgbClr val="00FF88"/>
                </a:solidFill>
              </a:defRPr>
            </a:pPr>
            <a:r>
              <a:t>binfmt_elf</a:t>
            </a:r>
          </a:p>
        </p:txBody>
      </p:sp>
      <p:sp>
        <p:nvSpPr>
          <p:cNvPr id="12" name="TextBox 11"/>
          <p:cNvSpPr txBox="1"/>
          <p:nvPr/>
        </p:nvSpPr>
        <p:spPr>
          <a:xfrm>
            <a:off x="1920240" y="3840480"/>
            <a:ext cx="1645920" cy="548640"/>
          </a:xfrm>
          <a:prstGeom prst="rect">
            <a:avLst/>
          </a:prstGeom>
          <a:noFill/>
        </p:spPr>
        <p:txBody>
          <a:bodyPr wrap="square" anchor="t"/>
          <a:lstStyle/>
          <a:p>
            <a:pPr algn="ctr">
              <a:defRPr sz="900" b="0" i="0">
                <a:solidFill>
                  <a:srgbClr val="CCCCCC"/>
                </a:solidFill>
              </a:defRPr>
            </a:pPr>
            <a:r>
              <a:t>Kernel parses ELF header + phdr table</a:t>
            </a:r>
          </a:p>
        </p:txBody>
      </p:sp>
      <p:cxnSp>
        <p:nvCxnSpPr>
          <p:cNvPr id="13" name="Connector 12"/>
          <p:cNvCxnSpPr/>
          <p:nvPr/>
        </p:nvCxnSpPr>
        <p:spPr>
          <a:xfrm>
            <a:off x="2560320.0" y="3291840"/>
            <a:ext cx="0.0" cy="228600"/>
          </a:xfrm>
          <a:prstGeom prst="line">
            <a:avLst/>
          </a:prstGeom>
          <a:ln w="12700">
            <a:solidFill>
              <a:srgbClr val="00FF88"/>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297680" y="3108960"/>
            <a:ext cx="182880" cy="18288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5" name="TextBox 14"/>
          <p:cNvSpPr txBox="1"/>
          <p:nvPr/>
        </p:nvSpPr>
        <p:spPr>
          <a:xfrm>
            <a:off x="3931920" y="2103120"/>
            <a:ext cx="1371600" cy="274320"/>
          </a:xfrm>
          <a:prstGeom prst="rect">
            <a:avLst/>
          </a:prstGeom>
          <a:noFill/>
        </p:spPr>
        <p:txBody>
          <a:bodyPr wrap="square" anchor="t"/>
          <a:lstStyle/>
          <a:p>
            <a:pPr algn="ctr">
              <a:defRPr sz="1100" b="1" i="0">
                <a:solidFill>
                  <a:srgbClr val="FFD700"/>
                </a:solidFill>
              </a:defRPr>
            </a:pPr>
            <a:r>
              <a:t>mmap LOAD</a:t>
            </a:r>
          </a:p>
        </p:txBody>
      </p:sp>
      <p:sp>
        <p:nvSpPr>
          <p:cNvPr id="16" name="TextBox 15"/>
          <p:cNvSpPr txBox="1"/>
          <p:nvPr/>
        </p:nvSpPr>
        <p:spPr>
          <a:xfrm>
            <a:off x="3749040" y="2377440"/>
            <a:ext cx="1645920" cy="548640"/>
          </a:xfrm>
          <a:prstGeom prst="rect">
            <a:avLst/>
          </a:prstGeom>
          <a:noFill/>
        </p:spPr>
        <p:txBody>
          <a:bodyPr wrap="square" anchor="t"/>
          <a:lstStyle/>
          <a:p>
            <a:pPr algn="ctr">
              <a:defRPr sz="900" b="0" i="0">
                <a:solidFill>
                  <a:srgbClr val="CCCCCC"/>
                </a:solidFill>
              </a:defRPr>
            </a:pPr>
            <a:r>
              <a:t>Kernel maps PT_LOAD segments</a:t>
            </a:r>
          </a:p>
        </p:txBody>
      </p:sp>
      <p:cxnSp>
        <p:nvCxnSpPr>
          <p:cNvPr id="17" name="Connector 16"/>
          <p:cNvCxnSpPr/>
          <p:nvPr/>
        </p:nvCxnSpPr>
        <p:spPr>
          <a:xfrm>
            <a:off x="4389120.0" y="2880360"/>
            <a:ext cx="0.0" cy="228600"/>
          </a:xfrm>
          <a:prstGeom prst="line">
            <a:avLst/>
          </a:prstGeom>
          <a:ln w="12700">
            <a:solidFill>
              <a:srgbClr val="FFD70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126480" y="3108960"/>
            <a:ext cx="182880" cy="18288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9" name="TextBox 18"/>
          <p:cNvSpPr txBox="1"/>
          <p:nvPr/>
        </p:nvSpPr>
        <p:spPr>
          <a:xfrm>
            <a:off x="5760720" y="3566160"/>
            <a:ext cx="1371600" cy="274320"/>
          </a:xfrm>
          <a:prstGeom prst="rect">
            <a:avLst/>
          </a:prstGeom>
          <a:noFill/>
        </p:spPr>
        <p:txBody>
          <a:bodyPr wrap="square" anchor="t"/>
          <a:lstStyle/>
          <a:p>
            <a:pPr algn="ctr">
              <a:defRPr sz="1100" b="1" i="0">
                <a:solidFill>
                  <a:srgbClr val="FF4444"/>
                </a:solidFill>
              </a:defRPr>
            </a:pPr>
            <a:r>
              <a:t>ASLR base</a:t>
            </a:r>
          </a:p>
        </p:txBody>
      </p:sp>
      <p:sp>
        <p:nvSpPr>
          <p:cNvPr id="20" name="TextBox 19"/>
          <p:cNvSpPr txBox="1"/>
          <p:nvPr/>
        </p:nvSpPr>
        <p:spPr>
          <a:xfrm>
            <a:off x="5577840" y="3840480"/>
            <a:ext cx="1645920" cy="548640"/>
          </a:xfrm>
          <a:prstGeom prst="rect">
            <a:avLst/>
          </a:prstGeom>
          <a:noFill/>
        </p:spPr>
        <p:txBody>
          <a:bodyPr wrap="square" anchor="t"/>
          <a:lstStyle/>
          <a:p>
            <a:pPr algn="ctr">
              <a:defRPr sz="900" b="0" i="0">
                <a:solidFill>
                  <a:srgbClr val="CCCCCC"/>
                </a:solidFill>
              </a:defRPr>
            </a:pPr>
            <a:r>
              <a:t>Kernel picks random base for PIE</a:t>
            </a:r>
          </a:p>
        </p:txBody>
      </p:sp>
      <p:cxnSp>
        <p:nvCxnSpPr>
          <p:cNvPr id="21" name="Connector 20"/>
          <p:cNvCxnSpPr/>
          <p:nvPr/>
        </p:nvCxnSpPr>
        <p:spPr>
          <a:xfrm>
            <a:off x="6217920.0" y="3291840"/>
            <a:ext cx="0.0" cy="228600"/>
          </a:xfrm>
          <a:prstGeom prst="line">
            <a:avLst/>
          </a:prstGeom>
          <a:ln w="12700">
            <a:solidFill>
              <a:srgbClr val="FF4444"/>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955280" y="3108960"/>
            <a:ext cx="182880" cy="182880"/>
          </a:xfrm>
          <a:prstGeom prst="ellipse">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3" name="TextBox 22"/>
          <p:cNvSpPr txBox="1"/>
          <p:nvPr/>
        </p:nvSpPr>
        <p:spPr>
          <a:xfrm>
            <a:off x="7589520" y="2103120"/>
            <a:ext cx="1371600" cy="274320"/>
          </a:xfrm>
          <a:prstGeom prst="rect">
            <a:avLst/>
          </a:prstGeom>
          <a:noFill/>
        </p:spPr>
        <p:txBody>
          <a:bodyPr wrap="square" anchor="t"/>
          <a:lstStyle/>
          <a:p>
            <a:pPr algn="ctr">
              <a:defRPr sz="1100" b="1" i="0">
                <a:solidFill>
                  <a:srgbClr val="BB86FC"/>
                </a:solidFill>
              </a:defRPr>
            </a:pPr>
            <a:r>
              <a:t>Load ld.so</a:t>
            </a:r>
          </a:p>
        </p:txBody>
      </p:sp>
      <p:sp>
        <p:nvSpPr>
          <p:cNvPr id="24" name="TextBox 23"/>
          <p:cNvSpPr txBox="1"/>
          <p:nvPr/>
        </p:nvSpPr>
        <p:spPr>
          <a:xfrm>
            <a:off x="7406640" y="2377440"/>
            <a:ext cx="1645920" cy="548640"/>
          </a:xfrm>
          <a:prstGeom prst="rect">
            <a:avLst/>
          </a:prstGeom>
          <a:noFill/>
        </p:spPr>
        <p:txBody>
          <a:bodyPr wrap="square" anchor="t"/>
          <a:lstStyle/>
          <a:p>
            <a:pPr algn="ctr">
              <a:defRPr sz="900" b="0" i="0">
                <a:solidFill>
                  <a:srgbClr val="CCCCCC"/>
                </a:solidFill>
              </a:defRPr>
            </a:pPr>
            <a:r>
              <a:t>Kernel maps PT_INTERP interpreter</a:t>
            </a:r>
          </a:p>
        </p:txBody>
      </p:sp>
      <p:cxnSp>
        <p:nvCxnSpPr>
          <p:cNvPr id="25" name="Connector 24"/>
          <p:cNvCxnSpPr/>
          <p:nvPr/>
        </p:nvCxnSpPr>
        <p:spPr>
          <a:xfrm>
            <a:off x="8046720.0" y="2880360"/>
            <a:ext cx="0.0" cy="22860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9784080" y="3108960"/>
            <a:ext cx="182880" cy="18288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7" name="TextBox 26"/>
          <p:cNvSpPr txBox="1"/>
          <p:nvPr/>
        </p:nvSpPr>
        <p:spPr>
          <a:xfrm>
            <a:off x="9418320" y="3566160"/>
            <a:ext cx="1371600" cy="274320"/>
          </a:xfrm>
          <a:prstGeom prst="rect">
            <a:avLst/>
          </a:prstGeom>
          <a:noFill/>
        </p:spPr>
        <p:txBody>
          <a:bodyPr wrap="square" anchor="t"/>
          <a:lstStyle/>
          <a:p>
            <a:pPr algn="ctr">
              <a:defRPr sz="1100" b="1" i="0">
                <a:solidFill>
                  <a:srgbClr val="FF8C00"/>
                </a:solidFill>
              </a:defRPr>
            </a:pPr>
            <a:r>
              <a:t>Build auxv</a:t>
            </a:r>
          </a:p>
        </p:txBody>
      </p:sp>
      <p:sp>
        <p:nvSpPr>
          <p:cNvPr id="28" name="TextBox 27"/>
          <p:cNvSpPr txBox="1"/>
          <p:nvPr/>
        </p:nvSpPr>
        <p:spPr>
          <a:xfrm>
            <a:off x="9235440" y="3840480"/>
            <a:ext cx="1645920" cy="548640"/>
          </a:xfrm>
          <a:prstGeom prst="rect">
            <a:avLst/>
          </a:prstGeom>
          <a:noFill/>
        </p:spPr>
        <p:txBody>
          <a:bodyPr wrap="square" anchor="t"/>
          <a:lstStyle/>
          <a:p>
            <a:pPr algn="ctr">
              <a:defRPr sz="900" b="0" i="0">
                <a:solidFill>
                  <a:srgbClr val="CCCCCC"/>
                </a:solidFill>
              </a:defRPr>
            </a:pPr>
            <a:r>
              <a:t>Kernel builds aux vector on stack</a:t>
            </a:r>
          </a:p>
        </p:txBody>
      </p:sp>
      <p:cxnSp>
        <p:nvCxnSpPr>
          <p:cNvPr id="29" name="Connector 28"/>
          <p:cNvCxnSpPr/>
          <p:nvPr/>
        </p:nvCxnSpPr>
        <p:spPr>
          <a:xfrm>
            <a:off x="9875520.0" y="3291840"/>
            <a:ext cx="0.0" cy="228600"/>
          </a:xfrm>
          <a:prstGeom prst="line">
            <a:avLst/>
          </a:prstGeom>
          <a:ln w="12700">
            <a:solidFill>
              <a:srgbClr val="FF8C0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1612880" y="3108960"/>
            <a:ext cx="182880" cy="182880"/>
          </a:xfrm>
          <a:prstGeom prst="ellipse">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1" name="TextBox 30"/>
          <p:cNvSpPr txBox="1"/>
          <p:nvPr/>
        </p:nvSpPr>
        <p:spPr>
          <a:xfrm>
            <a:off x="11247120" y="2103120"/>
            <a:ext cx="1371600" cy="274320"/>
          </a:xfrm>
          <a:prstGeom prst="rect">
            <a:avLst/>
          </a:prstGeom>
          <a:noFill/>
        </p:spPr>
        <p:txBody>
          <a:bodyPr wrap="square" anchor="t"/>
          <a:lstStyle/>
          <a:p>
            <a:pPr algn="ctr">
              <a:defRPr sz="1100" b="1" i="0">
                <a:solidFill>
                  <a:srgbClr val="00E5A0"/>
                </a:solidFill>
              </a:defRPr>
            </a:pPr>
            <a:r>
              <a:t>jmp ld.so</a:t>
            </a:r>
          </a:p>
        </p:txBody>
      </p:sp>
      <p:sp>
        <p:nvSpPr>
          <p:cNvPr id="32" name="TextBox 31"/>
          <p:cNvSpPr txBox="1"/>
          <p:nvPr/>
        </p:nvSpPr>
        <p:spPr>
          <a:xfrm>
            <a:off x="11064240" y="2377440"/>
            <a:ext cx="1645920" cy="548640"/>
          </a:xfrm>
          <a:prstGeom prst="rect">
            <a:avLst/>
          </a:prstGeom>
          <a:noFill/>
        </p:spPr>
        <p:txBody>
          <a:bodyPr wrap="square" anchor="t"/>
          <a:lstStyle/>
          <a:p>
            <a:pPr algn="ctr">
              <a:defRPr sz="900" b="0" i="0">
                <a:solidFill>
                  <a:srgbClr val="CCCCCC"/>
                </a:solidFill>
              </a:defRPr>
            </a:pPr>
            <a:r>
              <a:t>Transfer to interpreter _start</a:t>
            </a:r>
          </a:p>
        </p:txBody>
      </p:sp>
      <p:cxnSp>
        <p:nvCxnSpPr>
          <p:cNvPr id="33" name="Connector 32"/>
          <p:cNvCxnSpPr/>
          <p:nvPr/>
        </p:nvCxnSpPr>
        <p:spPr>
          <a:xfrm>
            <a:off x="11704320.0" y="2880360"/>
            <a:ext cx="0.0" cy="228600"/>
          </a:xfrm>
          <a:prstGeom prst="line">
            <a:avLst/>
          </a:prstGeom>
          <a:ln w="12700">
            <a:solidFill>
              <a:srgbClr val="00E5A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 Load Sequence — Phase 2: Dynamic Linker → main()</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200" y="3200400"/>
            <a:ext cx="11247120" cy="0"/>
          </a:xfrm>
          <a:prstGeom prst="line">
            <a:avLst/>
          </a:prstGeom>
          <a:ln w="25400">
            <a:solidFill>
              <a:srgbClr val="333350"/>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640080" y="3108960"/>
            <a:ext cx="182880" cy="1828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7" name="TextBox 6"/>
          <p:cNvSpPr txBox="1"/>
          <p:nvPr/>
        </p:nvSpPr>
        <p:spPr>
          <a:xfrm>
            <a:off x="274320" y="2103120"/>
            <a:ext cx="1371600" cy="274320"/>
          </a:xfrm>
          <a:prstGeom prst="rect">
            <a:avLst/>
          </a:prstGeom>
          <a:noFill/>
        </p:spPr>
        <p:txBody>
          <a:bodyPr wrap="square" anchor="t"/>
          <a:lstStyle/>
          <a:p>
            <a:pPr algn="ctr">
              <a:defRPr sz="1100" b="1" i="0">
                <a:solidFill>
                  <a:srgbClr val="00D4FF"/>
                </a:solidFill>
              </a:defRPr>
            </a:pPr>
            <a:r>
              <a:t>_dl_start</a:t>
            </a:r>
          </a:p>
        </p:txBody>
      </p:sp>
      <p:sp>
        <p:nvSpPr>
          <p:cNvPr id="8" name="TextBox 7"/>
          <p:cNvSpPr txBox="1"/>
          <p:nvPr/>
        </p:nvSpPr>
        <p:spPr>
          <a:xfrm>
            <a:off x="91440" y="2377440"/>
            <a:ext cx="1645920" cy="548640"/>
          </a:xfrm>
          <a:prstGeom prst="rect">
            <a:avLst/>
          </a:prstGeom>
          <a:noFill/>
        </p:spPr>
        <p:txBody>
          <a:bodyPr wrap="square" anchor="t"/>
          <a:lstStyle/>
          <a:p>
            <a:pPr algn="ctr">
              <a:defRPr sz="900" b="0" i="0">
                <a:solidFill>
                  <a:srgbClr val="CCCCCC"/>
                </a:solidFill>
              </a:defRPr>
            </a:pPr>
            <a:r>
              <a:t>ld.so self-relocates (RELATIVE)</a:t>
            </a:r>
          </a:p>
        </p:txBody>
      </p:sp>
      <p:cxnSp>
        <p:nvCxnSpPr>
          <p:cNvPr id="9" name="Connector 8"/>
          <p:cNvCxnSpPr/>
          <p:nvPr/>
        </p:nvCxnSpPr>
        <p:spPr>
          <a:xfrm>
            <a:off x="731520.0" y="2880360"/>
            <a:ext cx="0.0" cy="22860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468880" y="3108960"/>
            <a:ext cx="182880" cy="18288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2103120" y="3566160"/>
            <a:ext cx="1371600" cy="274320"/>
          </a:xfrm>
          <a:prstGeom prst="rect">
            <a:avLst/>
          </a:prstGeom>
          <a:noFill/>
        </p:spPr>
        <p:txBody>
          <a:bodyPr wrap="square" anchor="t"/>
          <a:lstStyle/>
          <a:p>
            <a:pPr algn="ctr">
              <a:defRPr sz="1100" b="1" i="0">
                <a:solidFill>
                  <a:srgbClr val="00FF88"/>
                </a:solidFill>
              </a:defRPr>
            </a:pPr>
            <a:r>
              <a:t>Find DYNAMIC</a:t>
            </a:r>
          </a:p>
        </p:txBody>
      </p:sp>
      <p:sp>
        <p:nvSpPr>
          <p:cNvPr id="12" name="TextBox 11"/>
          <p:cNvSpPr txBox="1"/>
          <p:nvPr/>
        </p:nvSpPr>
        <p:spPr>
          <a:xfrm>
            <a:off x="1920240" y="3840480"/>
            <a:ext cx="1645920" cy="548640"/>
          </a:xfrm>
          <a:prstGeom prst="rect">
            <a:avLst/>
          </a:prstGeom>
          <a:noFill/>
        </p:spPr>
        <p:txBody>
          <a:bodyPr wrap="square" anchor="t"/>
          <a:lstStyle/>
          <a:p>
            <a:pPr algn="ctr">
              <a:defRPr sz="900" b="0" i="0">
                <a:solidFill>
                  <a:srgbClr val="CCCCCC"/>
                </a:solidFill>
              </a:defRPr>
            </a:pPr>
            <a:r>
              <a:t>Locate program's PT_DYNAMIC via AT_PHDR</a:t>
            </a:r>
          </a:p>
        </p:txBody>
      </p:sp>
      <p:cxnSp>
        <p:nvCxnSpPr>
          <p:cNvPr id="13" name="Connector 12"/>
          <p:cNvCxnSpPr/>
          <p:nvPr/>
        </p:nvCxnSpPr>
        <p:spPr>
          <a:xfrm>
            <a:off x="2560320.0" y="3291840"/>
            <a:ext cx="0.0" cy="228600"/>
          </a:xfrm>
          <a:prstGeom prst="line">
            <a:avLst/>
          </a:prstGeom>
          <a:ln w="12700">
            <a:solidFill>
              <a:srgbClr val="00FF88"/>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297680" y="3108960"/>
            <a:ext cx="182880" cy="18288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5" name="TextBox 14"/>
          <p:cNvSpPr txBox="1"/>
          <p:nvPr/>
        </p:nvSpPr>
        <p:spPr>
          <a:xfrm>
            <a:off x="3931920" y="2103120"/>
            <a:ext cx="1371600" cy="274320"/>
          </a:xfrm>
          <a:prstGeom prst="rect">
            <a:avLst/>
          </a:prstGeom>
          <a:noFill/>
        </p:spPr>
        <p:txBody>
          <a:bodyPr wrap="square" anchor="t"/>
          <a:lstStyle/>
          <a:p>
            <a:pPr algn="ctr">
              <a:defRPr sz="1100" b="1" i="0">
                <a:solidFill>
                  <a:srgbClr val="FFD700"/>
                </a:solidFill>
              </a:defRPr>
            </a:pPr>
            <a:r>
              <a:t>DT_NEEDED</a:t>
            </a:r>
          </a:p>
        </p:txBody>
      </p:sp>
      <p:sp>
        <p:nvSpPr>
          <p:cNvPr id="16" name="TextBox 15"/>
          <p:cNvSpPr txBox="1"/>
          <p:nvPr/>
        </p:nvSpPr>
        <p:spPr>
          <a:xfrm>
            <a:off x="3749040" y="2377440"/>
            <a:ext cx="1645920" cy="548640"/>
          </a:xfrm>
          <a:prstGeom prst="rect">
            <a:avLst/>
          </a:prstGeom>
          <a:noFill/>
        </p:spPr>
        <p:txBody>
          <a:bodyPr wrap="square" anchor="t"/>
          <a:lstStyle/>
          <a:p>
            <a:pPr algn="ctr">
              <a:defRPr sz="900" b="0" i="0">
                <a:solidFill>
                  <a:srgbClr val="CCCCCC"/>
                </a:solidFill>
              </a:defRPr>
            </a:pPr>
            <a:r>
              <a:t>Walk deps, open + mmap each DSO</a:t>
            </a:r>
          </a:p>
        </p:txBody>
      </p:sp>
      <p:cxnSp>
        <p:nvCxnSpPr>
          <p:cNvPr id="17" name="Connector 16"/>
          <p:cNvCxnSpPr/>
          <p:nvPr/>
        </p:nvCxnSpPr>
        <p:spPr>
          <a:xfrm>
            <a:off x="4389120.0" y="2880360"/>
            <a:ext cx="0.0" cy="228600"/>
          </a:xfrm>
          <a:prstGeom prst="line">
            <a:avLst/>
          </a:prstGeom>
          <a:ln w="12700">
            <a:solidFill>
              <a:srgbClr val="FFD70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126480" y="3108960"/>
            <a:ext cx="182880" cy="18288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9" name="TextBox 18"/>
          <p:cNvSpPr txBox="1"/>
          <p:nvPr/>
        </p:nvSpPr>
        <p:spPr>
          <a:xfrm>
            <a:off x="5760720" y="3566160"/>
            <a:ext cx="1371600" cy="274320"/>
          </a:xfrm>
          <a:prstGeom prst="rect">
            <a:avLst/>
          </a:prstGeom>
          <a:noFill/>
        </p:spPr>
        <p:txBody>
          <a:bodyPr wrap="square" anchor="t"/>
          <a:lstStyle/>
          <a:p>
            <a:pPr algn="ctr">
              <a:defRPr sz="1100" b="1" i="0">
                <a:solidFill>
                  <a:srgbClr val="FF4444"/>
                </a:solidFill>
              </a:defRPr>
            </a:pPr>
            <a:r>
              <a:t>Relocate</a:t>
            </a:r>
          </a:p>
        </p:txBody>
      </p:sp>
      <p:sp>
        <p:nvSpPr>
          <p:cNvPr id="20" name="TextBox 19"/>
          <p:cNvSpPr txBox="1"/>
          <p:nvPr/>
        </p:nvSpPr>
        <p:spPr>
          <a:xfrm>
            <a:off x="5577840" y="3840480"/>
            <a:ext cx="1645920" cy="548640"/>
          </a:xfrm>
          <a:prstGeom prst="rect">
            <a:avLst/>
          </a:prstGeom>
          <a:noFill/>
        </p:spPr>
        <p:txBody>
          <a:bodyPr wrap="square" anchor="t"/>
          <a:lstStyle/>
          <a:p>
            <a:pPr algn="ctr">
              <a:defRPr sz="900" b="0" i="0">
                <a:solidFill>
                  <a:srgbClr val="CCCCCC"/>
                </a:solidFill>
              </a:defRPr>
            </a:pPr>
            <a:r>
              <a:t>Apply .rela.dyn (eager) + .rela.plt</a:t>
            </a:r>
          </a:p>
        </p:txBody>
      </p:sp>
      <p:cxnSp>
        <p:nvCxnSpPr>
          <p:cNvPr id="21" name="Connector 20"/>
          <p:cNvCxnSpPr/>
          <p:nvPr/>
        </p:nvCxnSpPr>
        <p:spPr>
          <a:xfrm>
            <a:off x="6217920.0" y="3291840"/>
            <a:ext cx="0.0" cy="228600"/>
          </a:xfrm>
          <a:prstGeom prst="line">
            <a:avLst/>
          </a:prstGeom>
          <a:ln w="12700">
            <a:solidFill>
              <a:srgbClr val="FF4444"/>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955280" y="3108960"/>
            <a:ext cx="182880" cy="182880"/>
          </a:xfrm>
          <a:prstGeom prst="ellipse">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3" name="TextBox 22"/>
          <p:cNvSpPr txBox="1"/>
          <p:nvPr/>
        </p:nvSpPr>
        <p:spPr>
          <a:xfrm>
            <a:off x="7589520" y="2103120"/>
            <a:ext cx="1371600" cy="274320"/>
          </a:xfrm>
          <a:prstGeom prst="rect">
            <a:avLst/>
          </a:prstGeom>
          <a:noFill/>
        </p:spPr>
        <p:txBody>
          <a:bodyPr wrap="square" anchor="t"/>
          <a:lstStyle/>
          <a:p>
            <a:pPr algn="ctr">
              <a:defRPr sz="1100" b="1" i="0">
                <a:solidFill>
                  <a:srgbClr val="BB86FC"/>
                </a:solidFill>
              </a:defRPr>
            </a:pPr>
            <a:r>
              <a:t>RELRO</a:t>
            </a:r>
          </a:p>
        </p:txBody>
      </p:sp>
      <p:sp>
        <p:nvSpPr>
          <p:cNvPr id="24" name="TextBox 23"/>
          <p:cNvSpPr txBox="1"/>
          <p:nvPr/>
        </p:nvSpPr>
        <p:spPr>
          <a:xfrm>
            <a:off x="7406640" y="2377440"/>
            <a:ext cx="1645920" cy="548640"/>
          </a:xfrm>
          <a:prstGeom prst="rect">
            <a:avLst/>
          </a:prstGeom>
          <a:noFill/>
        </p:spPr>
        <p:txBody>
          <a:bodyPr wrap="square" anchor="t"/>
          <a:lstStyle/>
          <a:p>
            <a:pPr algn="ctr">
              <a:defRPr sz="900" b="0" i="0">
                <a:solidFill>
                  <a:srgbClr val="CCCCCC"/>
                </a:solidFill>
              </a:defRPr>
            </a:pPr>
            <a:r>
              <a:t>mprotect RELRO regions read-only</a:t>
            </a:r>
          </a:p>
        </p:txBody>
      </p:sp>
      <p:cxnSp>
        <p:nvCxnSpPr>
          <p:cNvPr id="25" name="Connector 24"/>
          <p:cNvCxnSpPr/>
          <p:nvPr/>
        </p:nvCxnSpPr>
        <p:spPr>
          <a:xfrm>
            <a:off x="8046720.0" y="2880360"/>
            <a:ext cx="0.0" cy="22860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9784080" y="3108960"/>
            <a:ext cx="182880" cy="18288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7" name="TextBox 26"/>
          <p:cNvSpPr txBox="1"/>
          <p:nvPr/>
        </p:nvSpPr>
        <p:spPr>
          <a:xfrm>
            <a:off x="9418320" y="3566160"/>
            <a:ext cx="1371600" cy="274320"/>
          </a:xfrm>
          <a:prstGeom prst="rect">
            <a:avLst/>
          </a:prstGeom>
          <a:noFill/>
        </p:spPr>
        <p:txBody>
          <a:bodyPr wrap="square" anchor="t"/>
          <a:lstStyle/>
          <a:p>
            <a:pPr algn="ctr">
              <a:defRPr sz="1100" b="1" i="0">
                <a:solidFill>
                  <a:srgbClr val="FF8C00"/>
                </a:solidFill>
              </a:defRPr>
            </a:pPr>
            <a:r>
              <a:t>Constructors</a:t>
            </a:r>
          </a:p>
        </p:txBody>
      </p:sp>
      <p:sp>
        <p:nvSpPr>
          <p:cNvPr id="28" name="TextBox 27"/>
          <p:cNvSpPr txBox="1"/>
          <p:nvPr/>
        </p:nvSpPr>
        <p:spPr>
          <a:xfrm>
            <a:off x="9235440" y="3840480"/>
            <a:ext cx="1645920" cy="548640"/>
          </a:xfrm>
          <a:prstGeom prst="rect">
            <a:avLst/>
          </a:prstGeom>
          <a:noFill/>
        </p:spPr>
        <p:txBody>
          <a:bodyPr wrap="square" anchor="t"/>
          <a:lstStyle/>
          <a:p>
            <a:pPr algn="ctr">
              <a:defRPr sz="900" b="0" i="0">
                <a:solidFill>
                  <a:srgbClr val="CCCCCC"/>
                </a:solidFill>
              </a:defRPr>
            </a:pPr>
            <a:r>
              <a:t>Run init_array in dependency order</a:t>
            </a:r>
          </a:p>
        </p:txBody>
      </p:sp>
      <p:cxnSp>
        <p:nvCxnSpPr>
          <p:cNvPr id="29" name="Connector 28"/>
          <p:cNvCxnSpPr/>
          <p:nvPr/>
        </p:nvCxnSpPr>
        <p:spPr>
          <a:xfrm>
            <a:off x="9875520.0" y="3291840"/>
            <a:ext cx="0.0" cy="228600"/>
          </a:xfrm>
          <a:prstGeom prst="line">
            <a:avLst/>
          </a:prstGeom>
          <a:ln w="12700">
            <a:solidFill>
              <a:srgbClr val="FF8C0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1612880" y="3108960"/>
            <a:ext cx="182880" cy="182880"/>
          </a:xfrm>
          <a:prstGeom prst="ellipse">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1" name="TextBox 30"/>
          <p:cNvSpPr txBox="1"/>
          <p:nvPr/>
        </p:nvSpPr>
        <p:spPr>
          <a:xfrm>
            <a:off x="11247120" y="2103120"/>
            <a:ext cx="1371600" cy="274320"/>
          </a:xfrm>
          <a:prstGeom prst="rect">
            <a:avLst/>
          </a:prstGeom>
          <a:noFill/>
        </p:spPr>
        <p:txBody>
          <a:bodyPr wrap="square" anchor="t"/>
          <a:lstStyle/>
          <a:p>
            <a:pPr algn="ctr">
              <a:defRPr sz="1100" b="1" i="0">
                <a:solidFill>
                  <a:srgbClr val="00E5A0"/>
                </a:solidFill>
              </a:defRPr>
            </a:pPr>
            <a:r>
              <a:t>main()</a:t>
            </a:r>
          </a:p>
        </p:txBody>
      </p:sp>
      <p:sp>
        <p:nvSpPr>
          <p:cNvPr id="32" name="TextBox 31"/>
          <p:cNvSpPr txBox="1"/>
          <p:nvPr/>
        </p:nvSpPr>
        <p:spPr>
          <a:xfrm>
            <a:off x="11064240" y="2377440"/>
            <a:ext cx="1645920" cy="548640"/>
          </a:xfrm>
          <a:prstGeom prst="rect">
            <a:avLst/>
          </a:prstGeom>
          <a:noFill/>
        </p:spPr>
        <p:txBody>
          <a:bodyPr wrap="square" anchor="t"/>
          <a:lstStyle/>
          <a:p>
            <a:pPr algn="ctr">
              <a:defRPr sz="900" b="0" i="0">
                <a:solidFill>
                  <a:srgbClr val="CCCCCC"/>
                </a:solidFill>
              </a:defRPr>
            </a:pPr>
            <a:r>
              <a:t>_start → __libc_start_main → main</a:t>
            </a:r>
          </a:p>
        </p:txBody>
      </p:sp>
      <p:cxnSp>
        <p:nvCxnSpPr>
          <p:cNvPr id="33" name="Connector 32"/>
          <p:cNvCxnSpPr/>
          <p:nvPr/>
        </p:nvCxnSpPr>
        <p:spPr>
          <a:xfrm>
            <a:off x="11704320.0" y="2880360"/>
            <a:ext cx="0.0" cy="228600"/>
          </a:xfrm>
          <a:prstGeom prst="line">
            <a:avLst/>
          </a:prstGeom>
          <a:ln w="12700">
            <a:solidFill>
              <a:srgbClr val="00E5A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Complete Load Sequence — Detailed</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097280"/>
            <a:ext cx="3657600" cy="274320"/>
          </a:xfrm>
          <a:prstGeom prst="rect">
            <a:avLst/>
          </a:prstGeom>
          <a:noFill/>
        </p:spPr>
        <p:txBody>
          <a:bodyPr wrap="square" anchor="t"/>
          <a:lstStyle/>
          <a:p>
            <a:pPr algn="l">
              <a:defRPr sz="1400" b="1" i="0">
                <a:solidFill>
                  <a:srgbClr val="00D4FF"/>
                </a:solidFill>
              </a:defRPr>
            </a:pPr>
            <a:r>
              <a:t>Phase 1: Kernel (fs/binfmt_elf.c)</a:t>
            </a:r>
          </a:p>
        </p:txBody>
      </p:sp>
      <p:sp>
        <p:nvSpPr>
          <p:cNvPr id="6" name="TextBox 5"/>
          <p:cNvSpPr txBox="1"/>
          <p:nvPr/>
        </p:nvSpPr>
        <p:spPr>
          <a:xfrm>
            <a:off x="914400" y="1417320"/>
            <a:ext cx="10332720" cy="274320"/>
          </a:xfrm>
          <a:prstGeom prst="rect">
            <a:avLst/>
          </a:prstGeom>
          <a:noFill/>
        </p:spPr>
        <p:txBody>
          <a:bodyPr wrap="square" anchor="t"/>
          <a:lstStyle/>
          <a:p>
            <a:pPr algn="l">
              <a:defRPr sz="1100" b="0" i="0">
                <a:solidFill>
                  <a:srgbClr val="CCCCCC"/>
                </a:solidFill>
              </a:defRPr>
            </a:pPr>
            <a:r>
              <a:t>  execve() → kernel validates ELF magic and header</a:t>
            </a:r>
          </a:p>
        </p:txBody>
      </p:sp>
      <p:sp>
        <p:nvSpPr>
          <p:cNvPr id="7" name="TextBox 6"/>
          <p:cNvSpPr txBox="1"/>
          <p:nvPr/>
        </p:nvSpPr>
        <p:spPr>
          <a:xfrm>
            <a:off x="914400" y="1709928"/>
            <a:ext cx="10332720" cy="274320"/>
          </a:xfrm>
          <a:prstGeom prst="rect">
            <a:avLst/>
          </a:prstGeom>
          <a:noFill/>
        </p:spPr>
        <p:txBody>
          <a:bodyPr wrap="square" anchor="t"/>
          <a:lstStyle/>
          <a:p>
            <a:pPr algn="l">
              <a:defRPr sz="1100" b="0" i="0">
                <a:solidFill>
                  <a:srgbClr val="CCCCCC"/>
                </a:solidFill>
              </a:defRPr>
            </a:pPr>
            <a:r>
              <a:t>  Walk PT_LOAD segments → mmap each with permissions from p_flags</a:t>
            </a:r>
          </a:p>
        </p:txBody>
      </p:sp>
      <p:sp>
        <p:nvSpPr>
          <p:cNvPr id="8" name="TextBox 7"/>
          <p:cNvSpPr txBox="1"/>
          <p:nvPr/>
        </p:nvSpPr>
        <p:spPr>
          <a:xfrm>
            <a:off x="914400" y="2002536"/>
            <a:ext cx="10332720" cy="274320"/>
          </a:xfrm>
          <a:prstGeom prst="rect">
            <a:avLst/>
          </a:prstGeom>
          <a:noFill/>
        </p:spPr>
        <p:txBody>
          <a:bodyPr wrap="square" anchor="t"/>
          <a:lstStyle/>
          <a:p>
            <a:pPr algn="l">
              <a:defRPr sz="1100" b="0" i="0">
                <a:solidFill>
                  <a:srgbClr val="CCCCCC"/>
                </a:solidFill>
              </a:defRPr>
            </a:pPr>
            <a:r>
              <a:t>  For PIE (ET_DYN): pick ASLR'd base (ELF_ET_DYN_BASE + randomization)</a:t>
            </a:r>
          </a:p>
        </p:txBody>
      </p:sp>
      <p:sp>
        <p:nvSpPr>
          <p:cNvPr id="9" name="TextBox 8"/>
          <p:cNvSpPr txBox="1"/>
          <p:nvPr/>
        </p:nvSpPr>
        <p:spPr>
          <a:xfrm>
            <a:off x="914400" y="2295144"/>
            <a:ext cx="10332720" cy="274320"/>
          </a:xfrm>
          <a:prstGeom prst="rect">
            <a:avLst/>
          </a:prstGeom>
          <a:noFill/>
        </p:spPr>
        <p:txBody>
          <a:bodyPr wrap="square" anchor="t"/>
          <a:lstStyle/>
          <a:p>
            <a:pPr algn="l">
              <a:defRPr sz="1100" b="0" i="0">
                <a:solidFill>
                  <a:srgbClr val="CCCCCC"/>
                </a:solidFill>
              </a:defRPr>
            </a:pPr>
            <a:r>
              <a:t>  For ET_EXEC: honor absolute p_vaddr addresses (no ASLR for binary)</a:t>
            </a:r>
          </a:p>
        </p:txBody>
      </p:sp>
      <p:sp>
        <p:nvSpPr>
          <p:cNvPr id="10" name="TextBox 9"/>
          <p:cNvSpPr txBox="1"/>
          <p:nvPr/>
        </p:nvSpPr>
        <p:spPr>
          <a:xfrm>
            <a:off x="914400" y="2587752"/>
            <a:ext cx="10332720" cy="274320"/>
          </a:xfrm>
          <a:prstGeom prst="rect">
            <a:avLst/>
          </a:prstGeom>
          <a:noFill/>
        </p:spPr>
        <p:txBody>
          <a:bodyPr wrap="square" anchor="t"/>
          <a:lstStyle/>
          <a:p>
            <a:pPr algn="l">
              <a:defRPr sz="1100" b="0" i="0">
                <a:solidFill>
                  <a:srgbClr val="CCCCCC"/>
                </a:solidFill>
              </a:defRPr>
            </a:pPr>
            <a:r>
              <a:t>  If PT_INTERP exists: open ld.so, mmap its PT_LOAD at separate random base</a:t>
            </a:r>
          </a:p>
        </p:txBody>
      </p:sp>
      <p:sp>
        <p:nvSpPr>
          <p:cNvPr id="11" name="TextBox 10"/>
          <p:cNvSpPr txBox="1"/>
          <p:nvPr/>
        </p:nvSpPr>
        <p:spPr>
          <a:xfrm>
            <a:off x="914400" y="2880360"/>
            <a:ext cx="10332720" cy="274320"/>
          </a:xfrm>
          <a:prstGeom prst="rect">
            <a:avLst/>
          </a:prstGeom>
          <a:noFill/>
        </p:spPr>
        <p:txBody>
          <a:bodyPr wrap="square" anchor="t"/>
          <a:lstStyle/>
          <a:p>
            <a:pPr algn="l">
              <a:defRPr sz="1100" b="0" i="0">
                <a:solidFill>
                  <a:srgbClr val="CCCCCC"/>
                </a:solidFill>
              </a:defRPr>
            </a:pPr>
            <a:r>
              <a:t>  Build stack: argc, argv, envp, auxiliary vector (AT_PHDR, AT_BASE, AT_RANDOM, etc.)</a:t>
            </a:r>
          </a:p>
        </p:txBody>
      </p:sp>
      <p:sp>
        <p:nvSpPr>
          <p:cNvPr id="12" name="TextBox 11"/>
          <p:cNvSpPr txBox="1"/>
          <p:nvPr/>
        </p:nvSpPr>
        <p:spPr>
          <a:xfrm>
            <a:off x="914400" y="3172968"/>
            <a:ext cx="10332720" cy="274320"/>
          </a:xfrm>
          <a:prstGeom prst="rect">
            <a:avLst/>
          </a:prstGeom>
          <a:noFill/>
        </p:spPr>
        <p:txBody>
          <a:bodyPr wrap="square" anchor="t"/>
          <a:lstStyle/>
          <a:p>
            <a:pPr algn="l">
              <a:defRPr sz="1100" b="0" i="0">
                <a:solidFill>
                  <a:srgbClr val="CCCCCC"/>
                </a:solidFill>
              </a:defRPr>
            </a:pPr>
            <a:r>
              <a:t>  Transfer control to interpreter _start (or program e_entry if no PT_INTERP)</a:t>
            </a:r>
          </a:p>
        </p:txBody>
      </p:sp>
      <p:sp>
        <p:nvSpPr>
          <p:cNvPr id="13" name="TextBox 12"/>
          <p:cNvSpPr txBox="1"/>
          <p:nvPr/>
        </p:nvSpPr>
        <p:spPr>
          <a:xfrm>
            <a:off x="731520" y="3602736"/>
            <a:ext cx="3657600" cy="274320"/>
          </a:xfrm>
          <a:prstGeom prst="rect">
            <a:avLst/>
          </a:prstGeom>
          <a:noFill/>
        </p:spPr>
        <p:txBody>
          <a:bodyPr wrap="square" anchor="t"/>
          <a:lstStyle/>
          <a:p>
            <a:pPr algn="l">
              <a:defRPr sz="1400" b="1" i="0">
                <a:solidFill>
                  <a:srgbClr val="00FF88"/>
                </a:solidFill>
              </a:defRPr>
            </a:pPr>
            <a:r>
              <a:t>Phase 2: Dynamic Linker (_dl_start → _dl_main)</a:t>
            </a:r>
          </a:p>
        </p:txBody>
      </p:sp>
      <p:sp>
        <p:nvSpPr>
          <p:cNvPr id="14" name="TextBox 13"/>
          <p:cNvSpPr txBox="1"/>
          <p:nvPr/>
        </p:nvSpPr>
        <p:spPr>
          <a:xfrm>
            <a:off x="914400" y="3922776"/>
            <a:ext cx="10332720" cy="274320"/>
          </a:xfrm>
          <a:prstGeom prst="rect">
            <a:avLst/>
          </a:prstGeom>
          <a:noFill/>
        </p:spPr>
        <p:txBody>
          <a:bodyPr wrap="square" anchor="t"/>
          <a:lstStyle/>
          <a:p>
            <a:pPr algn="l">
              <a:defRPr sz="1100" b="0" i="0">
                <a:solidFill>
                  <a:srgbClr val="CCCCCC"/>
                </a:solidFill>
              </a:defRPr>
            </a:pPr>
            <a:r>
              <a:t>  _dl_start: self-relocate via R_X86_64_RELATIVE (bootstrap, no GOT/PLT yet)</a:t>
            </a:r>
          </a:p>
        </p:txBody>
      </p:sp>
      <p:sp>
        <p:nvSpPr>
          <p:cNvPr id="15" name="TextBox 14"/>
          <p:cNvSpPr txBox="1"/>
          <p:nvPr/>
        </p:nvSpPr>
        <p:spPr>
          <a:xfrm>
            <a:off x="914400" y="4215384"/>
            <a:ext cx="10332720" cy="274320"/>
          </a:xfrm>
          <a:prstGeom prst="rect">
            <a:avLst/>
          </a:prstGeom>
          <a:noFill/>
        </p:spPr>
        <p:txBody>
          <a:bodyPr wrap="square" anchor="t"/>
          <a:lstStyle/>
          <a:p>
            <a:pPr algn="l">
              <a:defRPr sz="1100" b="0" i="0">
                <a:solidFill>
                  <a:srgbClr val="CCCCCC"/>
                </a:solidFill>
              </a:defRPr>
            </a:pPr>
            <a:r>
              <a:t>  Find program's PT_DYNAMIC via AT_PHDR/AT_PHNUM</a:t>
            </a:r>
          </a:p>
        </p:txBody>
      </p:sp>
      <p:sp>
        <p:nvSpPr>
          <p:cNvPr id="16" name="TextBox 15"/>
          <p:cNvSpPr txBox="1"/>
          <p:nvPr/>
        </p:nvSpPr>
        <p:spPr>
          <a:xfrm>
            <a:off x="914400" y="4507992"/>
            <a:ext cx="10332720" cy="274320"/>
          </a:xfrm>
          <a:prstGeom prst="rect">
            <a:avLst/>
          </a:prstGeom>
          <a:noFill/>
        </p:spPr>
        <p:txBody>
          <a:bodyPr wrap="square" anchor="t"/>
          <a:lstStyle/>
          <a:p>
            <a:pPr algn="l">
              <a:defRPr sz="1100" b="0" i="0">
                <a:solidFill>
                  <a:srgbClr val="CCCCCC"/>
                </a:solidFill>
              </a:defRPr>
            </a:pPr>
            <a:r>
              <a:t>  Walk DT_NEEDED → open each library → mmap PT_LOAD segments at random bases</a:t>
            </a:r>
          </a:p>
        </p:txBody>
      </p:sp>
      <p:sp>
        <p:nvSpPr>
          <p:cNvPr id="17" name="TextBox 16"/>
          <p:cNvSpPr txBox="1"/>
          <p:nvPr/>
        </p:nvSpPr>
        <p:spPr>
          <a:xfrm>
            <a:off x="914400" y="4800600"/>
            <a:ext cx="10332720" cy="274320"/>
          </a:xfrm>
          <a:prstGeom prst="rect">
            <a:avLst/>
          </a:prstGeom>
          <a:noFill/>
        </p:spPr>
        <p:txBody>
          <a:bodyPr wrap="square" anchor="t"/>
          <a:lstStyle/>
          <a:p>
            <a:pPr algn="l">
              <a:defRPr sz="1100" b="0" i="0">
                <a:solidFill>
                  <a:srgbClr val="CCCCCC"/>
                </a:solidFill>
              </a:defRPr>
            </a:pPr>
            <a:r>
              <a:t>  Build global scope: executable → LD_PRELOAD → DT_NEEDED (BFS order)</a:t>
            </a:r>
          </a:p>
        </p:txBody>
      </p:sp>
      <p:sp>
        <p:nvSpPr>
          <p:cNvPr id="18" name="TextBox 17"/>
          <p:cNvSpPr txBox="1"/>
          <p:nvPr/>
        </p:nvSpPr>
        <p:spPr>
          <a:xfrm>
            <a:off x="731520" y="5230368"/>
            <a:ext cx="3657600" cy="274320"/>
          </a:xfrm>
          <a:prstGeom prst="rect">
            <a:avLst/>
          </a:prstGeom>
          <a:noFill/>
        </p:spPr>
        <p:txBody>
          <a:bodyPr wrap="square" anchor="t"/>
          <a:lstStyle/>
          <a:p>
            <a:pPr algn="l">
              <a:defRPr sz="1400" b="1" i="0">
                <a:solidFill>
                  <a:srgbClr val="FFD700"/>
                </a:solidFill>
              </a:defRPr>
            </a:pPr>
            <a:r>
              <a:t>Phase 3: Relocation &amp; Protection</a:t>
            </a:r>
          </a:p>
        </p:txBody>
      </p:sp>
      <p:sp>
        <p:nvSpPr>
          <p:cNvPr id="19" name="TextBox 18"/>
          <p:cNvSpPr txBox="1"/>
          <p:nvPr/>
        </p:nvSpPr>
        <p:spPr>
          <a:xfrm>
            <a:off x="914400" y="5550408"/>
            <a:ext cx="10332720" cy="274320"/>
          </a:xfrm>
          <a:prstGeom prst="rect">
            <a:avLst/>
          </a:prstGeom>
          <a:noFill/>
        </p:spPr>
        <p:txBody>
          <a:bodyPr wrap="square" anchor="t"/>
          <a:lstStyle/>
          <a:p>
            <a:pPr algn="l">
              <a:defRPr sz="1100" b="0" i="0">
                <a:solidFill>
                  <a:srgbClr val="CCCCCC"/>
                </a:solidFill>
              </a:defRPr>
            </a:pPr>
            <a:r>
              <a:t>  For each DSO: resolve R_X86_64_RELATIVE, GLOB_DAT in .rela.dyn (eager)</a:t>
            </a:r>
          </a:p>
        </p:txBody>
      </p:sp>
      <p:sp>
        <p:nvSpPr>
          <p:cNvPr id="20" name="TextBox 19"/>
          <p:cNvSpPr txBox="1"/>
          <p:nvPr/>
        </p:nvSpPr>
        <p:spPr>
          <a:xfrm>
            <a:off x="914400" y="5843016"/>
            <a:ext cx="10332720" cy="274320"/>
          </a:xfrm>
          <a:prstGeom prst="rect">
            <a:avLst/>
          </a:prstGeom>
          <a:noFill/>
        </p:spPr>
        <p:txBody>
          <a:bodyPr wrap="square" anchor="t"/>
          <a:lstStyle/>
          <a:p>
            <a:pPr algn="l">
              <a:defRPr sz="1100" b="0" i="0">
                <a:solidFill>
                  <a:srgbClr val="CCCCCC"/>
                </a:solidFill>
              </a:defRPr>
            </a:pPr>
            <a:r>
              <a:t>  For each DSO: resolve JUMP_SLOT in .rela.plt (lazy unless DT_BIND_NOW)</a:t>
            </a:r>
          </a:p>
        </p:txBody>
      </p:sp>
      <p:sp>
        <p:nvSpPr>
          <p:cNvPr id="21" name="TextBox 20"/>
          <p:cNvSpPr txBox="1"/>
          <p:nvPr/>
        </p:nvSpPr>
        <p:spPr>
          <a:xfrm>
            <a:off x="914400" y="6135624"/>
            <a:ext cx="10332720" cy="274320"/>
          </a:xfrm>
          <a:prstGeom prst="rect">
            <a:avLst/>
          </a:prstGeom>
          <a:noFill/>
        </p:spPr>
        <p:txBody>
          <a:bodyPr wrap="square" anchor="t"/>
          <a:lstStyle/>
          <a:p>
            <a:pPr algn="l">
              <a:defRPr sz="1100" b="0" i="0">
                <a:solidFill>
                  <a:srgbClr val="CCCCCC"/>
                </a:solidFill>
              </a:defRPr>
            </a:pPr>
            <a:r>
              <a:t>  Run IRELATIVE resolvers → apply COPY relocations</a:t>
            </a:r>
          </a:p>
        </p:txBody>
      </p:sp>
      <p:sp>
        <p:nvSpPr>
          <p:cNvPr id="22" name="TextBox 21"/>
          <p:cNvSpPr txBox="1"/>
          <p:nvPr/>
        </p:nvSpPr>
        <p:spPr>
          <a:xfrm>
            <a:off x="914400" y="6428232"/>
            <a:ext cx="10332720" cy="274320"/>
          </a:xfrm>
          <a:prstGeom prst="rect">
            <a:avLst/>
          </a:prstGeom>
          <a:noFill/>
        </p:spPr>
        <p:txBody>
          <a:bodyPr wrap="square" anchor="t"/>
          <a:lstStyle/>
          <a:p>
            <a:pPr algn="l">
              <a:defRPr sz="1100" b="0" i="0">
                <a:solidFill>
                  <a:srgbClr val="CCCCCC"/>
                </a:solidFill>
              </a:defRPr>
            </a:pPr>
            <a:r>
              <a:t>  _dl_protect_relro → mprotect PT_GNU_RELRO ranges read-only</a:t>
            </a:r>
          </a:p>
        </p:txBody>
      </p:sp>
      <p:sp>
        <p:nvSpPr>
          <p:cNvPr id="23" name="TextBox 22"/>
          <p:cNvSpPr txBox="1"/>
          <p:nvPr/>
        </p:nvSpPr>
        <p:spPr>
          <a:xfrm>
            <a:off x="731520" y="6858000"/>
            <a:ext cx="3657600" cy="274320"/>
          </a:xfrm>
          <a:prstGeom prst="rect">
            <a:avLst/>
          </a:prstGeom>
          <a:noFill/>
        </p:spPr>
        <p:txBody>
          <a:bodyPr wrap="square" anchor="t"/>
          <a:lstStyle/>
          <a:p>
            <a:pPr algn="l">
              <a:defRPr sz="1400" b="1" i="0">
                <a:solidFill>
                  <a:srgbClr val="BB86FC"/>
                </a:solidFill>
              </a:defRPr>
            </a:pPr>
            <a:r>
              <a:t>Phase 4: Constructors &amp; Handoff</a:t>
            </a:r>
          </a:p>
        </p:txBody>
      </p:sp>
      <p:sp>
        <p:nvSpPr>
          <p:cNvPr id="24" name="TextBox 23"/>
          <p:cNvSpPr txBox="1"/>
          <p:nvPr/>
        </p:nvSpPr>
        <p:spPr>
          <a:xfrm>
            <a:off x="914400" y="7178040"/>
            <a:ext cx="10332720" cy="274320"/>
          </a:xfrm>
          <a:prstGeom prst="rect">
            <a:avLst/>
          </a:prstGeom>
          <a:noFill/>
        </p:spPr>
        <p:txBody>
          <a:bodyPr wrap="square" anchor="t"/>
          <a:lstStyle/>
          <a:p>
            <a:pPr algn="l">
              <a:defRPr sz="1100" b="0" i="0">
                <a:solidFill>
                  <a:srgbClr val="CCCCCC"/>
                </a:solidFill>
              </a:defRPr>
            </a:pPr>
            <a:r>
              <a:t>  Run pre-init array (program only)</a:t>
            </a:r>
          </a:p>
        </p:txBody>
      </p:sp>
      <p:sp>
        <p:nvSpPr>
          <p:cNvPr id="25" name="TextBox 24"/>
          <p:cNvSpPr txBox="1"/>
          <p:nvPr/>
        </p:nvSpPr>
        <p:spPr>
          <a:xfrm>
            <a:off x="914400" y="7470648"/>
            <a:ext cx="10332720" cy="274320"/>
          </a:xfrm>
          <a:prstGeom prst="rect">
            <a:avLst/>
          </a:prstGeom>
          <a:noFill/>
        </p:spPr>
        <p:txBody>
          <a:bodyPr wrap="square" anchor="t"/>
          <a:lstStyle/>
          <a:p>
            <a:pPr algn="l">
              <a:defRPr sz="1100" b="0" i="0">
                <a:solidFill>
                  <a:srgbClr val="CCCCCC"/>
                </a:solidFill>
              </a:defRPr>
            </a:pPr>
            <a:r>
              <a:t>  Run init/init_array per DSO in dependency order (deps before dependents)</a:t>
            </a:r>
          </a:p>
        </p:txBody>
      </p:sp>
      <p:sp>
        <p:nvSpPr>
          <p:cNvPr id="26" name="TextBox 25"/>
          <p:cNvSpPr txBox="1"/>
          <p:nvPr/>
        </p:nvSpPr>
        <p:spPr>
          <a:xfrm>
            <a:off x="914400" y="7763256"/>
            <a:ext cx="10332720" cy="274320"/>
          </a:xfrm>
          <a:prstGeom prst="rect">
            <a:avLst/>
          </a:prstGeom>
          <a:noFill/>
        </p:spPr>
        <p:txBody>
          <a:bodyPr wrap="square" anchor="t"/>
          <a:lstStyle/>
          <a:p>
            <a:pPr algn="l">
              <a:defRPr sz="1100" b="0" i="0">
                <a:solidFill>
                  <a:srgbClr val="CCCCCC"/>
                </a:solidFill>
              </a:defRPr>
            </a:pPr>
            <a:r>
              <a:t>  Transfer to program e_entry → _start → __libc_start_main → main()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Process Exit Sequence</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Reverse of construction order — exploitation target via .fini_array overwrite</a:t>
            </a:r>
          </a:p>
        </p:txBody>
      </p:sp>
      <p:sp>
        <p:nvSpPr>
          <p:cNvPr id="6" name="Rectangle 5"/>
          <p:cNvSpPr/>
          <p:nvPr/>
        </p:nvSpPr>
        <p:spPr>
          <a:xfrm>
            <a:off x="731520" y="1371600"/>
            <a:ext cx="54864" cy="59436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3200400" cy="274320"/>
          </a:xfrm>
          <a:prstGeom prst="rect">
            <a:avLst/>
          </a:prstGeom>
          <a:noFill/>
        </p:spPr>
        <p:txBody>
          <a:bodyPr wrap="square" anchor="t"/>
          <a:lstStyle/>
          <a:p>
            <a:pPr algn="l">
              <a:defRPr sz="1300" b="1" i="0">
                <a:solidFill>
                  <a:srgbClr val="00D4FF"/>
                </a:solidFill>
              </a:defRPr>
            </a:pPr>
            <a:r>
              <a:t>1. main() returns (or exit() called)</a:t>
            </a:r>
          </a:p>
        </p:txBody>
      </p:sp>
      <p:sp>
        <p:nvSpPr>
          <p:cNvPr id="8" name="TextBox 7"/>
          <p:cNvSpPr txBox="1"/>
          <p:nvPr/>
        </p:nvSpPr>
        <p:spPr>
          <a:xfrm>
            <a:off x="914400" y="1627632"/>
            <a:ext cx="10058400" cy="365760"/>
          </a:xfrm>
          <a:prstGeom prst="rect">
            <a:avLst/>
          </a:prstGeom>
          <a:noFill/>
        </p:spPr>
        <p:txBody>
          <a:bodyPr wrap="square" anchor="t"/>
          <a:lstStyle/>
          <a:p>
            <a:pPr algn="l">
              <a:defRPr sz="1100" b="0" i="0">
                <a:solidFill>
                  <a:srgbClr val="CCCCCC"/>
                </a:solidFill>
              </a:defRPr>
            </a:pPr>
            <a:r>
              <a:t>Return value from main becomes the process exit status.</a:t>
            </a:r>
          </a:p>
        </p:txBody>
      </p:sp>
      <p:sp>
        <p:nvSpPr>
          <p:cNvPr id="9" name="Rectangle 8"/>
          <p:cNvSpPr/>
          <p:nvPr/>
        </p:nvSpPr>
        <p:spPr>
          <a:xfrm>
            <a:off x="731520" y="2029968"/>
            <a:ext cx="54864" cy="59436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29968"/>
            <a:ext cx="3200400" cy="274320"/>
          </a:xfrm>
          <a:prstGeom prst="rect">
            <a:avLst/>
          </a:prstGeom>
          <a:noFill/>
        </p:spPr>
        <p:txBody>
          <a:bodyPr wrap="square" anchor="t"/>
          <a:lstStyle/>
          <a:p>
            <a:pPr algn="l">
              <a:defRPr sz="1300" b="1" i="0">
                <a:solidFill>
                  <a:srgbClr val="00FF88"/>
                </a:solidFill>
              </a:defRPr>
            </a:pPr>
            <a:r>
              <a:t>2. atexit handlers</a:t>
            </a:r>
          </a:p>
        </p:txBody>
      </p:sp>
      <p:sp>
        <p:nvSpPr>
          <p:cNvPr id="11" name="TextBox 10"/>
          <p:cNvSpPr txBox="1"/>
          <p:nvPr/>
        </p:nvSpPr>
        <p:spPr>
          <a:xfrm>
            <a:off x="914400" y="2286000"/>
            <a:ext cx="10058400" cy="365760"/>
          </a:xfrm>
          <a:prstGeom prst="rect">
            <a:avLst/>
          </a:prstGeom>
          <a:noFill/>
        </p:spPr>
        <p:txBody>
          <a:bodyPr wrap="square" anchor="t"/>
          <a:lstStyle/>
          <a:p>
            <a:pPr algn="l">
              <a:defRPr sz="1100" b="0" i="0">
                <a:solidFill>
                  <a:srgbClr val="CCCCCC"/>
                </a:solidFill>
              </a:defRPr>
            </a:pPr>
            <a:r>
              <a:t>Called in reverse registration order. Registered by atexit() and on_exit().</a:t>
            </a:r>
          </a:p>
        </p:txBody>
      </p:sp>
      <p:sp>
        <p:nvSpPr>
          <p:cNvPr id="12" name="Rectangle 11"/>
          <p:cNvSpPr/>
          <p:nvPr/>
        </p:nvSpPr>
        <p:spPr>
          <a:xfrm>
            <a:off x="731520" y="2688336"/>
            <a:ext cx="54864" cy="5943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688336"/>
            <a:ext cx="3200400" cy="274320"/>
          </a:xfrm>
          <a:prstGeom prst="rect">
            <a:avLst/>
          </a:prstGeom>
          <a:noFill/>
        </p:spPr>
        <p:txBody>
          <a:bodyPr wrap="square" anchor="t"/>
          <a:lstStyle/>
          <a:p>
            <a:pPr algn="l">
              <a:defRPr sz="1300" b="1" i="0">
                <a:solidFill>
                  <a:srgbClr val="FFD700"/>
                </a:solidFill>
              </a:defRPr>
            </a:pPr>
            <a:r>
              <a:t>3. fini_array per DSO</a:t>
            </a:r>
          </a:p>
        </p:txBody>
      </p:sp>
      <p:sp>
        <p:nvSpPr>
          <p:cNvPr id="14" name="TextBox 13"/>
          <p:cNvSpPr txBox="1"/>
          <p:nvPr/>
        </p:nvSpPr>
        <p:spPr>
          <a:xfrm>
            <a:off x="914400" y="2944368"/>
            <a:ext cx="10058400" cy="365760"/>
          </a:xfrm>
          <a:prstGeom prst="rect">
            <a:avLst/>
          </a:prstGeom>
          <a:noFill/>
        </p:spPr>
        <p:txBody>
          <a:bodyPr wrap="square" anchor="t"/>
          <a:lstStyle/>
          <a:p>
            <a:pPr algn="l">
              <a:defRPr sz="1100" b="0" i="0">
                <a:solidFill>
                  <a:srgbClr val="CCCCCC"/>
                </a:solidFill>
              </a:defRPr>
            </a:pPr>
            <a:r>
              <a:t>Destructor arrays called in REVERSE dependency order (dependents before deps).</a:t>
            </a:r>
          </a:p>
        </p:txBody>
      </p:sp>
      <p:sp>
        <p:nvSpPr>
          <p:cNvPr id="15" name="Rectangle 14"/>
          <p:cNvSpPr/>
          <p:nvPr/>
        </p:nvSpPr>
        <p:spPr>
          <a:xfrm>
            <a:off x="731520" y="3346704"/>
            <a:ext cx="54864" cy="59436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346704"/>
            <a:ext cx="3200400" cy="274320"/>
          </a:xfrm>
          <a:prstGeom prst="rect">
            <a:avLst/>
          </a:prstGeom>
          <a:noFill/>
        </p:spPr>
        <p:txBody>
          <a:bodyPr wrap="square" anchor="t"/>
          <a:lstStyle/>
          <a:p>
            <a:pPr algn="l">
              <a:defRPr sz="1300" b="1" i="0">
                <a:solidFill>
                  <a:srgbClr val="FF4444"/>
                </a:solidFill>
              </a:defRPr>
            </a:pPr>
            <a:r>
              <a:t>4. DT_FINI per DSO</a:t>
            </a:r>
          </a:p>
        </p:txBody>
      </p:sp>
      <p:sp>
        <p:nvSpPr>
          <p:cNvPr id="17" name="TextBox 16"/>
          <p:cNvSpPr txBox="1"/>
          <p:nvPr/>
        </p:nvSpPr>
        <p:spPr>
          <a:xfrm>
            <a:off x="914400" y="3602736"/>
            <a:ext cx="10058400" cy="365760"/>
          </a:xfrm>
          <a:prstGeom prst="rect">
            <a:avLst/>
          </a:prstGeom>
          <a:noFill/>
        </p:spPr>
        <p:txBody>
          <a:bodyPr wrap="square" anchor="t"/>
          <a:lstStyle/>
          <a:p>
            <a:pPr algn="l">
              <a:defRPr sz="1100" b="0" i="0">
                <a:solidFill>
                  <a:srgbClr val="CCCCCC"/>
                </a:solidFill>
              </a:defRPr>
            </a:pPr>
            <a:r>
              <a:t>Legacy single-function destructors. Called after fini_array for each DSO.</a:t>
            </a:r>
          </a:p>
        </p:txBody>
      </p:sp>
      <p:sp>
        <p:nvSpPr>
          <p:cNvPr id="18" name="Rectangle 17"/>
          <p:cNvSpPr/>
          <p:nvPr/>
        </p:nvSpPr>
        <p:spPr>
          <a:xfrm>
            <a:off x="731520" y="4005072"/>
            <a:ext cx="54864" cy="59436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05072"/>
            <a:ext cx="3200400" cy="274320"/>
          </a:xfrm>
          <a:prstGeom prst="rect">
            <a:avLst/>
          </a:prstGeom>
          <a:noFill/>
        </p:spPr>
        <p:txBody>
          <a:bodyPr wrap="square" anchor="t"/>
          <a:lstStyle/>
          <a:p>
            <a:pPr algn="l">
              <a:defRPr sz="1300" b="1" i="0">
                <a:solidFill>
                  <a:srgbClr val="BB86FC"/>
                </a:solidFill>
              </a:defRPr>
            </a:pPr>
            <a:r>
              <a:t>5. _exit() syscall</a:t>
            </a:r>
          </a:p>
        </p:txBody>
      </p:sp>
      <p:sp>
        <p:nvSpPr>
          <p:cNvPr id="20" name="TextBox 19"/>
          <p:cNvSpPr txBox="1"/>
          <p:nvPr/>
        </p:nvSpPr>
        <p:spPr>
          <a:xfrm>
            <a:off x="914400" y="4261104"/>
            <a:ext cx="10058400" cy="365760"/>
          </a:xfrm>
          <a:prstGeom prst="rect">
            <a:avLst/>
          </a:prstGeom>
          <a:noFill/>
        </p:spPr>
        <p:txBody>
          <a:bodyPr wrap="square" anchor="t"/>
          <a:lstStyle/>
          <a:p>
            <a:pPr algn="l">
              <a:defRPr sz="1100" b="0" i="0">
                <a:solidFill>
                  <a:srgbClr val="CCCCCC"/>
                </a:solidFill>
              </a:defRPr>
            </a:pPr>
            <a:r>
              <a:t>Kernel terminates the process. All memory mappings released.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2926080"/>
            <a:ext cx="12191695" cy="36576"/>
          </a:xfrm>
          <a:prstGeom prst="round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ectangle 2"/>
          <p:cNvSpPr/>
          <p:nvPr/>
        </p:nvSpPr>
        <p:spPr>
          <a:xfrm>
            <a:off x="5303520" y="1371600"/>
            <a:ext cx="1554480" cy="1554480"/>
          </a:xfrm>
          <a:prstGeom prst="rect">
            <a:avLst/>
          </a:prstGeom>
          <a:solidFill>
            <a:srgbClr val="0A0A1A"/>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4800" b="1">
                <a:solidFill>
                  <a:srgbClr val="BB86FC"/>
                </a:solidFill>
              </a:defRPr>
            </a:pPr>
            <a:r>
              <a:t>14</a:t>
            </a:r>
          </a:p>
        </p:txBody>
      </p:sp>
      <p:sp>
        <p:nvSpPr>
          <p:cNvPr id="4" name="TextBox 3"/>
          <p:cNvSpPr txBox="1"/>
          <p:nvPr/>
        </p:nvSpPr>
        <p:spPr>
          <a:xfrm>
            <a:off x="1371600" y="3200400"/>
            <a:ext cx="9418320" cy="1097280"/>
          </a:xfrm>
          <a:prstGeom prst="rect">
            <a:avLst/>
          </a:prstGeom>
          <a:noFill/>
        </p:spPr>
        <p:txBody>
          <a:bodyPr wrap="square" anchor="t"/>
          <a:lstStyle/>
          <a:p>
            <a:pPr algn="ctr">
              <a:defRPr sz="3400" b="1" i="0">
                <a:solidFill>
                  <a:srgbClr val="FFFFFF"/>
                </a:solidFill>
              </a:defRPr>
            </a:pPr>
            <a:r>
              <a:t>Detection &amp; Forensics at</a:t>
            </a:r>
            <a:br/>
            <a:r>
              <a:t>the GOT/PLT Layer</a:t>
            </a:r>
          </a:p>
        </p:txBody>
      </p:sp>
      <p:sp>
        <p:nvSpPr>
          <p:cNvPr id="5" name="TextBox 4"/>
          <p:cNvSpPr txBox="1"/>
          <p:nvPr/>
        </p:nvSpPr>
        <p:spPr>
          <a:xfrm>
            <a:off x="1828800" y="4389120"/>
            <a:ext cx="8503920" cy="914400"/>
          </a:xfrm>
          <a:prstGeom prst="rect">
            <a:avLst/>
          </a:prstGeom>
          <a:noFill/>
        </p:spPr>
        <p:txBody>
          <a:bodyPr wrap="square" anchor="t"/>
          <a:lstStyle/>
          <a:p>
            <a:pPr algn="ctr">
              <a:defRPr sz="1600" b="0" i="0">
                <a:solidFill>
                  <a:srgbClr val="CCCCCC"/>
                </a:solidFill>
              </a:defRPr>
            </a:pPr>
            <a:r>
              <a:t>Turning the loader's mechanics into defensive instrumentation</a:t>
            </a:r>
          </a:p>
        </p:txBody>
      </p:sp>
      <p:cxnSp>
        <p:nvCxnSpPr>
          <p:cNvPr id="6" name="Connector 5"/>
          <p:cNvCxnSpPr/>
          <p:nvPr/>
        </p:nvCxnSpPr>
        <p:spPr>
          <a:xfrm>
            <a:off x="4572000" y="5486400"/>
            <a:ext cx="3017520" cy="0"/>
          </a:xfrm>
          <a:prstGeom prst="line">
            <a:avLst/>
          </a:prstGeom>
          <a:ln w="12700">
            <a:solidFill>
              <a:srgbClr val="BB86F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GOT/PLT Detection &amp; Forensics Opportunities</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026767" y="1280160"/>
            <a:ext cx="2560320" cy="2011680"/>
          </a:xfrm>
          <a:prstGeom prst="roundRect">
            <a:avLst/>
          </a:prstGeom>
          <a:solidFill>
            <a:srgbClr val="1C1C34"/>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6" name="TextBox 5"/>
          <p:cNvSpPr txBox="1"/>
          <p:nvPr/>
        </p:nvSpPr>
        <p:spPr>
          <a:xfrm>
            <a:off x="2026767" y="1417320"/>
            <a:ext cx="2560320" cy="457200"/>
          </a:xfrm>
          <a:prstGeom prst="rect">
            <a:avLst/>
          </a:prstGeom>
          <a:noFill/>
        </p:spPr>
        <p:txBody>
          <a:bodyPr wrap="square" anchor="t"/>
          <a:lstStyle/>
          <a:p>
            <a:pPr algn="ctr">
              <a:defRPr sz="2800" b="0" i="0">
                <a:solidFill>
                  <a:srgbClr val="00D4FF"/>
                </a:solidFill>
              </a:defRPr>
            </a:pPr>
            <a:r>
              <a:t>🔍</a:t>
            </a:r>
          </a:p>
        </p:txBody>
      </p:sp>
      <p:sp>
        <p:nvSpPr>
          <p:cNvPr id="7" name="TextBox 6"/>
          <p:cNvSpPr txBox="1"/>
          <p:nvPr/>
        </p:nvSpPr>
        <p:spPr>
          <a:xfrm>
            <a:off x="2163927" y="1920240"/>
            <a:ext cx="2286000" cy="320040"/>
          </a:xfrm>
          <a:prstGeom prst="rect">
            <a:avLst/>
          </a:prstGeom>
          <a:noFill/>
        </p:spPr>
        <p:txBody>
          <a:bodyPr wrap="square" anchor="t"/>
          <a:lstStyle/>
          <a:p>
            <a:pPr algn="ctr">
              <a:defRPr sz="1200" b="1" i="0">
                <a:solidFill>
                  <a:srgbClr val="FFFFFF"/>
                </a:solidFill>
              </a:defRPr>
            </a:pPr>
            <a:r>
              <a:t>GOT Integrity Check</a:t>
            </a:r>
          </a:p>
        </p:txBody>
      </p:sp>
      <p:sp>
        <p:nvSpPr>
          <p:cNvPr id="8" name="TextBox 7"/>
          <p:cNvSpPr txBox="1"/>
          <p:nvPr/>
        </p:nvSpPr>
        <p:spPr>
          <a:xfrm>
            <a:off x="2163927" y="2286000"/>
            <a:ext cx="2286000" cy="822960"/>
          </a:xfrm>
          <a:prstGeom prst="rect">
            <a:avLst/>
          </a:prstGeom>
          <a:noFill/>
        </p:spPr>
        <p:txBody>
          <a:bodyPr wrap="square" anchor="t"/>
          <a:lstStyle/>
          <a:p>
            <a:pPr algn="ctr">
              <a:defRPr sz="900" b="0" i="0">
                <a:solidFill>
                  <a:srgbClr val="CCCCCC"/>
                </a:solidFill>
              </a:defRPr>
            </a:pPr>
            <a:r>
              <a:t>Compare GOT entries against expected resolved addresses (walk link_map + symbol resolution rules). Finds GOT overwrites.</a:t>
            </a:r>
          </a:p>
        </p:txBody>
      </p:sp>
      <p:sp>
        <p:nvSpPr>
          <p:cNvPr id="9" name="Rounded Rectangle 8"/>
          <p:cNvSpPr/>
          <p:nvPr/>
        </p:nvSpPr>
        <p:spPr>
          <a:xfrm>
            <a:off x="4815687" y="1280160"/>
            <a:ext cx="2560320" cy="2011680"/>
          </a:xfrm>
          <a:prstGeom prst="roundRect">
            <a:avLst/>
          </a:prstGeom>
          <a:solidFill>
            <a:srgbClr val="1C1C34"/>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TextBox 9"/>
          <p:cNvSpPr txBox="1"/>
          <p:nvPr/>
        </p:nvSpPr>
        <p:spPr>
          <a:xfrm>
            <a:off x="4815687" y="1417320"/>
            <a:ext cx="2560320" cy="457200"/>
          </a:xfrm>
          <a:prstGeom prst="rect">
            <a:avLst/>
          </a:prstGeom>
          <a:noFill/>
        </p:spPr>
        <p:txBody>
          <a:bodyPr wrap="square" anchor="t"/>
          <a:lstStyle/>
          <a:p>
            <a:pPr algn="ctr">
              <a:defRPr sz="2800" b="0" i="0">
                <a:solidFill>
                  <a:srgbClr val="00FF88"/>
                </a:solidFill>
              </a:defRPr>
            </a:pPr>
            <a:r>
              <a:t>📋</a:t>
            </a:r>
          </a:p>
        </p:txBody>
      </p:sp>
      <p:sp>
        <p:nvSpPr>
          <p:cNvPr id="11" name="TextBox 10"/>
          <p:cNvSpPr txBox="1"/>
          <p:nvPr/>
        </p:nvSpPr>
        <p:spPr>
          <a:xfrm>
            <a:off x="4952847" y="1920240"/>
            <a:ext cx="2286000" cy="320040"/>
          </a:xfrm>
          <a:prstGeom prst="rect">
            <a:avLst/>
          </a:prstGeom>
          <a:noFill/>
        </p:spPr>
        <p:txBody>
          <a:bodyPr wrap="square" anchor="t"/>
          <a:lstStyle/>
          <a:p>
            <a:pPr algn="ctr">
              <a:defRPr sz="1200" b="1" i="0">
                <a:solidFill>
                  <a:srgbClr val="FFFFFF"/>
                </a:solidFill>
              </a:defRPr>
            </a:pPr>
            <a:r>
              <a:t>PLT Auditing</a:t>
            </a:r>
          </a:p>
        </p:txBody>
      </p:sp>
      <p:sp>
        <p:nvSpPr>
          <p:cNvPr id="12" name="TextBox 11"/>
          <p:cNvSpPr txBox="1"/>
          <p:nvPr/>
        </p:nvSpPr>
        <p:spPr>
          <a:xfrm>
            <a:off x="4952847" y="2286000"/>
            <a:ext cx="2286000" cy="822960"/>
          </a:xfrm>
          <a:prstGeom prst="rect">
            <a:avLst/>
          </a:prstGeom>
          <a:noFill/>
        </p:spPr>
        <p:txBody>
          <a:bodyPr wrap="square" anchor="t"/>
          <a:lstStyle/>
          <a:p>
            <a:pPr algn="ctr">
              <a:defRPr sz="900" b="0" i="0">
                <a:solidFill>
                  <a:srgbClr val="CCCCCC"/>
                </a:solidFill>
              </a:defRPr>
            </a:pPr>
            <a:r>
              <a:t>LD_AUDIT la_pltenter/la_pltexit callbacks observe every PLT call. Useful for tracing in controlled environments.</a:t>
            </a:r>
          </a:p>
        </p:txBody>
      </p:sp>
      <p:sp>
        <p:nvSpPr>
          <p:cNvPr id="13" name="Rounded Rectangle 12"/>
          <p:cNvSpPr/>
          <p:nvPr/>
        </p:nvSpPr>
        <p:spPr>
          <a:xfrm>
            <a:off x="7604607" y="1280160"/>
            <a:ext cx="2560320" cy="2011680"/>
          </a:xfrm>
          <a:prstGeom prst="roundRect">
            <a:avLst/>
          </a:prstGeom>
          <a:solidFill>
            <a:srgbClr val="1C1C3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4" name="TextBox 13"/>
          <p:cNvSpPr txBox="1"/>
          <p:nvPr/>
        </p:nvSpPr>
        <p:spPr>
          <a:xfrm>
            <a:off x="7604607" y="1417320"/>
            <a:ext cx="2560320" cy="457200"/>
          </a:xfrm>
          <a:prstGeom prst="rect">
            <a:avLst/>
          </a:prstGeom>
          <a:noFill/>
        </p:spPr>
        <p:txBody>
          <a:bodyPr wrap="square" anchor="t"/>
          <a:lstStyle/>
          <a:p>
            <a:pPr algn="ctr">
              <a:defRPr sz="2800" b="0" i="0">
                <a:solidFill>
                  <a:srgbClr val="FF4444"/>
                </a:solidFill>
              </a:defRPr>
            </a:pPr>
            <a:r>
              <a:t>⚠️</a:t>
            </a:r>
          </a:p>
        </p:txBody>
      </p:sp>
      <p:sp>
        <p:nvSpPr>
          <p:cNvPr id="15" name="TextBox 14"/>
          <p:cNvSpPr txBox="1"/>
          <p:nvPr/>
        </p:nvSpPr>
        <p:spPr>
          <a:xfrm>
            <a:off x="7741767" y="1920240"/>
            <a:ext cx="2286000" cy="320040"/>
          </a:xfrm>
          <a:prstGeom prst="rect">
            <a:avLst/>
          </a:prstGeom>
          <a:noFill/>
        </p:spPr>
        <p:txBody>
          <a:bodyPr wrap="square" anchor="t"/>
          <a:lstStyle/>
          <a:p>
            <a:pPr algn="ctr">
              <a:defRPr sz="1200" b="1" i="0">
                <a:solidFill>
                  <a:srgbClr val="FFFFFF"/>
                </a:solidFill>
              </a:defRPr>
            </a:pPr>
            <a:r>
              <a:t>Resolver Hijack</a:t>
            </a:r>
          </a:p>
        </p:txBody>
      </p:sp>
      <p:sp>
        <p:nvSpPr>
          <p:cNvPr id="16" name="TextBox 15"/>
          <p:cNvSpPr txBox="1"/>
          <p:nvPr/>
        </p:nvSpPr>
        <p:spPr>
          <a:xfrm>
            <a:off x="7741767" y="2286000"/>
            <a:ext cx="2286000" cy="822960"/>
          </a:xfrm>
          <a:prstGeom prst="rect">
            <a:avLst/>
          </a:prstGeom>
          <a:noFill/>
        </p:spPr>
        <p:txBody>
          <a:bodyPr wrap="square" anchor="t"/>
          <a:lstStyle/>
          <a:p>
            <a:pPr algn="ctr">
              <a:defRPr sz="900" b="0" i="0">
                <a:solidFill>
                  <a:srgbClr val="CCCCCC"/>
                </a:solidFill>
              </a:defRPr>
            </a:pPr>
            <a:r>
              <a:t>Check .got.plt[2] against expected _dl_runtime_resolve address. Replacement redirects ALL lazy resolutions.</a:t>
            </a:r>
          </a:p>
        </p:txBody>
      </p:sp>
      <p:sp>
        <p:nvSpPr>
          <p:cNvPr id="17" name="Rounded Rectangle 16"/>
          <p:cNvSpPr/>
          <p:nvPr/>
        </p:nvSpPr>
        <p:spPr>
          <a:xfrm>
            <a:off x="2026767" y="3520440"/>
            <a:ext cx="2560320" cy="2011680"/>
          </a:xfrm>
          <a:prstGeom prst="roundRect">
            <a:avLst/>
          </a:prstGeom>
          <a:solidFill>
            <a:srgbClr val="1C1C34"/>
          </a:solidFill>
          <a:ln w="127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8" name="TextBox 17"/>
          <p:cNvSpPr txBox="1"/>
          <p:nvPr/>
        </p:nvSpPr>
        <p:spPr>
          <a:xfrm>
            <a:off x="2026767" y="3657600"/>
            <a:ext cx="2560320" cy="457200"/>
          </a:xfrm>
          <a:prstGeom prst="rect">
            <a:avLst/>
          </a:prstGeom>
          <a:noFill/>
        </p:spPr>
        <p:txBody>
          <a:bodyPr wrap="square" anchor="t"/>
          <a:lstStyle/>
          <a:p>
            <a:pPr algn="ctr">
              <a:defRPr sz="2800" b="0" i="0">
                <a:solidFill>
                  <a:srgbClr val="BB86FC"/>
                </a:solidFill>
              </a:defRPr>
            </a:pPr>
            <a:r>
              <a:t>🔗</a:t>
            </a:r>
          </a:p>
        </p:txBody>
      </p:sp>
      <p:sp>
        <p:nvSpPr>
          <p:cNvPr id="19" name="TextBox 18"/>
          <p:cNvSpPr txBox="1"/>
          <p:nvPr/>
        </p:nvSpPr>
        <p:spPr>
          <a:xfrm>
            <a:off x="2163927" y="4160520"/>
            <a:ext cx="2286000" cy="320040"/>
          </a:xfrm>
          <a:prstGeom prst="rect">
            <a:avLst/>
          </a:prstGeom>
          <a:noFill/>
        </p:spPr>
        <p:txBody>
          <a:bodyPr wrap="square" anchor="t"/>
          <a:lstStyle/>
          <a:p>
            <a:pPr algn="ctr">
              <a:defRPr sz="1200" b="1" i="0">
                <a:solidFill>
                  <a:srgbClr val="FFFFFF"/>
                </a:solidFill>
              </a:defRPr>
            </a:pPr>
            <a:r>
              <a:t>link_map Walk</a:t>
            </a:r>
          </a:p>
        </p:txBody>
      </p:sp>
      <p:sp>
        <p:nvSpPr>
          <p:cNvPr id="20" name="TextBox 19"/>
          <p:cNvSpPr txBox="1"/>
          <p:nvPr/>
        </p:nvSpPr>
        <p:spPr>
          <a:xfrm>
            <a:off x="2163927" y="4526280"/>
            <a:ext cx="2286000" cy="822960"/>
          </a:xfrm>
          <a:prstGeom prst="rect">
            <a:avLst/>
          </a:prstGeom>
          <a:noFill/>
        </p:spPr>
        <p:txBody>
          <a:bodyPr wrap="square" anchor="t"/>
          <a:lstStyle/>
          <a:p>
            <a:pPr algn="ctr">
              <a:defRPr sz="900" b="0" i="0">
                <a:solidFill>
                  <a:srgbClr val="CCCCCC"/>
                </a:solidFill>
              </a:defRPr>
            </a:pPr>
            <a:r>
              <a:t>Enumerate loaded objects via DT_DEBUG → r_debug → link_map. Unexpected libraries = injection detection.</a:t>
            </a:r>
          </a:p>
        </p:txBody>
      </p:sp>
      <p:sp>
        <p:nvSpPr>
          <p:cNvPr id="21" name="Rounded Rectangle 20"/>
          <p:cNvSpPr/>
          <p:nvPr/>
        </p:nvSpPr>
        <p:spPr>
          <a:xfrm>
            <a:off x="4815687" y="3520440"/>
            <a:ext cx="2560320" cy="2011680"/>
          </a:xfrm>
          <a:prstGeom prst="roundRect">
            <a:avLst/>
          </a:prstGeom>
          <a:solidFill>
            <a:srgbClr val="1C1C34"/>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2" name="TextBox 21"/>
          <p:cNvSpPr txBox="1"/>
          <p:nvPr/>
        </p:nvSpPr>
        <p:spPr>
          <a:xfrm>
            <a:off x="4815687" y="3657600"/>
            <a:ext cx="2560320" cy="457200"/>
          </a:xfrm>
          <a:prstGeom prst="rect">
            <a:avLst/>
          </a:prstGeom>
          <a:noFill/>
        </p:spPr>
        <p:txBody>
          <a:bodyPr wrap="square" anchor="t"/>
          <a:lstStyle/>
          <a:p>
            <a:pPr algn="ctr">
              <a:defRPr sz="2800" b="0" i="0">
                <a:solidFill>
                  <a:srgbClr val="FFD700"/>
                </a:solidFill>
              </a:defRPr>
            </a:pPr>
            <a:r>
              <a:t>📊</a:t>
            </a:r>
          </a:p>
        </p:txBody>
      </p:sp>
      <p:sp>
        <p:nvSpPr>
          <p:cNvPr id="23" name="TextBox 22"/>
          <p:cNvSpPr txBox="1"/>
          <p:nvPr/>
        </p:nvSpPr>
        <p:spPr>
          <a:xfrm>
            <a:off x="4952847" y="4160520"/>
            <a:ext cx="2286000" cy="320040"/>
          </a:xfrm>
          <a:prstGeom prst="rect">
            <a:avLst/>
          </a:prstGeom>
          <a:noFill/>
        </p:spPr>
        <p:txBody>
          <a:bodyPr wrap="square" anchor="t"/>
          <a:lstStyle/>
          <a:p>
            <a:pPr algn="ctr">
              <a:defRPr sz="1200" b="1" i="0">
                <a:solidFill>
                  <a:srgbClr val="FFFFFF"/>
                </a:solidFill>
              </a:defRPr>
            </a:pPr>
            <a:r>
              <a:t>Relocation Audit</a:t>
            </a:r>
          </a:p>
        </p:txBody>
      </p:sp>
      <p:sp>
        <p:nvSpPr>
          <p:cNvPr id="24" name="TextBox 23"/>
          <p:cNvSpPr txBox="1"/>
          <p:nvPr/>
        </p:nvSpPr>
        <p:spPr>
          <a:xfrm>
            <a:off x="4952847" y="4526280"/>
            <a:ext cx="2286000" cy="822960"/>
          </a:xfrm>
          <a:prstGeom prst="rect">
            <a:avLst/>
          </a:prstGeom>
          <a:noFill/>
        </p:spPr>
        <p:txBody>
          <a:bodyPr wrap="square" anchor="t"/>
          <a:lstStyle/>
          <a:p>
            <a:pPr algn="ctr">
              <a:defRPr sz="900" b="0" i="0">
                <a:solidFill>
                  <a:srgbClr val="CCCCCC"/>
                </a:solidFill>
              </a:defRPr>
            </a:pPr>
            <a:r>
              <a:t>Compare .init_array/.fini_array entries against known function addresses in .text. Entries outside .text are anomalous.</a:t>
            </a:r>
          </a:p>
        </p:txBody>
      </p:sp>
      <p:sp>
        <p:nvSpPr>
          <p:cNvPr id="25" name="Rounded Rectangle 24"/>
          <p:cNvSpPr/>
          <p:nvPr/>
        </p:nvSpPr>
        <p:spPr>
          <a:xfrm>
            <a:off x="7604607" y="3520440"/>
            <a:ext cx="2560320" cy="2011680"/>
          </a:xfrm>
          <a:prstGeom prst="roundRect">
            <a:avLst/>
          </a:prstGeom>
          <a:solidFill>
            <a:srgbClr val="1C1C34"/>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26" name="TextBox 25"/>
          <p:cNvSpPr txBox="1"/>
          <p:nvPr/>
        </p:nvSpPr>
        <p:spPr>
          <a:xfrm>
            <a:off x="7604607" y="3657600"/>
            <a:ext cx="2560320" cy="457200"/>
          </a:xfrm>
          <a:prstGeom prst="rect">
            <a:avLst/>
          </a:prstGeom>
          <a:noFill/>
        </p:spPr>
        <p:txBody>
          <a:bodyPr wrap="square" anchor="t"/>
          <a:lstStyle/>
          <a:p>
            <a:pPr algn="ctr">
              <a:defRPr sz="2800" b="0" i="0">
                <a:solidFill>
                  <a:srgbClr val="FF8C00"/>
                </a:solidFill>
              </a:defRPr>
            </a:pPr>
            <a:r>
              <a:t>🛡️</a:t>
            </a:r>
          </a:p>
        </p:txBody>
      </p:sp>
      <p:sp>
        <p:nvSpPr>
          <p:cNvPr id="27" name="TextBox 26"/>
          <p:cNvSpPr txBox="1"/>
          <p:nvPr/>
        </p:nvSpPr>
        <p:spPr>
          <a:xfrm>
            <a:off x="7741767" y="4160520"/>
            <a:ext cx="2286000" cy="320040"/>
          </a:xfrm>
          <a:prstGeom prst="rect">
            <a:avLst/>
          </a:prstGeom>
          <a:noFill/>
        </p:spPr>
        <p:txBody>
          <a:bodyPr wrap="square" anchor="t"/>
          <a:lstStyle/>
          <a:p>
            <a:pPr algn="ctr">
              <a:defRPr sz="1200" b="1" i="0">
                <a:solidFill>
                  <a:srgbClr val="FFFFFF"/>
                </a:solidFill>
              </a:defRPr>
            </a:pPr>
            <a:r>
              <a:t>Static Binary Note</a:t>
            </a:r>
          </a:p>
        </p:txBody>
      </p:sp>
      <p:sp>
        <p:nvSpPr>
          <p:cNvPr id="28" name="TextBox 27"/>
          <p:cNvSpPr txBox="1"/>
          <p:nvPr/>
        </p:nvSpPr>
        <p:spPr>
          <a:xfrm>
            <a:off x="7741767" y="4526280"/>
            <a:ext cx="2286000" cy="822960"/>
          </a:xfrm>
          <a:prstGeom prst="rect">
            <a:avLst/>
          </a:prstGeom>
          <a:noFill/>
        </p:spPr>
        <p:txBody>
          <a:bodyPr wrap="square" anchor="t"/>
          <a:lstStyle/>
          <a:p>
            <a:pPr algn="ctr">
              <a:defRPr sz="900" b="0" i="0">
                <a:solidFill>
                  <a:srgbClr val="CCCCCC"/>
                </a:solidFill>
              </a:defRPr>
            </a:pPr>
            <a:r>
              <a:t>Static binaries skip ALL dynamic linking. No GOT, no PLT, no LD_PRELOAD. Detection must move to seccomp/kernel level.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Runtime GOT Integrity Check (dl_iterate_phdr)</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9601200" y="320040"/>
            <a:ext cx="1828800" cy="274320"/>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D4FF"/>
                </a:solidFill>
              </a:defRPr>
            </a:pPr>
            <a:r>
              <a:t>C</a:t>
            </a:r>
          </a:p>
        </p:txBody>
      </p:sp>
      <p:sp>
        <p:nvSpPr>
          <p:cNvPr id="6" name="Rounded Rectangle 5"/>
          <p:cNvSpPr/>
          <p:nvPr/>
        </p:nvSpPr>
        <p:spPr>
          <a:xfrm>
            <a:off x="548640" y="1097280"/>
            <a:ext cx="10789920" cy="4389120"/>
          </a:xfrm>
          <a:prstGeom prst="roundRect">
            <a:avLst/>
          </a:prstGeom>
          <a:solidFill>
            <a:srgbClr val="14142A"/>
          </a:solidFill>
          <a:ln w="1270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cxnSp>
        <p:nvCxnSpPr>
          <p:cNvPr id="7" name="Connector 6"/>
          <p:cNvCxnSpPr/>
          <p:nvPr/>
        </p:nvCxnSpPr>
        <p:spPr>
          <a:xfrm>
            <a:off x="548640" y="1417320"/>
            <a:ext cx="10789920" cy="0"/>
          </a:xfrm>
          <a:prstGeom prst="line">
            <a:avLst/>
          </a:prstGeom>
          <a:ln w="6350">
            <a:solidFill>
              <a:srgbClr val="33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7240" y="1207008"/>
            <a:ext cx="137160" cy="13716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9" name="Oval 8"/>
          <p:cNvSpPr/>
          <p:nvPr/>
        </p:nvSpPr>
        <p:spPr>
          <a:xfrm>
            <a:off x="1005840" y="1207008"/>
            <a:ext cx="137160" cy="1371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0" name="Oval 9"/>
          <p:cNvSpPr/>
          <p:nvPr/>
        </p:nvSpPr>
        <p:spPr>
          <a:xfrm>
            <a:off x="1234440" y="1207008"/>
            <a:ext cx="137160" cy="137160"/>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11" name="TextBox 10"/>
          <p:cNvSpPr txBox="1"/>
          <p:nvPr/>
        </p:nvSpPr>
        <p:spPr>
          <a:xfrm>
            <a:off x="777240" y="1508760"/>
            <a:ext cx="10332720" cy="3840480"/>
          </a:xfrm>
          <a:prstGeom prst="rect">
            <a:avLst/>
          </a:prstGeom>
          <a:noFill/>
        </p:spPr>
        <p:txBody>
          <a:bodyPr wrap="square" anchor="t"/>
          <a:lstStyle/>
          <a:p>
            <a:pPr algn="l">
              <a:defRPr sz="1000" b="0" i="0">
                <a:solidFill>
                  <a:srgbClr val="CCCCCC"/>
                </a:solidFill>
                <a:latin typeface="Consolas"/>
              </a:defRPr>
            </a:pPr>
            <a:r>
              <a:t>#define _GNU_SOURCE</a:t>
            </a:r>
            <a:br/>
            <a:r>
              <a:t>#include &lt;link.h&gt;</a:t>
            </a:r>
            <a:br/>
            <a:r>
              <a:t>#include &lt;stdio.h&gt;</a:t>
            </a:r>
            <a:br/>
            <a:br/>
            <a:r>
              <a:t>static int callback(struct dl_phdr_info *info, size_t size, void *data) {</a:t>
            </a:r>
            <a:br/>
            <a:r>
              <a:t>    printf("%-40s base=0x%lx  phnum=%d\n",</a:t>
            </a:r>
            <a:br/>
            <a:r>
              <a:t>           info-&gt;dlpi_name[0] ? info-&gt;dlpi_name : "[main]",</a:t>
            </a:r>
            <a:br/>
            <a:r>
              <a:t>           (unsigned long)info-&gt;dlpi_addr,</a:t>
            </a:r>
            <a:br/>
            <a:r>
              <a:t>           info-&gt;dlpi_phnum);</a:t>
            </a:r>
            <a:br/>
            <a:br/>
            <a:r>
              <a:t>    for (int i = 0; i &lt; info-&gt;dlpi_phnum; i++) {</a:t>
            </a:r>
            <a:br/>
            <a:r>
              <a:t>        const Elf64_Phdr *ph = &amp;info-&gt;dlpi_phdr[i];</a:t>
            </a:r>
            <a:br/>
            <a:r>
              <a:t>        if (ph-&gt;p_type == PT_LOAD) {</a:t>
            </a:r>
            <a:br/>
            <a:r>
              <a:t>            printf("  PT_LOAD  vaddr=0x%lx  memsz=0x%lx  flags=%c%c%c\n",</a:t>
            </a:r>
            <a:br/>
            <a:r>
              <a:t>                   (unsigned long)(info-&gt;dlpi_addr + ph-&gt;p_vaddr),</a:t>
            </a:r>
            <a:br/>
            <a:r>
              <a:t>                   (unsigned long)ph-&gt;p_memsz,</a:t>
            </a:r>
            <a:br/>
            <a:r>
              <a:t>                   ph-&gt;p_flags &amp; PF_R ? 'R' : '-',</a:t>
            </a:r>
            <a:br/>
            <a:r>
              <a:t>                   ph-&gt;p_flags &amp; PF_W ? 'W' : '-',</a:t>
            </a:r>
            <a:br/>
            <a:r>
              <a:t>                   ph-&gt;p_flags &amp; PF_X ? 'X' : '-');</a:t>
            </a:r>
            <a:br/>
            <a:r>
              <a:t>        }</a:t>
            </a:r>
            <a:br/>
            <a:r>
              <a:t>    }</a:t>
            </a:r>
            <a:br/>
            <a:r>
              <a:t>    return 0;</a:t>
            </a:r>
            <a:br/>
            <a:r>
              <a:t>}</a:t>
            </a:r>
            <a:br/>
            <a:br/>
            <a:r>
              <a:t>int main(void) {</a:t>
            </a:r>
            <a:br/>
            <a:r>
              <a:t>    dl_iterate_phdr(callback, NULL);</a:t>
            </a:r>
            <a:br/>
            <a:r>
              <a:t>    return 0;</a:t>
            </a:r>
            <a:br/>
            <a:r>
              <a:t>}</a:t>
            </a:r>
          </a:p>
        </p:txBody>
      </p:sp>
      <p:sp>
        <p:nvSpPr>
          <p:cNvPr id="12" name="TextBox 11"/>
          <p:cNvSpPr txBox="1"/>
          <p:nvPr/>
        </p:nvSpPr>
        <p:spPr>
          <a:xfrm>
            <a:off x="731520" y="5623560"/>
            <a:ext cx="10515600" cy="274320"/>
          </a:xfrm>
          <a:prstGeom prst="rect">
            <a:avLst/>
          </a:prstGeom>
          <a:noFill/>
        </p:spPr>
        <p:txBody>
          <a:bodyPr wrap="square" anchor="t"/>
          <a:lstStyle/>
          <a:p>
            <a:pPr algn="l">
              <a:defRPr sz="1000" b="0" i="1">
                <a:solidFill>
                  <a:srgbClr val="999999"/>
                </a:solidFill>
              </a:defRPr>
            </a:pPr>
            <a:r>
              <a:t>→ dl_iterate_phdr: canonical way to enumerate loaded objects from within a process</a:t>
            </a:r>
          </a:p>
        </p:txBody>
      </p:sp>
      <p:sp>
        <p:nvSpPr>
          <p:cNvPr id="13" name="TextBox 12"/>
          <p:cNvSpPr txBox="1"/>
          <p:nvPr/>
        </p:nvSpPr>
        <p:spPr>
          <a:xfrm>
            <a:off x="731520" y="5879592"/>
            <a:ext cx="10515600" cy="274320"/>
          </a:xfrm>
          <a:prstGeom prst="rect">
            <a:avLst/>
          </a:prstGeom>
          <a:noFill/>
        </p:spPr>
        <p:txBody>
          <a:bodyPr wrap="square" anchor="t"/>
          <a:lstStyle/>
          <a:p>
            <a:pPr algn="l">
              <a:defRPr sz="1000" b="0" i="1">
                <a:solidFill>
                  <a:srgbClr val="999999"/>
                </a:solidFill>
              </a:defRPr>
            </a:pPr>
            <a:r>
              <a:t>→ Each callback receives load base + full program header table per DSO</a:t>
            </a:r>
          </a:p>
        </p:txBody>
      </p:sp>
      <p:sp>
        <p:nvSpPr>
          <p:cNvPr id="14" name="TextBox 13"/>
          <p:cNvSpPr txBox="1"/>
          <p:nvPr/>
        </p:nvSpPr>
        <p:spPr>
          <a:xfrm>
            <a:off x="731520" y="6135624"/>
            <a:ext cx="10515600" cy="274320"/>
          </a:xfrm>
          <a:prstGeom prst="rect">
            <a:avLst/>
          </a:prstGeom>
          <a:noFill/>
        </p:spPr>
        <p:txBody>
          <a:bodyPr wrap="square" anchor="t"/>
          <a:lstStyle/>
          <a:p>
            <a:pPr algn="l">
              <a:defRPr sz="1000" b="0" i="1">
                <a:solidFill>
                  <a:srgbClr val="999999"/>
                </a:solidFill>
              </a:defRPr>
            </a:pPr>
            <a:r>
              <a:t>→ Compare against baseline to detect injected libraries (dlopen, LD_PRELOAD)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 Hardening Feature Coverage — Radar Analysis</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960120"/>
            <a:ext cx="10058400" cy="365760"/>
          </a:xfrm>
          <a:prstGeom prst="rect">
            <a:avLst/>
          </a:prstGeom>
          <a:noFill/>
        </p:spPr>
        <p:txBody>
          <a:bodyPr wrap="square" anchor="t"/>
          <a:lstStyle/>
          <a:p>
            <a:pPr algn="l">
              <a:defRPr sz="1500" b="0" i="1">
                <a:solidFill>
                  <a:srgbClr val="00D4FF"/>
                </a:solidFill>
              </a:defRPr>
            </a:pPr>
            <a:r>
              <a:t>Higher = better protection. Legacy defaults leave major gaps.</a:t>
            </a:r>
          </a:p>
        </p:txBody>
      </p:sp>
      <p:pic>
        <p:nvPicPr>
          <p:cNvPr id="6" name="Picture 5" descr="image.png"/>
          <p:cNvPicPr>
            <a:picLocks noChangeAspect="1"/>
          </p:cNvPicPr>
          <p:nvPr/>
        </p:nvPicPr>
        <p:blipFill>
          <a:blip r:embed="rId2"/>
          <a:stretch>
            <a:fillRect/>
          </a:stretch>
        </p:blipFill>
        <p:spPr>
          <a:xfrm>
            <a:off x="3200400" y="1097280"/>
            <a:ext cx="5760720" cy="54864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 Attack Surface Risk Matrix</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286000" y="1005840"/>
            <a:ext cx="8229600" cy="274320"/>
          </a:xfrm>
          <a:prstGeom prst="rect">
            <a:avLst/>
          </a:prstGeom>
          <a:noFill/>
        </p:spPr>
        <p:txBody>
          <a:bodyPr wrap="square" anchor="t"/>
          <a:lstStyle/>
          <a:p>
            <a:pPr algn="ctr">
              <a:defRPr sz="1200" b="1" i="0">
                <a:solidFill>
                  <a:srgbClr val="00D4FF"/>
                </a:solidFill>
              </a:defRPr>
            </a:pPr>
            <a:r>
              <a:t>IMPACT →</a:t>
            </a:r>
          </a:p>
        </p:txBody>
      </p:sp>
      <p:sp>
        <p:nvSpPr>
          <p:cNvPr id="6" name="TextBox 5"/>
          <p:cNvSpPr txBox="1"/>
          <p:nvPr/>
        </p:nvSpPr>
        <p:spPr>
          <a:xfrm>
            <a:off x="640080" y="2743200"/>
            <a:ext cx="1371600" cy="274320"/>
          </a:xfrm>
          <a:prstGeom prst="rect">
            <a:avLst/>
          </a:prstGeom>
          <a:noFill/>
        </p:spPr>
        <p:txBody>
          <a:bodyPr wrap="square" anchor="t"/>
          <a:lstStyle/>
          <a:p>
            <a:pPr algn="l">
              <a:defRPr sz="1200" b="1" i="0">
                <a:solidFill>
                  <a:srgbClr val="00D4FF"/>
                </a:solidFill>
              </a:defRPr>
            </a:pPr>
            <a:r>
              <a:t>LIKELIHOOD →</a:t>
            </a:r>
          </a:p>
        </p:txBody>
      </p:sp>
      <p:sp>
        <p:nvSpPr>
          <p:cNvPr id="7" name="TextBox 6"/>
          <p:cNvSpPr txBox="1"/>
          <p:nvPr/>
        </p:nvSpPr>
        <p:spPr>
          <a:xfrm>
            <a:off x="2286000" y="1234440"/>
            <a:ext cx="1645920" cy="182880"/>
          </a:xfrm>
          <a:prstGeom prst="rect">
            <a:avLst/>
          </a:prstGeom>
          <a:noFill/>
        </p:spPr>
        <p:txBody>
          <a:bodyPr wrap="square" anchor="t"/>
          <a:lstStyle/>
          <a:p>
            <a:pPr algn="ctr">
              <a:defRPr sz="900" b="0" i="0">
                <a:solidFill>
                  <a:srgbClr val="CCCCCC"/>
                </a:solidFill>
              </a:defRPr>
            </a:pPr>
            <a:r>
              <a:t>Negligible</a:t>
            </a:r>
          </a:p>
        </p:txBody>
      </p:sp>
      <p:sp>
        <p:nvSpPr>
          <p:cNvPr id="8" name="TextBox 7"/>
          <p:cNvSpPr txBox="1"/>
          <p:nvPr/>
        </p:nvSpPr>
        <p:spPr>
          <a:xfrm>
            <a:off x="3931920" y="1234440"/>
            <a:ext cx="1645920" cy="182880"/>
          </a:xfrm>
          <a:prstGeom prst="rect">
            <a:avLst/>
          </a:prstGeom>
          <a:noFill/>
        </p:spPr>
        <p:txBody>
          <a:bodyPr wrap="square" anchor="t"/>
          <a:lstStyle/>
          <a:p>
            <a:pPr algn="ctr">
              <a:defRPr sz="900" b="0" i="0">
                <a:solidFill>
                  <a:srgbClr val="CCCCCC"/>
                </a:solidFill>
              </a:defRPr>
            </a:pPr>
            <a:r>
              <a:t>Minor</a:t>
            </a:r>
          </a:p>
        </p:txBody>
      </p:sp>
      <p:sp>
        <p:nvSpPr>
          <p:cNvPr id="9" name="TextBox 8"/>
          <p:cNvSpPr txBox="1"/>
          <p:nvPr/>
        </p:nvSpPr>
        <p:spPr>
          <a:xfrm>
            <a:off x="5577840" y="1234440"/>
            <a:ext cx="1645920" cy="182880"/>
          </a:xfrm>
          <a:prstGeom prst="rect">
            <a:avLst/>
          </a:prstGeom>
          <a:noFill/>
        </p:spPr>
        <p:txBody>
          <a:bodyPr wrap="square" anchor="t"/>
          <a:lstStyle/>
          <a:p>
            <a:pPr algn="ctr">
              <a:defRPr sz="900" b="0" i="0">
                <a:solidFill>
                  <a:srgbClr val="CCCCCC"/>
                </a:solidFill>
              </a:defRPr>
            </a:pPr>
            <a:r>
              <a:t>Moderate</a:t>
            </a:r>
          </a:p>
        </p:txBody>
      </p:sp>
      <p:sp>
        <p:nvSpPr>
          <p:cNvPr id="10" name="TextBox 9"/>
          <p:cNvSpPr txBox="1"/>
          <p:nvPr/>
        </p:nvSpPr>
        <p:spPr>
          <a:xfrm>
            <a:off x="7223760" y="1234440"/>
            <a:ext cx="1645920" cy="182880"/>
          </a:xfrm>
          <a:prstGeom prst="rect">
            <a:avLst/>
          </a:prstGeom>
          <a:noFill/>
        </p:spPr>
        <p:txBody>
          <a:bodyPr wrap="square" anchor="t"/>
          <a:lstStyle/>
          <a:p>
            <a:pPr algn="ctr">
              <a:defRPr sz="900" b="0" i="0">
                <a:solidFill>
                  <a:srgbClr val="CCCCCC"/>
                </a:solidFill>
              </a:defRPr>
            </a:pPr>
            <a:r>
              <a:t>Major</a:t>
            </a:r>
          </a:p>
        </p:txBody>
      </p:sp>
      <p:sp>
        <p:nvSpPr>
          <p:cNvPr id="11" name="TextBox 10"/>
          <p:cNvSpPr txBox="1"/>
          <p:nvPr/>
        </p:nvSpPr>
        <p:spPr>
          <a:xfrm>
            <a:off x="8869680" y="1234440"/>
            <a:ext cx="1645920" cy="182880"/>
          </a:xfrm>
          <a:prstGeom prst="rect">
            <a:avLst/>
          </a:prstGeom>
          <a:noFill/>
        </p:spPr>
        <p:txBody>
          <a:bodyPr wrap="square" anchor="t"/>
          <a:lstStyle/>
          <a:p>
            <a:pPr algn="ctr">
              <a:defRPr sz="900" b="0" i="0">
                <a:solidFill>
                  <a:srgbClr val="CCCCCC"/>
                </a:solidFill>
              </a:defRPr>
            </a:pPr>
            <a:r>
              <a:t>Critical</a:t>
            </a:r>
          </a:p>
        </p:txBody>
      </p:sp>
      <p:sp>
        <p:nvSpPr>
          <p:cNvPr id="12" name="TextBox 11"/>
          <p:cNvSpPr txBox="1"/>
          <p:nvPr/>
        </p:nvSpPr>
        <p:spPr>
          <a:xfrm>
            <a:off x="640080" y="4754880"/>
            <a:ext cx="1463040" cy="822960"/>
          </a:xfrm>
          <a:prstGeom prst="rect">
            <a:avLst/>
          </a:prstGeom>
          <a:noFill/>
        </p:spPr>
        <p:txBody>
          <a:bodyPr wrap="square" anchor="t"/>
          <a:lstStyle/>
          <a:p>
            <a:pPr algn="r">
              <a:defRPr sz="900" b="0" i="0">
                <a:solidFill>
                  <a:srgbClr val="CCCCCC"/>
                </a:solidFill>
              </a:defRPr>
            </a:pPr>
            <a:r>
              <a:t>Rare</a:t>
            </a:r>
          </a:p>
        </p:txBody>
      </p:sp>
      <p:sp>
        <p:nvSpPr>
          <p:cNvPr id="13" name="Rounded Rectangle 12"/>
          <p:cNvSpPr/>
          <p:nvPr/>
        </p:nvSpPr>
        <p:spPr>
          <a:xfrm>
            <a:off x="2286000" y="4754880"/>
            <a:ext cx="1620520" cy="797560"/>
          </a:xfrm>
          <a:prstGeom prst="roundRect">
            <a:avLst/>
          </a:prstGeom>
          <a:solidFill>
            <a:srgbClr val="00FF88"/>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14" name="Rounded Rectangle 13"/>
          <p:cNvSpPr/>
          <p:nvPr/>
        </p:nvSpPr>
        <p:spPr>
          <a:xfrm>
            <a:off x="3931920" y="4754880"/>
            <a:ext cx="1620520" cy="797560"/>
          </a:xfrm>
          <a:prstGeom prst="roundRect">
            <a:avLst/>
          </a:prstGeom>
          <a:solidFill>
            <a:srgbClr val="00FF88"/>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15" name="Rounded Rectangle 14"/>
          <p:cNvSpPr/>
          <p:nvPr/>
        </p:nvSpPr>
        <p:spPr>
          <a:xfrm>
            <a:off x="5577840" y="4754880"/>
            <a:ext cx="1620520" cy="797560"/>
          </a:xfrm>
          <a:prstGeom prst="roundRect">
            <a:avLst/>
          </a:prstGeom>
          <a:solidFill>
            <a:srgbClr val="CCAA00"/>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16" name="Rounded Rectangle 15"/>
          <p:cNvSpPr/>
          <p:nvPr/>
        </p:nvSpPr>
        <p:spPr>
          <a:xfrm>
            <a:off x="7223760" y="4754880"/>
            <a:ext cx="1620520" cy="797560"/>
          </a:xfrm>
          <a:prstGeom prst="roundRect">
            <a:avLst/>
          </a:prstGeom>
          <a:solidFill>
            <a:srgbClr val="FFD700"/>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17" name="Rounded Rectangle 16"/>
          <p:cNvSpPr/>
          <p:nvPr/>
        </p:nvSpPr>
        <p:spPr>
          <a:xfrm>
            <a:off x="8869680" y="4754880"/>
            <a:ext cx="1620520" cy="797560"/>
          </a:xfrm>
          <a:prstGeom prst="roundRect">
            <a:avLst/>
          </a:prstGeom>
          <a:solidFill>
            <a:srgbClr val="FF8C00"/>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18" name="TextBox 17"/>
          <p:cNvSpPr txBox="1"/>
          <p:nvPr/>
        </p:nvSpPr>
        <p:spPr>
          <a:xfrm>
            <a:off x="640080" y="3931920"/>
            <a:ext cx="1463040" cy="822960"/>
          </a:xfrm>
          <a:prstGeom prst="rect">
            <a:avLst/>
          </a:prstGeom>
          <a:noFill/>
        </p:spPr>
        <p:txBody>
          <a:bodyPr wrap="square" anchor="t"/>
          <a:lstStyle/>
          <a:p>
            <a:pPr algn="r">
              <a:defRPr sz="900" b="0" i="0">
                <a:solidFill>
                  <a:srgbClr val="CCCCCC"/>
                </a:solidFill>
              </a:defRPr>
            </a:pPr>
            <a:r>
              <a:t>Unlikely</a:t>
            </a:r>
          </a:p>
        </p:txBody>
      </p:sp>
      <p:sp>
        <p:nvSpPr>
          <p:cNvPr id="19" name="Rounded Rectangle 18"/>
          <p:cNvSpPr/>
          <p:nvPr/>
        </p:nvSpPr>
        <p:spPr>
          <a:xfrm>
            <a:off x="2286000" y="3931920"/>
            <a:ext cx="1620520" cy="797560"/>
          </a:xfrm>
          <a:prstGeom prst="roundRect">
            <a:avLst/>
          </a:prstGeom>
          <a:solidFill>
            <a:srgbClr val="00FF88"/>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20" name="Rounded Rectangle 19"/>
          <p:cNvSpPr/>
          <p:nvPr/>
        </p:nvSpPr>
        <p:spPr>
          <a:xfrm>
            <a:off x="3931920" y="3931920"/>
            <a:ext cx="1620520" cy="797560"/>
          </a:xfrm>
          <a:prstGeom prst="roundRect">
            <a:avLst/>
          </a:prstGeom>
          <a:solidFill>
            <a:srgbClr val="CCAA00"/>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21" name="Rounded Rectangle 20"/>
          <p:cNvSpPr/>
          <p:nvPr/>
        </p:nvSpPr>
        <p:spPr>
          <a:xfrm>
            <a:off x="5577840" y="3931920"/>
            <a:ext cx="1620520" cy="797560"/>
          </a:xfrm>
          <a:prstGeom prst="roundRect">
            <a:avLst/>
          </a:prstGeom>
          <a:solidFill>
            <a:srgbClr val="FFD700"/>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22" name="Rounded Rectangle 21"/>
          <p:cNvSpPr/>
          <p:nvPr/>
        </p:nvSpPr>
        <p:spPr>
          <a:xfrm>
            <a:off x="7223760" y="3931920"/>
            <a:ext cx="1620520" cy="797560"/>
          </a:xfrm>
          <a:prstGeom prst="roundRect">
            <a:avLst/>
          </a:prstGeom>
          <a:solidFill>
            <a:srgbClr val="FF8C00"/>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23" name="Rounded Rectangle 22"/>
          <p:cNvSpPr/>
          <p:nvPr/>
        </p:nvSpPr>
        <p:spPr>
          <a:xfrm>
            <a:off x="8869680" y="3931920"/>
            <a:ext cx="1620520" cy="797560"/>
          </a:xfrm>
          <a:prstGeom prst="roundRect">
            <a:avLst/>
          </a:prstGeom>
          <a:solidFill>
            <a:srgbClr val="CC2222"/>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24" name="TextBox 23"/>
          <p:cNvSpPr txBox="1"/>
          <p:nvPr/>
        </p:nvSpPr>
        <p:spPr>
          <a:xfrm>
            <a:off x="640080" y="3108960"/>
            <a:ext cx="1463040" cy="822960"/>
          </a:xfrm>
          <a:prstGeom prst="rect">
            <a:avLst/>
          </a:prstGeom>
          <a:noFill/>
        </p:spPr>
        <p:txBody>
          <a:bodyPr wrap="square" anchor="t"/>
          <a:lstStyle/>
          <a:p>
            <a:pPr algn="r">
              <a:defRPr sz="900" b="0" i="0">
                <a:solidFill>
                  <a:srgbClr val="CCCCCC"/>
                </a:solidFill>
              </a:defRPr>
            </a:pPr>
            <a:r>
              <a:t>Possible</a:t>
            </a:r>
          </a:p>
        </p:txBody>
      </p:sp>
      <p:sp>
        <p:nvSpPr>
          <p:cNvPr id="25" name="Rounded Rectangle 24"/>
          <p:cNvSpPr/>
          <p:nvPr/>
        </p:nvSpPr>
        <p:spPr>
          <a:xfrm>
            <a:off x="2286000" y="3108960"/>
            <a:ext cx="1620520" cy="797560"/>
          </a:xfrm>
          <a:prstGeom prst="roundRect">
            <a:avLst/>
          </a:prstGeom>
          <a:solidFill>
            <a:srgbClr val="CCAA00"/>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26" name="Rounded Rectangle 25"/>
          <p:cNvSpPr/>
          <p:nvPr/>
        </p:nvSpPr>
        <p:spPr>
          <a:xfrm>
            <a:off x="3931920" y="3108960"/>
            <a:ext cx="1620520" cy="797560"/>
          </a:xfrm>
          <a:prstGeom prst="roundRect">
            <a:avLst/>
          </a:prstGeom>
          <a:solidFill>
            <a:srgbClr val="FFD700"/>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27" name="Rounded Rectangle 26"/>
          <p:cNvSpPr/>
          <p:nvPr/>
        </p:nvSpPr>
        <p:spPr>
          <a:xfrm>
            <a:off x="5577840" y="3108960"/>
            <a:ext cx="1620520" cy="797560"/>
          </a:xfrm>
          <a:prstGeom prst="roundRect">
            <a:avLst/>
          </a:prstGeom>
          <a:solidFill>
            <a:srgbClr val="FF8C00"/>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28" name="Rounded Rectangle 27"/>
          <p:cNvSpPr/>
          <p:nvPr/>
        </p:nvSpPr>
        <p:spPr>
          <a:xfrm>
            <a:off x="7223760" y="3108960"/>
            <a:ext cx="1620520" cy="797560"/>
          </a:xfrm>
          <a:prstGeom prst="roundRect">
            <a:avLst/>
          </a:prstGeom>
          <a:solidFill>
            <a:srgbClr val="CC2222"/>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29" name="Rounded Rectangle 28"/>
          <p:cNvSpPr/>
          <p:nvPr/>
        </p:nvSpPr>
        <p:spPr>
          <a:xfrm>
            <a:off x="8869680" y="3108960"/>
            <a:ext cx="1620520" cy="797560"/>
          </a:xfrm>
          <a:prstGeom prst="roundRect">
            <a:avLst/>
          </a:prstGeom>
          <a:solidFill>
            <a:srgbClr val="FF4444"/>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30" name="TextBox 29"/>
          <p:cNvSpPr txBox="1"/>
          <p:nvPr/>
        </p:nvSpPr>
        <p:spPr>
          <a:xfrm>
            <a:off x="640080" y="2286000"/>
            <a:ext cx="1463040" cy="822960"/>
          </a:xfrm>
          <a:prstGeom prst="rect">
            <a:avLst/>
          </a:prstGeom>
          <a:noFill/>
        </p:spPr>
        <p:txBody>
          <a:bodyPr wrap="square" anchor="t"/>
          <a:lstStyle/>
          <a:p>
            <a:pPr algn="r">
              <a:defRPr sz="900" b="0" i="0">
                <a:solidFill>
                  <a:srgbClr val="CCCCCC"/>
                </a:solidFill>
              </a:defRPr>
            </a:pPr>
            <a:r>
              <a:t>Likely</a:t>
            </a:r>
          </a:p>
        </p:txBody>
      </p:sp>
      <p:sp>
        <p:nvSpPr>
          <p:cNvPr id="31" name="Rounded Rectangle 30"/>
          <p:cNvSpPr/>
          <p:nvPr/>
        </p:nvSpPr>
        <p:spPr>
          <a:xfrm>
            <a:off x="2286000" y="2286000"/>
            <a:ext cx="1620520" cy="797560"/>
          </a:xfrm>
          <a:prstGeom prst="roundRect">
            <a:avLst/>
          </a:prstGeom>
          <a:solidFill>
            <a:srgbClr val="FFD700"/>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32" name="Rounded Rectangle 31"/>
          <p:cNvSpPr/>
          <p:nvPr/>
        </p:nvSpPr>
        <p:spPr>
          <a:xfrm>
            <a:off x="3931920" y="2286000"/>
            <a:ext cx="1620520" cy="797560"/>
          </a:xfrm>
          <a:prstGeom prst="roundRect">
            <a:avLst/>
          </a:prstGeom>
          <a:solidFill>
            <a:srgbClr val="FF8C00"/>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33" name="Rounded Rectangle 32"/>
          <p:cNvSpPr/>
          <p:nvPr/>
        </p:nvSpPr>
        <p:spPr>
          <a:xfrm>
            <a:off x="5577840" y="2286000"/>
            <a:ext cx="1620520" cy="797560"/>
          </a:xfrm>
          <a:prstGeom prst="roundRect">
            <a:avLst/>
          </a:prstGeom>
          <a:solidFill>
            <a:srgbClr val="CC2222"/>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34" name="Rounded Rectangle 33"/>
          <p:cNvSpPr/>
          <p:nvPr/>
        </p:nvSpPr>
        <p:spPr>
          <a:xfrm>
            <a:off x="7223760" y="2286000"/>
            <a:ext cx="1620520" cy="797560"/>
          </a:xfrm>
          <a:prstGeom prst="roundRect">
            <a:avLst/>
          </a:prstGeom>
          <a:solidFill>
            <a:srgbClr val="FF4444"/>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35" name="Rounded Rectangle 34"/>
          <p:cNvSpPr/>
          <p:nvPr/>
        </p:nvSpPr>
        <p:spPr>
          <a:xfrm>
            <a:off x="8869680" y="2286000"/>
            <a:ext cx="1620520" cy="797560"/>
          </a:xfrm>
          <a:prstGeom prst="roundRect">
            <a:avLst/>
          </a:prstGeom>
          <a:solidFill>
            <a:srgbClr val="FF2222"/>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36" name="TextBox 35"/>
          <p:cNvSpPr txBox="1"/>
          <p:nvPr/>
        </p:nvSpPr>
        <p:spPr>
          <a:xfrm>
            <a:off x="640080" y="1463040"/>
            <a:ext cx="1463040" cy="822960"/>
          </a:xfrm>
          <a:prstGeom prst="rect">
            <a:avLst/>
          </a:prstGeom>
          <a:noFill/>
        </p:spPr>
        <p:txBody>
          <a:bodyPr wrap="square" anchor="t"/>
          <a:lstStyle/>
          <a:p>
            <a:pPr algn="r">
              <a:defRPr sz="900" b="0" i="0">
                <a:solidFill>
                  <a:srgbClr val="CCCCCC"/>
                </a:solidFill>
              </a:defRPr>
            </a:pPr>
            <a:r>
              <a:t>Almost Certain</a:t>
            </a:r>
          </a:p>
        </p:txBody>
      </p:sp>
      <p:sp>
        <p:nvSpPr>
          <p:cNvPr id="37" name="Rounded Rectangle 36"/>
          <p:cNvSpPr/>
          <p:nvPr/>
        </p:nvSpPr>
        <p:spPr>
          <a:xfrm>
            <a:off x="2286000" y="1463040"/>
            <a:ext cx="1620520" cy="797560"/>
          </a:xfrm>
          <a:prstGeom prst="roundRect">
            <a:avLst/>
          </a:prstGeom>
          <a:solidFill>
            <a:srgbClr val="FF8C00"/>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38" name="Rounded Rectangle 37"/>
          <p:cNvSpPr/>
          <p:nvPr/>
        </p:nvSpPr>
        <p:spPr>
          <a:xfrm>
            <a:off x="3931920" y="1463040"/>
            <a:ext cx="1620520" cy="797560"/>
          </a:xfrm>
          <a:prstGeom prst="roundRect">
            <a:avLst/>
          </a:prstGeom>
          <a:solidFill>
            <a:srgbClr val="CC2222"/>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39" name="Rounded Rectangle 38"/>
          <p:cNvSpPr/>
          <p:nvPr/>
        </p:nvSpPr>
        <p:spPr>
          <a:xfrm>
            <a:off x="5577840" y="1463040"/>
            <a:ext cx="1620520" cy="797560"/>
          </a:xfrm>
          <a:prstGeom prst="roundRect">
            <a:avLst/>
          </a:prstGeom>
          <a:solidFill>
            <a:srgbClr val="FF4444"/>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40" name="Rounded Rectangle 39"/>
          <p:cNvSpPr/>
          <p:nvPr/>
        </p:nvSpPr>
        <p:spPr>
          <a:xfrm>
            <a:off x="7223760" y="1463040"/>
            <a:ext cx="1620520" cy="797560"/>
          </a:xfrm>
          <a:prstGeom prst="roundRect">
            <a:avLst/>
          </a:prstGeom>
          <a:solidFill>
            <a:srgbClr val="FF2222"/>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41" name="Rounded Rectangle 40"/>
          <p:cNvSpPr/>
          <p:nvPr/>
        </p:nvSpPr>
        <p:spPr>
          <a:xfrm>
            <a:off x="8869680" y="1463040"/>
            <a:ext cx="1620520" cy="797560"/>
          </a:xfrm>
          <a:prstGeom prst="roundRect">
            <a:avLst/>
          </a:prstGeom>
          <a:solidFill>
            <a:srgbClr val="FF2222"/>
          </a:solidFill>
          <a:ln w="12700">
            <a:solidFill>
              <a:srgbClr val="0A0A1A"/>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p>
        </p:txBody>
      </p:sp>
      <p:sp>
        <p:nvSpPr>
          <p:cNvPr id="42" name="Rounded Rectangle 41"/>
          <p:cNvSpPr/>
          <p:nvPr/>
        </p:nvSpPr>
        <p:spPr>
          <a:xfrm>
            <a:off x="9052560" y="1600200"/>
            <a:ext cx="1280160" cy="365760"/>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r>
              <a:t>GOT Overwrite</a:t>
            </a:r>
            <a:br/>
            <a:r>
              <a:t>(Partial RELRO)</a:t>
            </a:r>
          </a:p>
        </p:txBody>
      </p:sp>
      <p:sp>
        <p:nvSpPr>
          <p:cNvPr id="43" name="Rounded Rectangle 42"/>
          <p:cNvSpPr/>
          <p:nvPr/>
        </p:nvSpPr>
        <p:spPr>
          <a:xfrm>
            <a:off x="7406640" y="2423160"/>
            <a:ext cx="1280160" cy="365760"/>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r>
              <a:t>ret2PLT</a:t>
            </a:r>
          </a:p>
        </p:txBody>
      </p:sp>
      <p:sp>
        <p:nvSpPr>
          <p:cNvPr id="44" name="Rounded Rectangle 43"/>
          <p:cNvSpPr/>
          <p:nvPr/>
        </p:nvSpPr>
        <p:spPr>
          <a:xfrm>
            <a:off x="9052560" y="3246120"/>
            <a:ext cx="1280160" cy="365760"/>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r>
              <a:t>ret2dlresolve</a:t>
            </a:r>
          </a:p>
        </p:txBody>
      </p:sp>
      <p:sp>
        <p:nvSpPr>
          <p:cNvPr id="45" name="Rounded Rectangle 44"/>
          <p:cNvSpPr/>
          <p:nvPr/>
        </p:nvSpPr>
        <p:spPr>
          <a:xfrm>
            <a:off x="5760720" y="1600200"/>
            <a:ext cx="1280160" cy="365760"/>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r>
              <a:t>LD_PRELOAD</a:t>
            </a:r>
            <a:br/>
            <a:r>
              <a:t>Hijack</a:t>
            </a:r>
          </a:p>
        </p:txBody>
      </p:sp>
      <p:sp>
        <p:nvSpPr>
          <p:cNvPr id="46" name="Rounded Rectangle 45"/>
          <p:cNvSpPr/>
          <p:nvPr/>
        </p:nvSpPr>
        <p:spPr>
          <a:xfrm>
            <a:off x="7406640" y="4069080"/>
            <a:ext cx="1280160" cy="365760"/>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r>
              <a:t>.init_array</a:t>
            </a:r>
            <a:br/>
            <a:r>
              <a:t>Tampering</a:t>
            </a:r>
          </a:p>
        </p:txBody>
      </p:sp>
      <p:sp>
        <p:nvSpPr>
          <p:cNvPr id="47" name="Rounded Rectangle 46"/>
          <p:cNvSpPr/>
          <p:nvPr/>
        </p:nvSpPr>
        <p:spPr>
          <a:xfrm>
            <a:off x="4114800" y="2423160"/>
            <a:ext cx="1280160" cy="365760"/>
          </a:xfrm>
          <a:prstGeom prst="round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800" b="1">
                <a:solidFill>
                  <a:srgbClr val="FFFFFF"/>
                </a:solidFill>
              </a:defRPr>
            </a:pPr>
            <a:r>
              <a:t>DT_RPATH</a:t>
            </a:r>
            <a:br/>
            <a:r>
              <a:t>Abuse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ELF Hardening Checklist — Binary Intake Pipeline</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31520" y="1097280"/>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04672" y="1097280"/>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 Full RELRO: readelf -d | grep BIND_NOW → must be present</a:t>
            </a:r>
          </a:p>
        </p:txBody>
      </p:sp>
      <p:sp>
        <p:nvSpPr>
          <p:cNvPr id="7" name="Rectangle 6"/>
          <p:cNvSpPr/>
          <p:nvPr/>
        </p:nvSpPr>
        <p:spPr>
          <a:xfrm>
            <a:off x="731520" y="1499616"/>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499616"/>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 PIE enabled: readelf -h | e_type == ET_DYN + has PT_INTERP</a:t>
            </a:r>
          </a:p>
        </p:txBody>
      </p:sp>
      <p:sp>
        <p:nvSpPr>
          <p:cNvPr id="9" name="Rectangle 8"/>
          <p:cNvSpPr/>
          <p:nvPr/>
        </p:nvSpPr>
        <p:spPr>
          <a:xfrm>
            <a:off x="731520" y="1901952"/>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2" y="1901952"/>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 NX stack: readelf -l | grep GNU_STACK → must NOT have E flag</a:t>
            </a:r>
          </a:p>
        </p:txBody>
      </p:sp>
      <p:sp>
        <p:nvSpPr>
          <p:cNvPr id="11" name="Rectangle 10"/>
          <p:cNvSpPr/>
          <p:nvPr/>
        </p:nvSpPr>
        <p:spPr>
          <a:xfrm>
            <a:off x="731520" y="2304288"/>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2304288"/>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 Stack canary: checksec shows 'Canary found'</a:t>
            </a:r>
          </a:p>
        </p:txBody>
      </p:sp>
      <p:sp>
        <p:nvSpPr>
          <p:cNvPr id="13" name="Rectangle 12"/>
          <p:cNvSpPr/>
          <p:nvPr/>
        </p:nvSpPr>
        <p:spPr>
          <a:xfrm>
            <a:off x="731520" y="2706624"/>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 y="2706624"/>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 No DT_TEXTREL: readelf -d | grep TEXTREL → must be absent</a:t>
            </a:r>
          </a:p>
        </p:txBody>
      </p:sp>
      <p:sp>
        <p:nvSpPr>
          <p:cNvPr id="15" name="Rectangle 14"/>
          <p:cNvSpPr/>
          <p:nvPr/>
        </p:nvSpPr>
        <p:spPr>
          <a:xfrm>
            <a:off x="731520" y="3108960"/>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3108960"/>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 No W+X segments: no PT_LOAD with both PF_W and PF_X</a:t>
            </a:r>
          </a:p>
        </p:txBody>
      </p:sp>
      <p:sp>
        <p:nvSpPr>
          <p:cNvPr id="17" name="Rectangle 16"/>
          <p:cNvSpPr/>
          <p:nvPr/>
        </p:nvSpPr>
        <p:spPr>
          <a:xfrm>
            <a:off x="731520" y="3511296"/>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 y="3511296"/>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 No world-writable DT_RPATH/DT_RUNPATH paths</a:t>
            </a:r>
          </a:p>
        </p:txBody>
      </p:sp>
      <p:sp>
        <p:nvSpPr>
          <p:cNvPr id="19" name="Rectangle 18"/>
          <p:cNvSpPr/>
          <p:nvPr/>
        </p:nvSpPr>
        <p:spPr>
          <a:xfrm>
            <a:off x="731520" y="3913632"/>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4672" y="3913632"/>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 .init_array/.fini_array entries point into .text segment only</a:t>
            </a:r>
          </a:p>
        </p:txBody>
      </p:sp>
      <p:sp>
        <p:nvSpPr>
          <p:cNvPr id="21" name="Rectangle 20"/>
          <p:cNvSpPr/>
          <p:nvPr/>
        </p:nvSpPr>
        <p:spPr>
          <a:xfrm>
            <a:off x="731520" y="4315968"/>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4672" y="4315968"/>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 Section headers present (e_shoff ≠ 0) for analyzability</a:t>
            </a:r>
          </a:p>
        </p:txBody>
      </p:sp>
      <p:sp>
        <p:nvSpPr>
          <p:cNvPr id="23" name="Rectangle 22"/>
          <p:cNvSpPr/>
          <p:nvPr/>
        </p:nvSpPr>
        <p:spPr>
          <a:xfrm>
            <a:off x="731520" y="4718304"/>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04672" y="4718304"/>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 Build ID note present (NT_GNU_BUILD_ID) for debuginfo correlation</a:t>
            </a:r>
          </a:p>
        </p:txBody>
      </p:sp>
      <p:sp>
        <p:nvSpPr>
          <p:cNvPr id="25" name="Rectangle 24"/>
          <p:cNvSpPr/>
          <p:nvPr/>
        </p:nvSpPr>
        <p:spPr>
          <a:xfrm>
            <a:off x="731520" y="5120640"/>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4672" y="5120640"/>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 CET/BTI properties present (PT_GNU_PROPERTY) if supported</a:t>
            </a:r>
          </a:p>
        </p:txBody>
      </p:sp>
      <p:sp>
        <p:nvSpPr>
          <p:cNvPr id="27" name="Rectangle 26"/>
          <p:cNvSpPr/>
          <p:nvPr/>
        </p:nvSpPr>
        <p:spPr>
          <a:xfrm>
            <a:off x="731520" y="5522976"/>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4672" y="5522976"/>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 No anomalous e_ident padding (bytes 9-15 should be zero)</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Cross-Reference Map</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225296"/>
            <a:ext cx="1645920" cy="292608"/>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D4FF"/>
                </a:solidFill>
              </a:defRPr>
            </a:pPr>
            <a:r>
              <a:t>Ch 1A Part 2</a:t>
            </a:r>
          </a:p>
        </p:txBody>
      </p:sp>
      <p:sp>
        <p:nvSpPr>
          <p:cNvPr id="6" name="TextBox 5"/>
          <p:cNvSpPr txBox="1"/>
          <p:nvPr/>
        </p:nvSpPr>
        <p:spPr>
          <a:xfrm>
            <a:off x="2560320" y="1188720"/>
            <a:ext cx="8686800" cy="347472"/>
          </a:xfrm>
          <a:prstGeom prst="rect">
            <a:avLst/>
          </a:prstGeom>
          <a:noFill/>
        </p:spPr>
        <p:txBody>
          <a:bodyPr wrap="square" anchor="t"/>
          <a:lstStyle/>
          <a:p>
            <a:pPr algn="l">
              <a:defRPr sz="1100" b="0" i="0">
                <a:solidFill>
                  <a:srgbClr val="CCCCCC"/>
                </a:solidFill>
              </a:defRPr>
            </a:pPr>
            <a:r>
              <a:t>GOT/PLT exploitation techniques, ret2dlresolve, LD_PRELOAD attacks, YARA rules</a:t>
            </a:r>
          </a:p>
        </p:txBody>
      </p:sp>
      <p:sp>
        <p:nvSpPr>
          <p:cNvPr id="7" name="Rounded Rectangle 6"/>
          <p:cNvSpPr/>
          <p:nvPr/>
        </p:nvSpPr>
        <p:spPr>
          <a:xfrm>
            <a:off x="731520" y="1627632"/>
            <a:ext cx="1645920" cy="292608"/>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FF88"/>
                </a:solidFill>
              </a:defRPr>
            </a:pPr>
            <a:r>
              <a:t>Ch 1B</a:t>
            </a:r>
          </a:p>
        </p:txBody>
      </p:sp>
      <p:sp>
        <p:nvSpPr>
          <p:cNvPr id="8" name="TextBox 7"/>
          <p:cNvSpPr txBox="1"/>
          <p:nvPr/>
        </p:nvSpPr>
        <p:spPr>
          <a:xfrm>
            <a:off x="2560320" y="1591056"/>
            <a:ext cx="8686800" cy="347472"/>
          </a:xfrm>
          <a:prstGeom prst="rect">
            <a:avLst/>
          </a:prstGeom>
          <a:noFill/>
        </p:spPr>
        <p:txBody>
          <a:bodyPr wrap="square" anchor="t"/>
          <a:lstStyle/>
          <a:p>
            <a:pPr algn="l">
              <a:defRPr sz="1100" b="0" i="0">
                <a:solidFill>
                  <a:srgbClr val="CCCCCC"/>
                </a:solidFill>
              </a:defRPr>
            </a:pPr>
            <a:r>
              <a:t>TLS, IFUNC, RELRO internals, eh_frame, symbol versioning, init/fini arrays</a:t>
            </a:r>
          </a:p>
        </p:txBody>
      </p:sp>
      <p:sp>
        <p:nvSpPr>
          <p:cNvPr id="9" name="Rounded Rectangle 8"/>
          <p:cNvSpPr/>
          <p:nvPr/>
        </p:nvSpPr>
        <p:spPr>
          <a:xfrm>
            <a:off x="731520" y="2029968"/>
            <a:ext cx="1645920" cy="292608"/>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D700"/>
                </a:solidFill>
              </a:defRPr>
            </a:pPr>
            <a:r>
              <a:t>Ch 2 (PE/COFF)</a:t>
            </a:r>
          </a:p>
        </p:txBody>
      </p:sp>
      <p:sp>
        <p:nvSpPr>
          <p:cNvPr id="10" name="TextBox 9"/>
          <p:cNvSpPr txBox="1"/>
          <p:nvPr/>
        </p:nvSpPr>
        <p:spPr>
          <a:xfrm>
            <a:off x="2560320" y="1993392"/>
            <a:ext cx="8686800" cy="347472"/>
          </a:xfrm>
          <a:prstGeom prst="rect">
            <a:avLst/>
          </a:prstGeom>
          <a:noFill/>
        </p:spPr>
        <p:txBody>
          <a:bodyPr wrap="square" anchor="t"/>
          <a:lstStyle/>
          <a:p>
            <a:pPr algn="l">
              <a:defRPr sz="1100" b="0" i="0">
                <a:solidFill>
                  <a:srgbClr val="CCCCCC"/>
                </a:solidFill>
              </a:defRPr>
            </a:pPr>
            <a:r>
              <a:t>Windows binary format — analogous structures: IAT/EAT, delay imports</a:t>
            </a:r>
          </a:p>
        </p:txBody>
      </p:sp>
      <p:sp>
        <p:nvSpPr>
          <p:cNvPr id="11" name="Rounded Rectangle 10"/>
          <p:cNvSpPr/>
          <p:nvPr/>
        </p:nvSpPr>
        <p:spPr>
          <a:xfrm>
            <a:off x="731520" y="2432304"/>
            <a:ext cx="1645920" cy="292608"/>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4444"/>
                </a:solidFill>
              </a:defRPr>
            </a:pPr>
            <a:r>
              <a:t>Domain 2</a:t>
            </a:r>
          </a:p>
        </p:txBody>
      </p:sp>
      <p:sp>
        <p:nvSpPr>
          <p:cNvPr id="12" name="TextBox 11"/>
          <p:cNvSpPr txBox="1"/>
          <p:nvPr/>
        </p:nvSpPr>
        <p:spPr>
          <a:xfrm>
            <a:off x="2560320" y="2395728"/>
            <a:ext cx="8686800" cy="347472"/>
          </a:xfrm>
          <a:prstGeom prst="rect">
            <a:avLst/>
          </a:prstGeom>
          <a:noFill/>
        </p:spPr>
        <p:txBody>
          <a:bodyPr wrap="square" anchor="t"/>
          <a:lstStyle/>
          <a:p>
            <a:pPr algn="l">
              <a:defRPr sz="1100" b="0" i="0">
                <a:solidFill>
                  <a:srgbClr val="CCCCCC"/>
                </a:solidFill>
              </a:defRPr>
            </a:pPr>
            <a:r>
              <a:t>Process memory layout — where segments map in virtual address space</a:t>
            </a:r>
          </a:p>
        </p:txBody>
      </p:sp>
      <p:sp>
        <p:nvSpPr>
          <p:cNvPr id="13" name="Rounded Rectangle 12"/>
          <p:cNvSpPr/>
          <p:nvPr/>
        </p:nvSpPr>
        <p:spPr>
          <a:xfrm>
            <a:off x="731520" y="2834640"/>
            <a:ext cx="1645920" cy="292608"/>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BB86FC"/>
                </a:solidFill>
              </a:defRPr>
            </a:pPr>
            <a:r>
              <a:t>Domain 3</a:t>
            </a:r>
          </a:p>
        </p:txBody>
      </p:sp>
      <p:sp>
        <p:nvSpPr>
          <p:cNvPr id="14" name="TextBox 13"/>
          <p:cNvSpPr txBox="1"/>
          <p:nvPr/>
        </p:nvSpPr>
        <p:spPr>
          <a:xfrm>
            <a:off x="2560320" y="2798064"/>
            <a:ext cx="8686800" cy="347472"/>
          </a:xfrm>
          <a:prstGeom prst="rect">
            <a:avLst/>
          </a:prstGeom>
          <a:noFill/>
        </p:spPr>
        <p:txBody>
          <a:bodyPr wrap="square" anchor="t"/>
          <a:lstStyle/>
          <a:p>
            <a:pPr algn="l">
              <a:defRPr sz="1100" b="0" i="0">
                <a:solidFill>
                  <a:srgbClr val="CCCCCC"/>
                </a:solidFill>
              </a:defRPr>
            </a:pPr>
            <a:r>
              <a:t>Memory corruption — the vulnerabilities that enable GOT overwrites</a:t>
            </a:r>
          </a:p>
        </p:txBody>
      </p:sp>
      <p:sp>
        <p:nvSpPr>
          <p:cNvPr id="15" name="Rounded Rectangle 14"/>
          <p:cNvSpPr/>
          <p:nvPr/>
        </p:nvSpPr>
        <p:spPr>
          <a:xfrm>
            <a:off x="731520" y="3236976"/>
            <a:ext cx="1645920" cy="292608"/>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8C00"/>
                </a:solidFill>
              </a:defRPr>
            </a:pPr>
            <a:r>
              <a:t>Domain 4</a:t>
            </a:r>
          </a:p>
        </p:txBody>
      </p:sp>
      <p:sp>
        <p:nvSpPr>
          <p:cNvPr id="16" name="TextBox 15"/>
          <p:cNvSpPr txBox="1"/>
          <p:nvPr/>
        </p:nvSpPr>
        <p:spPr>
          <a:xfrm>
            <a:off x="2560320" y="3200400"/>
            <a:ext cx="8686800" cy="347472"/>
          </a:xfrm>
          <a:prstGeom prst="rect">
            <a:avLst/>
          </a:prstGeom>
          <a:noFill/>
        </p:spPr>
        <p:txBody>
          <a:bodyPr wrap="square" anchor="t"/>
          <a:lstStyle/>
          <a:p>
            <a:pPr algn="l">
              <a:defRPr sz="1100" b="0" i="0">
                <a:solidFill>
                  <a:srgbClr val="CCCCCC"/>
                </a:solidFill>
              </a:defRPr>
            </a:pPr>
            <a:r>
              <a:t>Code reuse attacks — ROP/JOP through PLT and gadgets in .text</a:t>
            </a:r>
          </a:p>
        </p:txBody>
      </p:sp>
      <p:sp>
        <p:nvSpPr>
          <p:cNvPr id="17" name="Rounded Rectangle 16"/>
          <p:cNvSpPr/>
          <p:nvPr/>
        </p:nvSpPr>
        <p:spPr>
          <a:xfrm>
            <a:off x="731520" y="3639312"/>
            <a:ext cx="1645920" cy="292608"/>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00E5A0"/>
                </a:solidFill>
              </a:defRPr>
            </a:pPr>
            <a:r>
              <a:t>Domain 6</a:t>
            </a:r>
          </a:p>
        </p:txBody>
      </p:sp>
      <p:sp>
        <p:nvSpPr>
          <p:cNvPr id="18" name="TextBox 17"/>
          <p:cNvSpPr txBox="1"/>
          <p:nvPr/>
        </p:nvSpPr>
        <p:spPr>
          <a:xfrm>
            <a:off x="2560320" y="3602736"/>
            <a:ext cx="8686800" cy="347472"/>
          </a:xfrm>
          <a:prstGeom prst="rect">
            <a:avLst/>
          </a:prstGeom>
          <a:noFill/>
        </p:spPr>
        <p:txBody>
          <a:bodyPr wrap="square" anchor="t"/>
          <a:lstStyle/>
          <a:p>
            <a:pPr algn="l">
              <a:defRPr sz="1100" b="0" i="0">
                <a:solidFill>
                  <a:srgbClr val="CCCCCC"/>
                </a:solidFill>
              </a:defRPr>
            </a:pPr>
            <a:r>
              <a:t>Mitigation bypass — KASLR/ASLR defeat using ELF info leaks</a:t>
            </a:r>
          </a:p>
        </p:txBody>
      </p:sp>
      <p:sp>
        <p:nvSpPr>
          <p:cNvPr id="19" name="Rounded Rectangle 18"/>
          <p:cNvSpPr/>
          <p:nvPr/>
        </p:nvSpPr>
        <p:spPr>
          <a:xfrm>
            <a:off x="731520" y="4041648"/>
            <a:ext cx="1645920" cy="292608"/>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FF0080"/>
                </a:solidFill>
              </a:defRPr>
            </a:pPr>
            <a:r>
              <a:t>Domain 11</a:t>
            </a:r>
          </a:p>
        </p:txBody>
      </p:sp>
      <p:sp>
        <p:nvSpPr>
          <p:cNvPr id="20" name="TextBox 19"/>
          <p:cNvSpPr txBox="1"/>
          <p:nvPr/>
        </p:nvSpPr>
        <p:spPr>
          <a:xfrm>
            <a:off x="2560320" y="4005072"/>
            <a:ext cx="8686800" cy="347472"/>
          </a:xfrm>
          <a:prstGeom prst="rect">
            <a:avLst/>
          </a:prstGeom>
          <a:noFill/>
        </p:spPr>
        <p:txBody>
          <a:bodyPr wrap="square" anchor="t"/>
          <a:lstStyle/>
          <a:p>
            <a:pPr algn="l">
              <a:defRPr sz="1100" b="0" i="0">
                <a:solidFill>
                  <a:srgbClr val="CCCCCC"/>
                </a:solidFill>
              </a:defRPr>
            </a:pPr>
            <a:r>
              <a:t>Malware analysis — ELF packing, section manipulation, PT_NOTE infection</a:t>
            </a:r>
          </a:p>
        </p:txBody>
      </p:sp>
      <p:sp>
        <p:nvSpPr>
          <p:cNvPr id="21" name="Rounded Rectangle 20"/>
          <p:cNvSpPr/>
          <p:nvPr/>
        </p:nvSpPr>
        <p:spPr>
          <a:xfrm>
            <a:off x="731520" y="4443984"/>
            <a:ext cx="1645920" cy="292608"/>
          </a:xfrm>
          <a:prstGeom prst="roundRect">
            <a:avLst/>
          </a:prstGeom>
          <a:solidFill>
            <a:srgbClr val="1C1C3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900" b="1">
                <a:solidFill>
                  <a:srgbClr val="4488FF"/>
                </a:solidFill>
              </a:defRPr>
            </a:pPr>
            <a:r>
              <a:t>Domain 12</a:t>
            </a:r>
          </a:p>
        </p:txBody>
      </p:sp>
      <p:sp>
        <p:nvSpPr>
          <p:cNvPr id="22" name="TextBox 21"/>
          <p:cNvSpPr txBox="1"/>
          <p:nvPr/>
        </p:nvSpPr>
        <p:spPr>
          <a:xfrm>
            <a:off x="2560320" y="4407408"/>
            <a:ext cx="8686800" cy="347472"/>
          </a:xfrm>
          <a:prstGeom prst="rect">
            <a:avLst/>
          </a:prstGeom>
          <a:noFill/>
        </p:spPr>
        <p:txBody>
          <a:bodyPr wrap="square" anchor="t"/>
          <a:lstStyle/>
          <a:p>
            <a:pPr algn="l">
              <a:defRPr sz="1100" b="0" i="0">
                <a:solidFill>
                  <a:srgbClr val="CCCCCC"/>
                </a:solidFill>
              </a:defRPr>
            </a:pPr>
            <a:r>
              <a:t>Reverse engineering — static/dynamic analysis of ELF binaries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Key Takeaways</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31520" y="1188720"/>
            <a:ext cx="411480" cy="411480"/>
          </a:xfrm>
          <a:prstGeom prst="rect">
            <a:avLst/>
          </a:prstGeom>
          <a:solidFill>
            <a:srgbClr val="0A0A1A"/>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00D4FF"/>
                </a:solidFill>
              </a:defRPr>
            </a:pPr>
            <a:r>
              <a:t>1</a:t>
            </a:r>
          </a:p>
        </p:txBody>
      </p:sp>
      <p:sp>
        <p:nvSpPr>
          <p:cNvPr id="6" name="Rectangle 5"/>
          <p:cNvSpPr/>
          <p:nvPr/>
        </p:nvSpPr>
        <p:spPr>
          <a:xfrm>
            <a:off x="1280160" y="1188720"/>
            <a:ext cx="54864" cy="4114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353312" y="1188720"/>
            <a:ext cx="9985248" cy="411480"/>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ELF has TWO views: segments (runtime, kernel reads) vs sections (link-time, optional for execution)</a:t>
            </a:r>
          </a:p>
        </p:txBody>
      </p:sp>
      <p:sp>
        <p:nvSpPr>
          <p:cNvPr id="8" name="Rectangle 7"/>
          <p:cNvSpPr/>
          <p:nvPr/>
        </p:nvSpPr>
        <p:spPr>
          <a:xfrm>
            <a:off x="731520" y="1691640"/>
            <a:ext cx="411480" cy="411480"/>
          </a:xfrm>
          <a:prstGeom prst="rect">
            <a:avLst/>
          </a:prstGeom>
          <a:solidFill>
            <a:srgbClr val="0A0A1A"/>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00FF88"/>
                </a:solidFill>
              </a:defRPr>
            </a:pPr>
            <a:r>
              <a:t>2</a:t>
            </a:r>
          </a:p>
        </p:txBody>
      </p:sp>
      <p:sp>
        <p:nvSpPr>
          <p:cNvPr id="9" name="Rectangle 8"/>
          <p:cNvSpPr/>
          <p:nvPr/>
        </p:nvSpPr>
        <p:spPr>
          <a:xfrm>
            <a:off x="1280160" y="1691640"/>
            <a:ext cx="54864" cy="41148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353312" y="1691640"/>
            <a:ext cx="9985248" cy="411480"/>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Program headers are load-bearing; section headers are analysis-friendly but strippable</a:t>
            </a:r>
          </a:p>
        </p:txBody>
      </p:sp>
      <p:sp>
        <p:nvSpPr>
          <p:cNvPr id="11" name="Rectangle 10"/>
          <p:cNvSpPr/>
          <p:nvPr/>
        </p:nvSpPr>
        <p:spPr>
          <a:xfrm>
            <a:off x="731520" y="2194560"/>
            <a:ext cx="411480" cy="411480"/>
          </a:xfrm>
          <a:prstGeom prst="rect">
            <a:avLst/>
          </a:prstGeom>
          <a:solidFill>
            <a:srgbClr val="0A0A1A"/>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FFD700"/>
                </a:solidFill>
              </a:defRPr>
            </a:pPr>
            <a:r>
              <a:t>3</a:t>
            </a:r>
          </a:p>
        </p:txBody>
      </p:sp>
      <p:sp>
        <p:nvSpPr>
          <p:cNvPr id="12" name="Rectangle 11"/>
          <p:cNvSpPr/>
          <p:nvPr/>
        </p:nvSpPr>
        <p:spPr>
          <a:xfrm>
            <a:off x="1280160" y="2194560"/>
            <a:ext cx="54864" cy="41148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353312" y="2194560"/>
            <a:ext cx="9985248" cy="411480"/>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The auxiliary vector (auxv) is the kernel's primary data channel to userspace at process start</a:t>
            </a:r>
          </a:p>
        </p:txBody>
      </p:sp>
      <p:sp>
        <p:nvSpPr>
          <p:cNvPr id="14" name="Rectangle 13"/>
          <p:cNvSpPr/>
          <p:nvPr/>
        </p:nvSpPr>
        <p:spPr>
          <a:xfrm>
            <a:off x="731520" y="2697480"/>
            <a:ext cx="411480" cy="411480"/>
          </a:xfrm>
          <a:prstGeom prst="rect">
            <a:avLst/>
          </a:prstGeom>
          <a:solidFill>
            <a:srgbClr val="0A0A1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FF4444"/>
                </a:solidFill>
              </a:defRPr>
            </a:pPr>
            <a:r>
              <a:t>4</a:t>
            </a:r>
          </a:p>
        </p:txBody>
      </p:sp>
      <p:sp>
        <p:nvSpPr>
          <p:cNvPr id="15" name="Rectangle 14"/>
          <p:cNvSpPr/>
          <p:nvPr/>
        </p:nvSpPr>
        <p:spPr>
          <a:xfrm>
            <a:off x="1280160" y="2697480"/>
            <a:ext cx="54864" cy="41148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53312" y="2697480"/>
            <a:ext cx="9985248" cy="411480"/>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AT_SECURE is THE defense against LD_PRELOAD/LD_LIBRARY_PATH in setuid binaries</a:t>
            </a:r>
          </a:p>
        </p:txBody>
      </p:sp>
      <p:sp>
        <p:nvSpPr>
          <p:cNvPr id="17" name="Rectangle 16"/>
          <p:cNvSpPr/>
          <p:nvPr/>
        </p:nvSpPr>
        <p:spPr>
          <a:xfrm>
            <a:off x="731520" y="3200400"/>
            <a:ext cx="411480" cy="411480"/>
          </a:xfrm>
          <a:prstGeom prst="rect">
            <a:avLst/>
          </a:prstGeom>
          <a:solidFill>
            <a:srgbClr val="0A0A1A"/>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BB86FC"/>
                </a:solidFill>
              </a:defRPr>
            </a:pPr>
            <a:r>
              <a:t>5</a:t>
            </a:r>
          </a:p>
        </p:txBody>
      </p:sp>
      <p:sp>
        <p:nvSpPr>
          <p:cNvPr id="18" name="Rectangle 17"/>
          <p:cNvSpPr/>
          <p:nvPr/>
        </p:nvSpPr>
        <p:spPr>
          <a:xfrm>
            <a:off x="1280160" y="3200400"/>
            <a:ext cx="54864" cy="41148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353312" y="3200400"/>
            <a:ext cx="9985248" cy="411480"/>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The dynamic linker is the most privileged early-life userspace component</a:t>
            </a:r>
          </a:p>
        </p:txBody>
      </p:sp>
      <p:sp>
        <p:nvSpPr>
          <p:cNvPr id="20" name="Rectangle 19"/>
          <p:cNvSpPr/>
          <p:nvPr/>
        </p:nvSpPr>
        <p:spPr>
          <a:xfrm>
            <a:off x="731520" y="3703320"/>
            <a:ext cx="411480" cy="411480"/>
          </a:xfrm>
          <a:prstGeom prst="rect">
            <a:avLst/>
          </a:prstGeom>
          <a:solidFill>
            <a:srgbClr val="0A0A1A"/>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FF8C00"/>
                </a:solidFill>
              </a:defRPr>
            </a:pPr>
            <a:r>
              <a:t>6</a:t>
            </a:r>
          </a:p>
        </p:txBody>
      </p:sp>
      <p:sp>
        <p:nvSpPr>
          <p:cNvPr id="21" name="Rectangle 20"/>
          <p:cNvSpPr/>
          <p:nvPr/>
        </p:nvSpPr>
        <p:spPr>
          <a:xfrm>
            <a:off x="1280160" y="3703320"/>
            <a:ext cx="54864" cy="4114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353312" y="3703320"/>
            <a:ext cx="9985248" cy="411480"/>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.got.plt under partial RELRO is writable — THE classic ELF exploit target</a:t>
            </a:r>
          </a:p>
        </p:txBody>
      </p:sp>
      <p:sp>
        <p:nvSpPr>
          <p:cNvPr id="23" name="Rectangle 22"/>
          <p:cNvSpPr/>
          <p:nvPr/>
        </p:nvSpPr>
        <p:spPr>
          <a:xfrm>
            <a:off x="731520" y="4206240"/>
            <a:ext cx="411480" cy="411480"/>
          </a:xfrm>
          <a:prstGeom prst="rect">
            <a:avLst/>
          </a:prstGeom>
          <a:solidFill>
            <a:srgbClr val="0A0A1A"/>
          </a:solidFill>
          <a:ln w="190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00E5A0"/>
                </a:solidFill>
              </a:defRPr>
            </a:pPr>
            <a:r>
              <a:t>7</a:t>
            </a:r>
          </a:p>
        </p:txBody>
      </p:sp>
      <p:sp>
        <p:nvSpPr>
          <p:cNvPr id="24" name="Rectangle 23"/>
          <p:cNvSpPr/>
          <p:nvPr/>
        </p:nvSpPr>
        <p:spPr>
          <a:xfrm>
            <a:off x="1280160" y="4206240"/>
            <a:ext cx="54864" cy="411480"/>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353312" y="4206240"/>
            <a:ext cx="9985248" cy="411480"/>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Full RELRO (-z relro -z now) closes GOT overwrite attacks at negligible startup cost</a:t>
            </a:r>
          </a:p>
        </p:txBody>
      </p:sp>
      <p:sp>
        <p:nvSpPr>
          <p:cNvPr id="26" name="Rectangle 25"/>
          <p:cNvSpPr/>
          <p:nvPr/>
        </p:nvSpPr>
        <p:spPr>
          <a:xfrm>
            <a:off x="731520" y="4709160"/>
            <a:ext cx="411480" cy="411480"/>
          </a:xfrm>
          <a:prstGeom prst="rect">
            <a:avLst/>
          </a:prstGeom>
          <a:solidFill>
            <a:srgbClr val="0A0A1A"/>
          </a:solidFill>
          <a:ln w="19050">
            <a:solidFill>
              <a:srgbClr val="FF008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FF0080"/>
                </a:solidFill>
              </a:defRPr>
            </a:pPr>
            <a:r>
              <a:t>8</a:t>
            </a:r>
          </a:p>
        </p:txBody>
      </p:sp>
      <p:sp>
        <p:nvSpPr>
          <p:cNvPr id="27" name="Rectangle 26"/>
          <p:cNvSpPr/>
          <p:nvPr/>
        </p:nvSpPr>
        <p:spPr>
          <a:xfrm>
            <a:off x="1280160" y="4709160"/>
            <a:ext cx="54864" cy="411480"/>
          </a:xfrm>
          <a:prstGeom prst="rect">
            <a:avLst/>
          </a:prstGeom>
          <a:solidFill>
            <a:srgbClr val="FF0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353312" y="4709160"/>
            <a:ext cx="9985248" cy="411480"/>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Symbol resolution order: executable → LD_PRELOAD → DT_NEEDED (BFS) — order = priority</a:t>
            </a:r>
          </a:p>
        </p:txBody>
      </p:sp>
      <p:sp>
        <p:nvSpPr>
          <p:cNvPr id="29" name="Rectangle 28"/>
          <p:cNvSpPr/>
          <p:nvPr/>
        </p:nvSpPr>
        <p:spPr>
          <a:xfrm>
            <a:off x="731520" y="5212080"/>
            <a:ext cx="411480" cy="411480"/>
          </a:xfrm>
          <a:prstGeom prst="rect">
            <a:avLst/>
          </a:prstGeom>
          <a:solidFill>
            <a:srgbClr val="0A0A1A"/>
          </a:solidFill>
          <a:ln w="19050">
            <a:solidFill>
              <a:srgbClr val="4488F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4488FF"/>
                </a:solidFill>
              </a:defRPr>
            </a:pPr>
            <a:r>
              <a:t>9</a:t>
            </a:r>
          </a:p>
        </p:txBody>
      </p:sp>
      <p:sp>
        <p:nvSpPr>
          <p:cNvPr id="30" name="Rectangle 29"/>
          <p:cNvSpPr/>
          <p:nvPr/>
        </p:nvSpPr>
        <p:spPr>
          <a:xfrm>
            <a:off x="1280160" y="5212080"/>
            <a:ext cx="54864" cy="411480"/>
          </a:xfrm>
          <a:prstGeom prst="rect">
            <a:avLst/>
          </a:prstGeom>
          <a:solidFill>
            <a:srgbClr val="448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353312" y="5212080"/>
            <a:ext cx="9985248" cy="411480"/>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GNU .gnu.hash Bloom filter makes absent-symbol lookup effectively O(1)</a:t>
            </a:r>
          </a:p>
        </p:txBody>
      </p:sp>
      <p:sp>
        <p:nvSpPr>
          <p:cNvPr id="32" name="Rectangle 31"/>
          <p:cNvSpPr/>
          <p:nvPr/>
        </p:nvSpPr>
        <p:spPr>
          <a:xfrm>
            <a:off x="731520" y="5715000"/>
            <a:ext cx="411480" cy="411480"/>
          </a:xfrm>
          <a:prstGeom prst="rect">
            <a:avLst/>
          </a:prstGeom>
          <a:solidFill>
            <a:srgbClr val="0A0A1A"/>
          </a:solidFill>
          <a:ln w="19050">
            <a:solidFill>
              <a:srgbClr val="FF6BB5"/>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400" b="1">
                <a:solidFill>
                  <a:srgbClr val="FF6BB5"/>
                </a:solidFill>
              </a:defRPr>
            </a:pPr>
            <a:r>
              <a:t>10</a:t>
            </a:r>
          </a:p>
        </p:txBody>
      </p:sp>
      <p:sp>
        <p:nvSpPr>
          <p:cNvPr id="33" name="Rectangle 32"/>
          <p:cNvSpPr/>
          <p:nvPr/>
        </p:nvSpPr>
        <p:spPr>
          <a:xfrm>
            <a:off x="1280160" y="5715000"/>
            <a:ext cx="54864" cy="411480"/>
          </a:xfrm>
          <a:prstGeom prst="rect">
            <a:avLst/>
          </a:prstGeom>
          <a:solidFill>
            <a:srgbClr val="FF6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353312" y="5715000"/>
            <a:ext cx="9985248" cy="411480"/>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200" b="0">
                <a:solidFill>
                  <a:srgbClr val="CCCCCC"/>
                </a:solidFill>
              </a:defRPr>
            </a:pPr>
            <a:r>
              <a:t>  Every binary intake pipeline should check: Full RELRO, PIE, NX, no TEXTREL, no W+X segments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TextBox 2"/>
          <p:cNvSpPr txBox="1"/>
          <p:nvPr/>
        </p:nvSpPr>
        <p:spPr>
          <a:xfrm>
            <a:off x="731520" y="274320"/>
            <a:ext cx="10058400" cy="640080"/>
          </a:xfrm>
          <a:prstGeom prst="rect">
            <a:avLst/>
          </a:prstGeom>
          <a:noFill/>
        </p:spPr>
        <p:txBody>
          <a:bodyPr wrap="square" anchor="t"/>
          <a:lstStyle/>
          <a:p>
            <a:pPr algn="l">
              <a:defRPr sz="2600" b="1" i="0">
                <a:solidFill>
                  <a:srgbClr val="FFFFFF"/>
                </a:solidFill>
              </a:defRPr>
            </a:pPr>
            <a:r>
              <a:t>Part 1 Summary — ELF Structure &amp; Loading</a:t>
            </a:r>
          </a:p>
        </p:txBody>
      </p:sp>
      <p:cxnSp>
        <p:nvCxnSpPr>
          <p:cNvPr id="4" name="Connector 3"/>
          <p:cNvCxnSpPr/>
          <p:nvPr/>
        </p:nvCxnSpPr>
        <p:spPr>
          <a:xfrm>
            <a:off x="731520" y="868680"/>
            <a:ext cx="10698480" cy="0"/>
          </a:xfrm>
          <a:prstGeom prst="line">
            <a:avLst/>
          </a:prstGeom>
          <a:ln w="12700">
            <a:solidFill>
              <a:srgbClr val="00D4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188720"/>
            <a:ext cx="10515600" cy="2286000"/>
          </a:xfrm>
          <a:prstGeom prst="rect">
            <a:avLst/>
          </a:prstGeom>
          <a:noFill/>
        </p:spPr>
        <p:txBody>
          <a:bodyPr wrap="square" anchor="t"/>
          <a:lstStyle/>
          <a:p>
            <a:pPr algn="l">
              <a:defRPr sz="1400" b="0" i="0">
                <a:solidFill>
                  <a:srgbClr val="CCCCCC"/>
                </a:solidFill>
              </a:defRPr>
            </a:pPr>
            <a:r>
              <a:t>This presentation covered the foundational ELF structures that every security engineer must internalize: the dual-view architecture (sections vs segments), the complete file header and program header specification, the kernel-to-loader handoff via the auxiliary vector, the dynamic linker's boot sequence and library search path, the .dynamic table of contents, the symbol resolution machinery (hash tables, relocation types), and the GOT/PLT lazy binding mechanism that remains the most exploited feature of the ELF format.</a:t>
            </a:r>
          </a:p>
        </p:txBody>
      </p:sp>
      <p:sp>
        <p:nvSpPr>
          <p:cNvPr id="6" name="TextBox 5"/>
          <p:cNvSpPr txBox="1"/>
          <p:nvPr/>
        </p:nvSpPr>
        <p:spPr>
          <a:xfrm>
            <a:off x="731520" y="3291840"/>
            <a:ext cx="2743200" cy="274320"/>
          </a:xfrm>
          <a:prstGeom prst="rect">
            <a:avLst/>
          </a:prstGeom>
          <a:noFill/>
        </p:spPr>
        <p:txBody>
          <a:bodyPr wrap="square" anchor="t"/>
          <a:lstStyle/>
          <a:p>
            <a:pPr algn="l">
              <a:defRPr sz="1400" b="1" i="0">
                <a:solidFill>
                  <a:srgbClr val="FFFFFF"/>
                </a:solidFill>
              </a:defRPr>
            </a:pPr>
            <a:r>
              <a:t>Key Points:</a:t>
            </a:r>
          </a:p>
        </p:txBody>
      </p:sp>
      <p:sp>
        <p:nvSpPr>
          <p:cNvPr id="7" name="Rectangle 6"/>
          <p:cNvSpPr/>
          <p:nvPr/>
        </p:nvSpPr>
        <p:spPr>
          <a:xfrm>
            <a:off x="731520" y="3657600"/>
            <a:ext cx="54864" cy="3474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3657600"/>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Segments are what runs; sections are what the linker arranged</a:t>
            </a:r>
          </a:p>
        </p:txBody>
      </p:sp>
      <p:sp>
        <p:nvSpPr>
          <p:cNvPr id="9" name="Rectangle 8"/>
          <p:cNvSpPr/>
          <p:nvPr/>
        </p:nvSpPr>
        <p:spPr>
          <a:xfrm>
            <a:off x="731520" y="4059936"/>
            <a:ext cx="54864" cy="347472"/>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2" y="4059936"/>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Full RELRO is the single most impactful ELF hardening flag</a:t>
            </a:r>
          </a:p>
        </p:txBody>
      </p:sp>
      <p:sp>
        <p:nvSpPr>
          <p:cNvPr id="11" name="Rectangle 10"/>
          <p:cNvSpPr/>
          <p:nvPr/>
        </p:nvSpPr>
        <p:spPr>
          <a:xfrm>
            <a:off x="731520" y="4462272"/>
            <a:ext cx="54864" cy="34747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4462272"/>
            <a:ext cx="10442448" cy="347472"/>
          </a:xfrm>
          <a:prstGeom prst="roundRect">
            <a:avLst/>
          </a:prstGeom>
          <a:solidFill>
            <a:srgbClr val="1C1C34"/>
          </a:solidFill>
          <a:ln w="19050">
            <a:solidFill>
              <a:srgbClr val="33335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defRPr sz="1100" b="0">
                <a:solidFill>
                  <a:srgbClr val="CCCCCC"/>
                </a:solidFill>
              </a:defRPr>
            </a:pPr>
            <a:r>
              <a:t>  Part 2 covers: exploitation techniques, malware analysis, YARA rules, defensive tooling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ounded Rectangle 1"/>
          <p:cNvSpPr/>
          <p:nvPr/>
        </p:nvSpPr>
        <p:spPr>
          <a:xfrm>
            <a:off x="0" y="0"/>
            <a:ext cx="12191695" cy="54864"/>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3" name="Rounded Rectangle 2"/>
          <p:cNvSpPr/>
          <p:nvPr/>
        </p:nvSpPr>
        <p:spPr>
          <a:xfrm>
            <a:off x="0" y="6803136"/>
            <a:ext cx="12191695" cy="54864"/>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defRPr sz="1100" b="1">
                <a:solidFill>
                  <a:srgbClr val="FFFFFF"/>
                </a:solidFill>
              </a:defRPr>
            </a:pPr>
          </a:p>
        </p:txBody>
      </p:sp>
      <p:sp>
        <p:nvSpPr>
          <p:cNvPr id="4" name="TextBox 3"/>
          <p:cNvSpPr txBox="1"/>
          <p:nvPr/>
        </p:nvSpPr>
        <p:spPr>
          <a:xfrm>
            <a:off x="1371600" y="2560320"/>
            <a:ext cx="9418320" cy="1371600"/>
          </a:xfrm>
          <a:prstGeom prst="rect">
            <a:avLst/>
          </a:prstGeom>
          <a:noFill/>
        </p:spPr>
        <p:txBody>
          <a:bodyPr wrap="square" anchor="t"/>
          <a:lstStyle/>
          <a:p>
            <a:pPr algn="ctr">
              <a:defRPr sz="3600" b="1" i="0">
                <a:solidFill>
                  <a:srgbClr val="FFFFFF"/>
                </a:solidFill>
              </a:defRPr>
            </a:pPr>
            <a:r>
              <a:t>End of Part 1</a:t>
            </a:r>
          </a:p>
        </p:txBody>
      </p:sp>
      <p:sp>
        <p:nvSpPr>
          <p:cNvPr id="5" name="TextBox 4"/>
          <p:cNvSpPr txBox="1"/>
          <p:nvPr/>
        </p:nvSpPr>
        <p:spPr>
          <a:xfrm>
            <a:off x="1371600" y="4114800"/>
            <a:ext cx="9418320" cy="914400"/>
          </a:xfrm>
          <a:prstGeom prst="rect">
            <a:avLst/>
          </a:prstGeom>
          <a:noFill/>
        </p:spPr>
        <p:txBody>
          <a:bodyPr wrap="square" anchor="t"/>
          <a:lstStyle/>
          <a:p>
            <a:pPr algn="ctr">
              <a:defRPr sz="1600" b="0" i="0">
                <a:solidFill>
                  <a:srgbClr val="CCCCCC"/>
                </a:solidFill>
              </a:defRPr>
            </a:pPr>
            <a:r>
              <a:t>Domain 1 · Chapter 1A · ELF Foundations &amp; Dynamic Linking Core</a:t>
            </a:r>
            <a:br/>
            <a:r>
              <a:t>Continue to Part 2: ELF Security &amp; Exploitation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