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Physical/Hardware Security,</a:t>
            </a:r>
            <a:br/>
            <a:r>
              <a:t>IoT &amp; Payment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4FF"/>
                </a:solidFill>
              </a:defRPr>
            </a:pPr>
            <a:r>
              <a:t>Domains 17, 22, 28  ·  Side Channels  ·  Fault Injection  ·  EMV  ·  IoT Botnets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3383280"/>
            <a:ext cx="667512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100584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1097280" y="1280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1.  Side-Channel Attack Taxonomy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737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2.  Power Analysis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3.  Voltage &amp; EM Fault Injection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651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4.  Laser Fault Injection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08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5.  DFA on AES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566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6.  PCB Reverse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023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7.  IC Decapsulation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80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8.  JTAG TAP &amp; Debug Interfaces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937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9.  Secure Boot Chain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394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10.  EMV Transaction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852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11.  ATM Attack Taxonomy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63093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12.  Blockchain Attack Surface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67665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13.  IoT Protocol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72237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14.  IoT Device Attack Surface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76809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15.  IoT Botnet Lifecycle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8138160"/>
            <a:ext cx="96012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300" b="1">
                <a:solidFill>
                  <a:srgbClr val="CCCCCC"/>
                </a:solidFill>
              </a:defRPr>
            </a:pPr>
            <a:r>
              <a:t>16.  Defense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Side-Channel Attack Taxonomy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114800" y="1188720"/>
            <a:ext cx="36576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Side-Channel Attacks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Power Analysis</a:t>
            </a:r>
          </a:p>
        </p:txBody>
      </p:sp>
      <p:sp>
        <p:nvSpPr>
          <p:cNvPr id="6" name="Down Arrow 5"/>
          <p:cNvSpPr/>
          <p:nvPr/>
        </p:nvSpPr>
        <p:spPr>
          <a:xfrm>
            <a:off x="1463040" y="1737360"/>
            <a:ext cx="274320" cy="274320"/>
          </a:xfrm>
          <a:prstGeom prst="down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SPA (Simple)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DPA (Differential)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CPA (Correlation)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210312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EM Emanation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06240" y="1737360"/>
            <a:ext cx="274320" cy="274320"/>
          </a:xfrm>
          <a:prstGeom prst="down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Near-field probe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DEMA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SEMA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10312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Timing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949440" y="1737360"/>
            <a:ext cx="274320" cy="274320"/>
          </a:xfrm>
          <a:prstGeom prst="down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Cache timing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Branch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RSA key recovery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103120"/>
            <a:ext cx="2286000" cy="45720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Acoustic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692640" y="1737360"/>
            <a:ext cx="274320" cy="274320"/>
          </a:xfrm>
          <a:prstGeom prst="down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2743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Coil whine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Keyboard acoustic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291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▸ CPU frequency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All exploit information leakage from physical implementation, not algorithm weakness.</a:t>
            </a:r>
            <a:br/>
            <a:br/>
            <a:r>
              <a:t>Power/EM: most practical against embedded crypto (smartcards, HSMs, secure elements).</a:t>
            </a:r>
            <a:br/>
            <a:r>
              <a:t>Timing: most practical against software implementations (OpenSSL, GnuPG).</a:t>
            </a:r>
            <a:br/>
            <a:r>
              <a:t>Acoustic: demonstrated for RSA key extraction at 4m distance (Genkin et al., 2014).</a:t>
            </a:r>
            <a:br/>
            <a:br/>
            <a:r>
              <a:t>Countermeasures: constant-time code, masking/blinding, noise injection, shielding.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Power Analysis Attack Setup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Target Device</a:t>
            </a:r>
            <a:br/>
            <a:r>
              <a:t>(smartcard/MCU)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Shunt Resistor</a:t>
            </a:r>
            <a:br/>
            <a:r>
              <a:t>(1-10 Ω)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Oscilloscope</a:t>
            </a:r>
            <a:br/>
            <a:r>
              <a:t>(high bandwidth)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Trace Collection</a:t>
            </a:r>
            <a:br/>
            <a:r>
              <a:t>(10K+ traces)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Statistical</a:t>
            </a:r>
            <a:br/>
            <a:r>
              <a:t>Analysis (CPA)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SPA (Simple Power Analysis): visual inspection of single trace. Identify crypto rounds, branches.</a:t>
            </a:r>
            <a:br/>
            <a:r>
              <a:t>DPA (Differential Power Analysis): statistical correlation over many traces. Recover key bytes.</a:t>
            </a:r>
            <a:br/>
            <a:r>
              <a:t>CPA (Correlation Power Analysis): Hamming weight/distance model. Most efficient.</a:t>
            </a:r>
            <a:br/>
            <a:br/>
            <a:r>
              <a:t>Equipment:</a:t>
            </a:r>
            <a:br/>
            <a:r>
              <a:t>▸ ChipWhisperer ($50-300): integrated capture + glitch platform. Open source.</a:t>
            </a:r>
            <a:br/>
            <a:r>
              <a:t>▸ PicoScope ($400-2000): general oscilloscope with high sample rate.</a:t>
            </a:r>
            <a:br/>
            <a:r>
              <a:t>▸ Riscure Inspector ($50K+): professional SCA platform.</a:t>
            </a:r>
            <a:br/>
            <a:r>
              <a:t>▸ Langer probes: near-field EM probes for DEMA/SEMA.</a:t>
            </a:r>
            <a:br/>
            <a:br/>
            <a:r>
              <a:t>Typical attack: CPA on AES-128 → recover 16 key bytes independently → ~10K traces needed.</a:t>
            </a:r>
            <a:br/>
            <a:r>
              <a:t>Time: setup 1-2 days, trace collection ~hours, analysis ~minutes.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Voltage &amp; EM Fault Injection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2860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Voltage Glitching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Brief VCC drop (10-100ns) → skip instruction, corrupt computation.</a:t>
            </a:r>
            <a:br/>
            <a:r>
              <a:t>Crowbar circuit: MOSFET shorts VCC to GND briefly.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83080"/>
            <a:ext cx="22860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Clock Glitching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Extra clock edge or shortened period → setup/hold violation.</a:t>
            </a:r>
            <a:br/>
            <a:r>
              <a:t>Target: clock input of MCU. ChipWhisperer excels 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22860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EMFI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4688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Electromagnetic pulse via coil → localized fault.</a:t>
            </a:r>
            <a:br/>
            <a:r>
              <a:t>PicoEMP ($50), NewAE ($200), custom coils.</a:t>
            </a:r>
            <a:br/>
            <a:r>
              <a:t>X-Y positioning for spatial targeting.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54680"/>
            <a:ext cx="2286000" cy="54864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Laser Fault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1546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IR/UV laser through silicon backside → single-bit flip.</a:t>
            </a:r>
            <a:br/>
            <a:r>
              <a:t>Most precise but requires IC decapsulation. $50K+ setup.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Attack targets: secure boot bypass (skip signature check), PIN verification bypass,</a:t>
            </a:r>
            <a:br/>
            <a:r>
              <a:t>key extraction via DFA, privilege escalation, secure element lockout bypass.</a:t>
            </a:r>
            <a:br/>
            <a:br/>
            <a:r>
              <a:t>Notable: Starlink terminal rooted via voltage glitch on first boot (2022, Lennert Wouters).</a:t>
            </a:r>
            <a:br/>
            <a:r>
              <a:t>Nintendo Switch: Tegra X1 bootROM bypass via short on USB data pin (Fusée Gelée).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EMFI Attack Setup — Precision Targeting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Trigger</a:t>
            </a:r>
            <a:br/>
            <a:r>
              <a:t>Identification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X-Y Stage</a:t>
            </a:r>
            <a:br/>
            <a:r>
              <a:t>Positioning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Pulse</a:t>
            </a:r>
            <a:br/>
            <a:r>
              <a:t>Calibration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Sweep: Location</a:t>
            </a:r>
            <a:br/>
            <a:r>
              <a:t>+ Timing + Power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Analyze</a:t>
            </a:r>
            <a:br/>
            <a:r>
              <a:t>Fault Effects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EMFI advantages over voltage glitching:</a:t>
            </a:r>
            <a:br/>
            <a:r>
              <a:t>▸ Non-invasive: no physical connection to VCC/GND needed</a:t>
            </a:r>
            <a:br/>
            <a:r>
              <a:t>▸ Spatial selectivity: target specific IC regions (crypto core, CPU, memory)</a:t>
            </a:r>
            <a:br/>
            <a:r>
              <a:t>▸ Works through packaging (BGA, QFN) and PCB layers</a:t>
            </a:r>
            <a:br/>
            <a:r>
              <a:t>▸ Can affect specific operations while leaving others undisturbed</a:t>
            </a:r>
            <a:br/>
            <a:br/>
            <a:r>
              <a:t>X-Y positioning: CNC stage or 3D printer frame. Step through grid.</a:t>
            </a:r>
            <a:br/>
            <a:r>
              <a:t>For each position: sweep timing (ns resolution) and pulse amplitude.</a:t>
            </a:r>
            <a:br/>
            <a:r>
              <a:t>Output classification: normal, crash, mute (no response), exploitable fault.</a:t>
            </a:r>
            <a:br/>
            <a:br/>
            <a:r>
              <a:t>Tools: PicoEMP (open source, ~$50 BOM), ChipWhisperer Husky, Riscure EM-FI,</a:t>
            </a:r>
            <a:br/>
            <a:r>
              <a:t>NewAE CW521 (calibrated EM probe).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Laser Fault Injection — Single-Bit Precision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IC Decapsulation</a:t>
            </a:r>
            <a:br/>
            <a:r>
              <a:t>(expose silicon)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IR Laser Source</a:t>
            </a:r>
            <a:br/>
            <a:r>
              <a:t>(1064nm typical)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Optical System</a:t>
            </a:r>
            <a:br/>
            <a:r>
              <a:t>(microscope + stage)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Target: Individual</a:t>
            </a:r>
            <a:br/>
            <a:r>
              <a:t>Transistor / SRAM Cell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Observe:</a:t>
            </a:r>
            <a:br/>
            <a:r>
              <a:t>Bit flip / Skip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Laser FI is the gold standard for precision fault attacks:</a:t>
            </a:r>
            <a:br/>
            <a:r>
              <a:t>▸ Spatial resolution: &lt; 1μm (individual transistor targeting)</a:t>
            </a:r>
            <a:br/>
            <a:r>
              <a:t>▸ Temporal resolution: &lt; 1ns (sub-clock-cycle faults)</a:t>
            </a:r>
            <a:br/>
            <a:r>
              <a:t>▸ Backside attack: through thinned silicon substrate (100-200μm)</a:t>
            </a:r>
            <a:br/>
            <a:r>
              <a:t>▸ Repeatable: same fault location and timing every time</a:t>
            </a:r>
            <a:br/>
            <a:br/>
            <a:r>
              <a:t>Required: optical bench ($50K-200K), IC prep (decap + thin), high-end XYZ stage.</a:t>
            </a:r>
            <a:br/>
            <a:r>
              <a:t>Typically used by: government labs, high-assurance evaluation (CC EAL5+), well-funded researchers.</a:t>
            </a:r>
            <a:br/>
            <a:br/>
            <a:r>
              <a:t>Countermeasures: light sensors (on-die), active shields (metal mesh), dual-rail logic,</a:t>
            </a:r>
            <a:br/>
            <a:r>
              <a:t>temporal/spatial redundancy (execute twice, compare), glitch detectors.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Differential Fault Analysis on AES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Encrypt with</a:t>
            </a:r>
            <a:br/>
            <a:r>
              <a:t>correct key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Fault during</a:t>
            </a:r>
            <a:br/>
            <a:r>
              <a:t>round 8 or 9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Get faulty</a:t>
            </a:r>
            <a:br/>
            <a:r>
              <a:t>ciphertext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Compare correct</a:t>
            </a:r>
            <a:br/>
            <a:r>
              <a:t>vs faulty output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Solve key bytes</a:t>
            </a:r>
            <a:br/>
            <a:r>
              <a:t>via equations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Piret-Quisquater DFA (2003): fault in round 8 MixColumns input.</a:t>
            </a:r>
            <a:br/>
            <a:r>
              <a:t>One fault → reduces key space from 2^128 to ~2^32. Two faults → unique key.</a:t>
            </a:r>
            <a:br/>
            <a:br/>
            <a:r>
              <a:t>How: fault propagates through MixColumns differently than unfaulted computation.</a:t>
            </a:r>
            <a:br/>
            <a:r>
              <a:t>Difference between correct and faulty ciphertexts reveals SubBytes input/output pairs.</a:t>
            </a:r>
            <a:br/>
            <a:r>
              <a:t>Each pair constrains 4 key bytes. With 2+ faults on different columns → full key recovery.</a:t>
            </a:r>
            <a:br/>
            <a:br/>
            <a:r>
              <a:t>Practical setup: ChipWhisperer + target board. Trigger on AES start. Glitch at round 8.</a:t>
            </a:r>
            <a:br/>
            <a:r>
              <a:t>Success rate depends on fault model (single-byte vs multi-byte, random vs stuck-at).</a:t>
            </a:r>
            <a:br/>
            <a:br/>
            <a:r>
              <a:t>Countermeasure: AES infective computation (detect fault → randomize output), temporal redundancy.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PCB Reverse Engineering Workflow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High-Res</a:t>
            </a:r>
            <a:br/>
            <a:r>
              <a:t>Photography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Component</a:t>
            </a:r>
            <a:br/>
            <a:r>
              <a:t>Identification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Layer Imaging</a:t>
            </a:r>
            <a:br/>
            <a:r>
              <a:t>(X-ray / delaminate)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Schematic</a:t>
            </a:r>
            <a:br/>
            <a:r>
              <a:t>Reconstruction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Circuit</a:t>
            </a:r>
            <a:br/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Photography: DSLR macro lens, ring light, calibrated color chart. Multiple angles.</a:t>
            </a:r>
            <a:br/>
            <a:r>
              <a:t>Component ID: read markings, cross-reference datasheets, multimeter verification.</a:t>
            </a:r>
            <a:br/>
            <a:r>
              <a:t>Multi-layer: X-ray (non-destructive) or chemical delamination (destructive).</a:t>
            </a:r>
            <a:br/>
            <a:br/>
            <a:r>
              <a:t>Tools:</a:t>
            </a:r>
            <a:br/>
            <a:r>
              <a:t>▸ KiCad: open-source schematic + PCB layout (for reconstruction)</a:t>
            </a:r>
            <a:br/>
            <a:r>
              <a:t>▸ OpenBoardView: view board CAD files if available</a:t>
            </a:r>
            <a:br/>
            <a:r>
              <a:t>▸ Multimeter + logic analyzer: trace connections, identify buses</a:t>
            </a:r>
            <a:br/>
            <a:r>
              <a:t>▸ JTAGulator: automated JTAG/UART/SWD pin identification</a:t>
            </a:r>
            <a:br/>
            <a:r>
              <a:t>▸ X-ray: Faxitron (professional), dental X-ray (budget)</a:t>
            </a:r>
            <a:br/>
            <a:br/>
            <a:r>
              <a:t>Goals: find debug ports (UART, JTAG, SWD), identify flash chips (SPI/NAND),</a:t>
            </a:r>
            <a:br/>
            <a:r>
              <a:t>locate test points, understand power delivery, find unpopulated connectors.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IC Decapsulation Methods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JTAG TAP State Machine &amp; Debug Interfaces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Test-Logic-Reset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Entry state. TMS=1 for 5 clocks returns here from anywhere.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Run-Test/Idle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Idle state between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Shift-DR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03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Shift data through data register (boundary scan, debug).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Shift-IR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06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Shift instruction into instruction register.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2860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Update-DR/IR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108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Latch shifted data/instruction.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JTAG pins: TCK (clock), TMS (mode select), TDI (data in), TDO (data out), TRST (optional reset).</a:t>
            </a:r>
            <a:br/>
            <a:r>
              <a:t>SWD (Serial Wire Debug): ARM alternative. 2 pins only (SWDIO + SWCLK). Same debug features.</a:t>
            </a:r>
            <a:br/>
            <a:br/>
            <a:r>
              <a:t>Attack uses: read/write memory, extract firmware, bypass secure boot, debug running code,</a:t>
            </a:r>
            <a:br/>
            <a:r>
              <a:t>set hardware breakpoints, single-step execution, read CPU registers.</a:t>
            </a:r>
            <a:br/>
            <a:br/>
            <a:r>
              <a:t>Finding JTAG: JTAGulator (automated pin identification), multimeter continuity testing,</a:t>
            </a:r>
            <a:br/>
            <a:r>
              <a:t>PCB silkscreen labels, known pinouts for common SoCs, logic analyzer to capture boot activity.</a:t>
            </a:r>
            <a:br/>
            <a:r>
              <a:t>Protection: JTAG lock bits, fuse-based disable, password-protected debug, debug authentication (ARM DAP).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Secure Boot Chain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BootROM</a:t>
            </a:r>
            <a:br/>
            <a:r>
              <a:t>(immutable)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1st Stage</a:t>
            </a:r>
            <a:br/>
            <a:r>
              <a:t>Bootloader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2nd Stage</a:t>
            </a:r>
            <a:br/>
            <a:r>
              <a:t>Bootloader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Kernel</a:t>
            </a:r>
            <a:br/>
            <a:r>
              <a:t>Image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Userspace</a:t>
            </a:r>
            <a:br/>
            <a:r>
              <a:t>Init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Each stage verifies the next stage's signature before executing it.</a:t>
            </a:r>
            <a:br/>
            <a:r>
              <a:t>Root of trust: BootROM. Burned into silicon at manufacturing. Cannot be patched.</a:t>
            </a:r>
            <a:br/>
            <a:br/>
            <a:r>
              <a:t>Bypass attacks:</a:t>
            </a:r>
            <a:br/>
            <a:r>
              <a:t>▸ Fault injection during signature verification (glitch → skip check)</a:t>
            </a:r>
            <a:br/>
            <a:r>
              <a:t>▸ BootROM vulnerability (checkm8 on Apple A5-A11: buffer overflow in DFU mode)</a:t>
            </a:r>
            <a:br/>
            <a:r>
              <a:t>▸ Key extraction from OTP/fuses (laser fault + readback)</a:t>
            </a:r>
            <a:br/>
            <a:r>
              <a:t>▸ Downgrade attack (load older vulnerable firmware, then exploit)</a:t>
            </a:r>
            <a:br/>
            <a:r>
              <a:t>▸ TOCTOU: modify image between check and use</a:t>
            </a:r>
            <a:br/>
            <a:br/>
            <a:r>
              <a:t>Measured Boot (TPM): doesn't prevent boot of modified firmware — just records it.</a:t>
            </a:r>
            <a:br/>
            <a:r>
              <a:t>Verified Boot (Android/ChromeOS): actively blocks unverified code from executing.</a:t>
            </a:r>
            <a:br/>
            <a:r>
              <a:t>UEFI Secure Boot: verifies bootloader + kernel signatures against db/dbx keys in firmware.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Payment Systems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EMV Transaction Flow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Card</a:t>
            </a:r>
            <a:br/>
            <a:r>
              <a:t>Insertion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Application</a:t>
            </a:r>
            <a:br/>
            <a:r>
              <a:t>Selection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Read Card</a:t>
            </a:r>
            <a:br/>
            <a:r>
              <a:t>Data (GPO)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Cardholder</a:t>
            </a:r>
            <a:br/>
            <a:r>
              <a:t>Verification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Online</a:t>
            </a:r>
            <a:br/>
            <a:r>
              <a:t>Authorization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EMV (Europay, MasterCard, Visa) chip transaction:</a:t>
            </a:r>
            <a:br/>
            <a:br/>
            <a:r>
              <a:t>1. SELECT: terminal selects payment application (AID: A0000000031010 = Visa)</a:t>
            </a:r>
            <a:br/>
            <a:r>
              <a:t>2. GPO (Get Processing Options): card returns AIP + AFL</a:t>
            </a:r>
            <a:br/>
            <a:r>
              <a:t>3. READ RECORD: terminal reads card data (PAN, expiry, certificates)</a:t>
            </a:r>
            <a:br/>
            <a:r>
              <a:t>4. Data Authentication: SDA (static), DDA (dynamic), or CDA (combined)</a:t>
            </a:r>
            <a:br/>
            <a:r>
              <a:t>5. Cardholder Verification: PIN (online/offline), signature, or CVM bypass (contactless low-value)</a:t>
            </a:r>
            <a:br/>
            <a:r>
              <a:t>6. Generate AC: card generates cryptogram (ARQC for online, TC for offline, AAC for decline)</a:t>
            </a:r>
            <a:br/>
            <a:r>
              <a:t>7. Online Auth: terminal sends ARQC to issuer → issuer validates → returns ARPC</a:t>
            </a:r>
            <a:br/>
            <a:br/>
            <a:r>
              <a:t>Key vulnerabilities:</a:t>
            </a:r>
            <a:br/>
            <a:r>
              <a:t>▸ PIN bypass: modify CVM list in relay attack (Cambridge research, 2020)</a:t>
            </a:r>
            <a:br/>
            <a:r>
              <a:t>▸ Contactless: Visa PIN bypass via protocol manipulation (ETH Zurich, 2020)</a:t>
            </a:r>
            <a:br/>
            <a:r>
              <a:t>▸ Pre-play: predict unpredictable number (UN) → pre-generate cryptograms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EMV Chip Authentication Methods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74320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SDA (Static Data Auth)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09728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Card signs static data with issuer key. Clone-detectable but not clone-proof.</a:t>
            </a:r>
            <a:br/>
            <a:r>
              <a:t>Vulnerable: attacker can replay signed data to different terminal.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274320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DDA (Dynamic Data Auth)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73736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Card signs dynamic challenge from terminal. Proves card has private key.</a:t>
            </a:r>
            <a:br/>
            <a:r>
              <a:t>Prevents cloning. Requires RSA coprocessor on chip.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274320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CDA (Combined DDA/AC)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37744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Authentication integrated with cryptogram generation.</a:t>
            </a:r>
            <a:br/>
            <a:r>
              <a:t>Strongest: links auth to specific transaction. Prevents relay in some 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017520"/>
            <a:ext cx="2743200" cy="50292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fDDA (Fast DDA)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Contactless variant. Faster computation for NFC timing constraints.</a:t>
            </a:r>
            <a:br/>
            <a:r>
              <a:t>Used by Visa payWave and MasterCard PayPass.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ATM Attack Taxonomy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144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Blockchain &amp; Smart Contract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Reentrancy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0972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External call before state update → recursive withdrawal. The DAO hack (2016, $60M).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Flash Loan Attack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54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Uncollateralized instant loan → market manipulation → repay in same tx. DeFi-specific.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51% Attack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Majority hashrate → double-spend. Ethereum Classic attacked multiple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Front-Running (MEV)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688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Observe mempool → insert tx before victim → profit from price movement.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Bridge Exploit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9260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Cross-chain bridge compromise. Ronin ($625M), Wormhole ($325M), Nomad ($190M).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Oracle Manipulation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832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Corrupt price feed → exploit protocol logic. TWAP vs spot price.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2286000" cy="3657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Private Key Compromise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84048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Weak entropy, leaked mnemonic, compromised signer. Ronin: social engineering.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D700"/>
                </a:solidFill>
              </a:defRPr>
            </a:pPr>
            <a:r>
              <a:t>Defense: Slither/Mythril static analysis, formal verification (Certora), audits (Trail of Bits, OpenZeppelin),</a:t>
            </a:r>
            <a:br/>
            <a:r>
              <a:t>bug bounties (Immunefi), timelocks + multisig, oracle diversification.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IoT Security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0" y="3840480"/>
            <a:ext cx="4846320" cy="0"/>
          </a:xfrm>
          <a:prstGeom prst="line">
            <a:avLst/>
          </a:prstGeom>
          <a:ln w="19050">
            <a:solidFill>
              <a:srgbClr val="BB86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IoT Wireless Protocol Comparison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09728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Zigbee (802.15.4)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09728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2.4 GHz, 250 kbps, AES-128. Mesh. Home automation. 128-bit network key.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0020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FF88"/>
                </a:solidFill>
              </a:defRPr>
            </a:pPr>
            <a:r>
              <a:t>Z-Wave (800/900 MHz)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6002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Sub-GHz, 100 kbps, AES-128 (S2 framework). Mesh. Smart locks/sensors.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0312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D700"/>
                </a:solidFill>
              </a:defRPr>
            </a:pPr>
            <a:r>
              <a:t>BLE (Bluetooth 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10312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2.4 GHz, 2 Mbps, AES-CCM. Star topology. Wearables, beacons.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60604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FF4444"/>
                </a:solidFill>
              </a:defRPr>
            </a:pPr>
            <a:r>
              <a:t>Thread (802.15.4)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060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2.4 GHz, 250 kbps, AES-128 + DTLS. Mesh. Low-power IPv6. Google/Apple.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10896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BB86FC"/>
                </a:solidFill>
              </a:defRPr>
            </a:pPr>
            <a:r>
              <a:t>Matter (over Thread/Wi-Fi)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1089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Application layer standard. End-to-end encryption. Interoperability.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611880"/>
            <a:ext cx="256032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000" b="1">
                <a:solidFill>
                  <a:srgbClr val="00D4FF"/>
                </a:solidFill>
              </a:defRPr>
            </a:pPr>
            <a:r>
              <a:t>LoRaWAN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61188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Sub-GHz, 50 kbps, AES-128 (AppSKey + NwkSKey). Star-of-stars. 10 km+ range.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D700"/>
                </a:solidFill>
              </a:defRPr>
            </a:pPr>
            <a:r>
              <a:t>Common weakness: default/hardcoded keys, unencrypted pairing, firmware not signed,</a:t>
            </a:r>
            <a:br/>
            <a:r>
              <a:t>no OTA update capability, cleartext provisioning, weak random number generation.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IoT Device Attack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731520" y="10972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0972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Extract via SPI/JTAG, find hardcoded creds, reverse engineer update protocol.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Debug 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6002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UART console (115200 baud), JTAG/SWD access to CPU. Often left enabled.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00FF88"/>
                </a:solidFill>
              </a:defRPr>
            </a:pPr>
            <a:r>
              <a:t>Wireless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103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BLE/Wi-Fi/Zigbee: sniff traffic, replay commands, injection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Cloud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6060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REST API for device management. Auth bypass, IDOR, excessive data exposure.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10896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Companion app: API keys in APK, insecure storage, certificate pinning bypass.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201168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FF4444"/>
                </a:solidFill>
              </a:defRPr>
            </a:pPr>
            <a:r>
              <a:t>Physical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118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Chip-off (flash extraction), bus sniffing (I2C/SPI), tampering detection bypass.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Tools: binwalk (firmware extraction), Ghidra/IDA (RE), Flashrom (SPI read/write),</a:t>
            </a:r>
            <a:br/>
            <a:r>
              <a:t>Saleae logic analyzer, nRF Connect (BLE), Killerbee (Zigbee), Scapy (protocol fuzzing).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IoT Botnet Lifecycle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74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Internet</a:t>
            </a:r>
            <a:br/>
            <a:r>
              <a:t>Scanning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286000" y="1600200"/>
            <a:ext cx="182880" cy="0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4444"/>
                </a:solidFill>
              </a:defRPr>
            </a:pPr>
            <a:r>
              <a:t>Exploit / Default</a:t>
            </a:r>
            <a:br/>
            <a:r>
              <a:t>Credentials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572000" y="1600200"/>
            <a:ext cx="182880" cy="0"/>
          </a:xfrm>
          <a:prstGeom prst="rightArrow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FFD700"/>
                </a:solidFill>
              </a:defRPr>
            </a:pPr>
            <a:r>
              <a:t>Payload</a:t>
            </a:r>
            <a:br/>
            <a:r>
              <a:t>Delivery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858000" y="1600200"/>
            <a:ext cx="182880" cy="0"/>
          </a:xfrm>
          <a:prstGeom prst="rightArrow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00FF88"/>
                </a:solidFill>
              </a:defRPr>
            </a:pPr>
            <a:r>
              <a:t>C2 Registration</a:t>
            </a:r>
            <a:br/>
            <a:r>
              <a:t>(IRC/HTTP/P2P)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44000" y="1600200"/>
            <a:ext cx="182880" cy="0"/>
          </a:xfrm>
          <a:prstGeom prst="rightArrow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320" y="1280160"/>
            <a:ext cx="1920240" cy="82296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BB86FC"/>
                </a:solidFill>
              </a:defRPr>
            </a:pPr>
            <a:r>
              <a:t>DDoS / Proxy</a:t>
            </a:r>
            <a:br/>
            <a:r>
              <a:t>/ Cryptomining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Notable IoT botnets:</a:t>
            </a:r>
            <a:br/>
            <a:r>
              <a:t>▸ Mirai (2016): 600K+ devices, 1.2 Tbps DDoS on Dyn DNS. Telnet default creds.</a:t>
            </a:r>
            <a:br/>
            <a:r>
              <a:t>▸ Mozi (2019-2023): P2P DHT-based C2. Exploited UPnP, HNAP, TR-069. 1.5M nodes.</a:t>
            </a:r>
            <a:br/>
            <a:r>
              <a:t>▸ Hajime (2017): P2P, no DDoS payload — blocked Mirai. "White hat" botnet.</a:t>
            </a:r>
            <a:br/>
            <a:r>
              <a:t>▸ HEH (2020): wiper botnet — bricked devices instead of DDoS.</a:t>
            </a:r>
            <a:br/>
            <a:r>
              <a:t>▸ RapperBot (2022): SSH brute-force, DDoS. Targeted Linux IoT devices.</a:t>
            </a:r>
            <a:br/>
            <a:br/>
            <a:r>
              <a:t>Infection vectors: default credentials (admin/admin), known CVEs in UPnP/SOAP,</a:t>
            </a:r>
            <a:br/>
            <a:r>
              <a:t>TR-069 (ISP management protocol) vulnerabilities, exposed telnet/SSH.</a:t>
            </a:r>
            <a:br/>
            <a:br/>
            <a:r>
              <a:t>Scale: estimated 15-20 billion IoT devices by 2025. Even 0.1% compromise = millions of bots.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IoT / Physical Security Defense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57200" y="1097280"/>
            <a:ext cx="10972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CCCCCC"/>
                </a:solidFill>
              </a:defRPr>
            </a:pPr>
            <a:r>
              <a:t>▸  Physical: tamper-evident enclosures, active mesh shields, fuse-based JTAG disable, secure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81912"/>
            <a:ext cx="10972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CCCCCC"/>
                </a:solidFill>
              </a:defRPr>
            </a:pPr>
            <a:r>
              <a:t>▸  Hardware: TPM/secure element for key storage, PUF (Physical Unclonable Functions), side-channel countermeasures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66544"/>
            <a:ext cx="10972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CCCCCC"/>
                </a:solidFill>
              </a:defRPr>
            </a:pPr>
            <a:r>
              <a:t>▸  Firmware: signed OTA updates, encrypted firmware images, secure bootloader chain, rollback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51176"/>
            <a:ext cx="10972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CCCCCC"/>
                </a:solidFill>
              </a:defRPr>
            </a:pPr>
            <a:r>
              <a:t>▸  Network: IoT VLAN segmentation, MUD (Manufacturer Usage Description) profiles, DNS-based monitoring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35808"/>
            <a:ext cx="10972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CCCCCC"/>
                </a:solidFill>
              </a:defRPr>
            </a:pPr>
            <a:r>
              <a:t>▸  Cloud: device identity certificates (X.509), mTLS for API communication, rate limiting per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20440"/>
            <a:ext cx="10972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CCCCCC"/>
                </a:solidFill>
              </a:defRPr>
            </a:pPr>
            <a:r>
              <a:t>▸  Payment: PCI-DSS compliance, P2PE (Point-to-Point Encryption), tokenization, EMV migration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05072"/>
            <a:ext cx="109728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100" b="1">
                <a:solidFill>
                  <a:srgbClr val="CCCCCC"/>
                </a:solidFill>
              </a:defRPr>
            </a:pPr>
            <a:r>
              <a:t>▸  Standards: ETSI EN 303 645 (IoT baseline), NIST 8259A, IEC 62443, PCI PIN Security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Cross-Reference 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914400"/>
            <a:ext cx="1069848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914400" y="11887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6-7: Mitigation bypass &amp; hardware — fault injection bypasses software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916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12: Reverse engineering — firmware RE is prerequisite for IoT/embedded exploitation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13: Cryptography — side-channel attacks target crypto implementations, not algorithms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9748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20: RF/SDR — wireless IoT protocols are attacked via SDR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22: Payment systems — EMV/blockchain are specialized applications of crypto +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0332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27: Defense architecture — IoT defense requires network segmentation + 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10058400" cy="411480"/>
          </a:xfrm>
          <a:prstGeom prst="roundRect">
            <a:avLst/>
          </a:prstGeom>
          <a:solidFill>
            <a:srgbClr val="22223A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defRPr sz="1200" b="1">
                <a:solidFill>
                  <a:srgbClr val="CCCCCC"/>
                </a:solidFill>
              </a:defRPr>
            </a:pPr>
            <a:r>
              <a:t>▸  Domain 28: IoT protocols — Zigbee/Z-Wave/Thread/BLE are the wireless layer for IoT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