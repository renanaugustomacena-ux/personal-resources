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Malware Tradecraft, Reverse</a:t>
            </a:r>
            <a:br/>
            <a:r>
              <a:t>Engineering &amp; Cryptography</a:t>
            </a:r>
          </a:p>
          <a:p>
            <a:pPr algn="ctr">
              <a:defRPr sz="1800">
                <a:solidFill>
                  <a:srgbClr val="BB86FC"/>
                </a:solidFill>
              </a:defRPr>
            </a:pPr>
            <a:r>
              <a:t>Domains 11, 12 &amp; 13  —  Enterprise Security Reference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3749039"/>
            <a:ext cx="4572000" cy="25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Enterprise Security Reference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BB86FC"/>
                </a:solidFill>
              </a:defRPr>
            </a:pPr>
            <a:r>
              <a:t>▸  Malware Tradecraft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Process injection, C2 frameworks, rootkits, persistence mechanisms</a:t>
            </a:r>
          </a:p>
          <a:p>
            <a:pPr>
              <a:spcAft>
                <a:spcPts val="200"/>
              </a:spcAft>
              <a:defRPr sz="1500" b="1">
                <a:solidFill>
                  <a:srgbClr val="BB86FC"/>
                </a:solidFill>
              </a:defRPr>
            </a:pPr>
            <a:r>
              <a:t>▸  EDR Evasion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Direct/indirect syscalls, unhooking, ETW patching, AMSI bypass</a:t>
            </a:r>
          </a:p>
          <a:p>
            <a:pPr>
              <a:spcAft>
                <a:spcPts val="200"/>
              </a:spcAft>
              <a:defRPr sz="1500" b="1">
                <a:solidFill>
                  <a:srgbClr val="BB86FC"/>
                </a:solidFill>
              </a:defRPr>
            </a:pPr>
            <a:r>
              <a:t>▸  Reverse Engineering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Static &amp; dynamic analysis workflows, firmware RE, tooling</a:t>
            </a:r>
          </a:p>
          <a:p>
            <a:pPr>
              <a:spcAft>
                <a:spcPts val="200"/>
              </a:spcAft>
              <a:defRPr sz="1500" b="1">
                <a:solidFill>
                  <a:srgbClr val="BB86FC"/>
                </a:solidFill>
              </a:defRPr>
            </a:pPr>
            <a:r>
              <a:t>▸  Cryptography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Symmetric/asymmetric, TLS 1.3, Kerberos, NTLM, post-quantum</a:t>
            </a:r>
          </a:p>
          <a:p>
            <a:pPr>
              <a:spcAft>
                <a:spcPts val="200"/>
              </a:spcAft>
              <a:defRPr sz="1500" b="1">
                <a:solidFill>
                  <a:srgbClr val="BB86FC"/>
                </a:solidFill>
              </a:defRPr>
            </a:pPr>
            <a:r>
              <a:t>▸  Crypto Attacks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Padding oracle, Kerberoasting, relay attacks, protocol weaknesses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Process Injection Techniques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Cobalt Strike Beacon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2743200" cy="54864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 Server (C2)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011680" cy="45720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HTTPS Listener</a:t>
            </a:r>
            <a:br/>
            <a:r>
              <a:t>(443)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286000"/>
            <a:ext cx="2011680" cy="45720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DNS Listener</a:t>
            </a:r>
            <a:br/>
            <a:r>
              <a:t>(53)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011680" cy="45720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SMB Listener</a:t>
            </a:r>
            <a:br/>
            <a:r>
              <a:t>(pipe)</a:t>
            </a:r>
          </a:p>
        </p:txBody>
      </p:sp>
      <p:sp>
        <p:nvSpPr>
          <p:cNvPr id="8" name="Down Arrow 7"/>
          <p:cNvSpPr/>
          <p:nvPr/>
        </p:nvSpPr>
        <p:spPr>
          <a:xfrm>
            <a:off x="1371600" y="1737360"/>
            <a:ext cx="182880" cy="548640"/>
          </a:xfrm>
          <a:prstGeom prst="down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4114800" y="1737360"/>
            <a:ext cx="182880" cy="548640"/>
          </a:xfrm>
          <a:prstGeom prst="down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6858000" y="1737360"/>
            <a:ext cx="182880" cy="548640"/>
          </a:xfrm>
          <a:prstGeom prst="down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7498079" cy="36576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Malleable C2 Profile: HTTP headers, URI paths, data transforms, sleep jitter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2011680" cy="54864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Beacon</a:t>
            </a:r>
            <a:br/>
            <a:r>
              <a:t>(Workstation)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2011680" cy="54864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Beacon</a:t>
            </a:r>
            <a:br/>
            <a:r>
              <a:t>(Server)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840480"/>
            <a:ext cx="2011680" cy="54864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Beacon</a:t>
            </a:r>
            <a:br/>
            <a:r>
              <a:t>(DC - pivot)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371600" y="2743200"/>
            <a:ext cx="182880" cy="1097280"/>
          </a:xfrm>
          <a:prstGeom prst="down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4114800" y="2743200"/>
            <a:ext cx="182880" cy="1097280"/>
          </a:xfrm>
          <a:prstGeom prst="down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6858000" y="2743200"/>
            <a:ext cx="182880" cy="1097280"/>
          </a:xfrm>
          <a:prstGeom prst="down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2468880" y="4023360"/>
            <a:ext cx="731519" cy="18288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212080" y="4023360"/>
            <a:ext cx="731519" cy="18288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Beacons check in on configurable intervals (sleep + jitter %).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SMB beacons chain through named pipes for internal pivoting (no egress needed).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Malleable C2 profiles disguise traffic as legitimate (jQuery, Amazon, OneDrive).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Detection: JA3/JA3S fingerprint, beacon interval analysis, named pipe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Malleable C2 Profile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4023360" cy="45720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HTTP Request (Beacon → Team Server)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00FF88"/>
                </a:solidFill>
              </a:defRPr>
            </a:pPr>
            <a:r>
              <a:t>GET /s/ref=nb_sb_noss?ie=UTF8&amp;field-keywords=&lt;encoded_data&gt;</a:t>
            </a:r>
          </a:p>
          <a:p>
            <a:pPr>
              <a:spcAft>
                <a:spcPts val="600"/>
              </a:spcAft>
              <a:defRPr sz="900">
                <a:solidFill>
                  <a:srgbClr val="00FF88"/>
                </a:solidFill>
              </a:defRPr>
            </a:pPr>
            <a:r>
              <a:t>Host: www.amazon.com</a:t>
            </a:r>
          </a:p>
          <a:p>
            <a:pPr>
              <a:spcAft>
                <a:spcPts val="600"/>
              </a:spcAft>
              <a:defRPr sz="900">
                <a:solidFill>
                  <a:srgbClr val="00FF88"/>
                </a:solidFill>
              </a:defRPr>
            </a:pPr>
            <a:r>
              <a:t>User-Agent: Mozilla/5.0 (Win10) ...</a:t>
            </a:r>
          </a:p>
          <a:p>
            <a:pPr>
              <a:spcAft>
                <a:spcPts val="600"/>
              </a:spcAft>
              <a:defRPr sz="900">
                <a:solidFill>
                  <a:srgbClr val="00FF88"/>
                </a:solidFill>
              </a:defRPr>
            </a:pPr>
            <a:r>
              <a:t>Cookie: session-token=&lt;metadata&gt;</a:t>
            </a:r>
          </a:p>
          <a:p>
            <a:pPr>
              <a:spcAft>
                <a:spcPts val="600"/>
              </a:spcAft>
              <a:defRPr sz="900">
                <a:solidFill>
                  <a:srgbClr val="00FF88"/>
                </a:solidFill>
              </a:defRPr>
            </a:pPr>
            <a:r>
              <a:t>Accept: text/html,application/xhtml+xml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4023360" cy="45720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HTTP Response (Team Server → Beacon)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BB86FC"/>
                </a:solidFill>
              </a:defRPr>
            </a:pPr>
            <a:r>
              <a:t>HTTP/1.1 200 OK</a:t>
            </a:r>
          </a:p>
          <a:p>
            <a:pPr>
              <a:spcAft>
                <a:spcPts val="600"/>
              </a:spcAft>
              <a:defRPr sz="900">
                <a:solidFill>
                  <a:srgbClr val="BB86FC"/>
                </a:solidFill>
              </a:defRPr>
            </a:pPr>
            <a:r>
              <a:t>Content-Type: text/html; charset=UTF-8</a:t>
            </a:r>
          </a:p>
          <a:p>
            <a:pPr>
              <a:spcAft>
                <a:spcPts val="600"/>
              </a:spcAft>
              <a:defRPr sz="900">
                <a:solidFill>
                  <a:srgbClr val="BB86FC"/>
                </a:solidFill>
              </a:defRPr>
            </a:pPr>
            <a:r>
              <a:t>Server: Server</a:t>
            </a:r>
          </a:p>
          <a:p>
            <a:pPr>
              <a:spcAft>
                <a:spcPts val="600"/>
              </a:spcAft>
              <a:defRPr sz="900">
                <a:solidFill>
                  <a:srgbClr val="BB86FC"/>
                </a:solidFill>
              </a:defRPr>
            </a:pPr>
            <a:r>
              <a:t>X-Amz-Cf-Pop: SFO5-C1</a:t>
            </a:r>
          </a:p>
          <a:p>
            <a:pPr>
              <a:spcAft>
                <a:spcPts val="600"/>
              </a:spcAft>
              <a:defRPr sz="900">
                <a:solidFill>
                  <a:srgbClr val="BB86FC"/>
                </a:solidFill>
              </a:defRPr>
            </a:pPr>
          </a:p>
          <a:p>
            <a:pPr>
              <a:spcAft>
                <a:spcPts val="600"/>
              </a:spcAft>
              <a:defRPr sz="900">
                <a:solidFill>
                  <a:srgbClr val="BB86FC"/>
                </a:solidFill>
              </a:defRPr>
            </a:pPr>
            <a:r>
              <a:t>&lt;html&gt;...&lt;script&gt;var data='&lt;b64_task&gt;'&lt;/script&gt;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023360"/>
            <a:ext cx="8412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The malleable C2 profile transforms beacon communication to resemble legitimate traffic.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Profile sections: http-get (client/server blocks), http-post, http-stager, dns-beacon.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Transforms: append, prepend, base64, base64url, mask, netbios.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Well-known profiles: amazon, jquery, onedrive, gmail, bing.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Detection vectors despite profile: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JA3 fingerprint (TLS client hello) — static unless process injection varies TLS stack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Beacon timing analysis (sleep interval + jitter creates detectable pattern)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HTTP header ordering anomalies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Certificate analysis (default Cobalt Strike cert has known serial)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Rootkit Types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560320" cy="41148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User-Mode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FF88"/>
                </a:solidFill>
              </a:defRPr>
            </a:pPr>
            <a:r>
              <a:t>Techniques: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LD_PRELOAD hooking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IAT/EAT patching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Ptrace injection</a:t>
            </a:r>
          </a:p>
          <a:p>
            <a:pPr>
              <a:defRPr sz="400"/>
            </a:pPr>
          </a:p>
          <a:p>
            <a:pPr>
              <a:defRPr sz="900" b="1">
                <a:solidFill>
                  <a:srgbClr val="00FF88"/>
                </a:solidFill>
              </a:defRPr>
            </a:pPr>
            <a:r>
              <a:t>Detection: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Low — EDR sees syscalls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above this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280160"/>
            <a:ext cx="2560320" cy="41148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Kernel-Mode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783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D700"/>
                </a:solidFill>
              </a:defRPr>
            </a:pPr>
            <a:r>
              <a:t>Techniques: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Syscall table hooks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DKOM (Direct Kernel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Object Manipulation)</a:t>
            </a:r>
          </a:p>
          <a:p>
            <a:pPr>
              <a:defRPr sz="400"/>
            </a:pPr>
          </a:p>
          <a:p>
            <a:pPr>
              <a:defRPr sz="900" b="1">
                <a:solidFill>
                  <a:srgbClr val="FFD700"/>
                </a:solidFill>
              </a:defRPr>
            </a:pPr>
            <a:r>
              <a:t>Detection: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Medium — requires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driver signing bypass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or vulnerable 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80160"/>
            <a:ext cx="2560320" cy="41148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Hypervisor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783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444"/>
                </a:solidFill>
              </a:defRPr>
            </a:pPr>
            <a:r>
              <a:t>Techniques: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Blue Pill concept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Subvert OS entirely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Invisible to guest OS</a:t>
            </a:r>
          </a:p>
          <a:p>
            <a:pPr>
              <a:defRPr sz="400"/>
            </a:pPr>
          </a:p>
          <a:p>
            <a:pPr>
              <a:defRPr sz="900" b="1">
                <a:solidFill>
                  <a:srgbClr val="FF4444"/>
                </a:solidFill>
              </a:defRPr>
            </a:pPr>
            <a:r>
              <a:t>Detection: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High — near impossible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to detect from within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guest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AAAAAA"/>
                </a:solidFill>
              </a:defRPr>
            </a:pPr>
            <a:r>
              <a:t>Bootkit (pre-OS): Modifies boot process (MBR/VBR/UEFI). Examples: BlackLotus (CVE-2022-21894).</a:t>
            </a:r>
          </a:p>
          <a:p>
            <a:pPr>
              <a:spcAft>
                <a:spcPts val="600"/>
              </a:spcAft>
              <a:defRPr sz="1100">
                <a:solidFill>
                  <a:srgbClr val="AAAAAA"/>
                </a:solidFill>
              </a:defRPr>
            </a:pPr>
            <a:r>
              <a:t>Firmware rootkit: Persists in SPI flash (UEFI firmware). Survives OS reinstall and disk replacement.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EDR Evasion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920240" cy="64008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1. Unhook</a:t>
            </a:r>
            <a:br/>
            <a:r>
              <a:t>ntdll.dll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Map fresh ntdll from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disk/KnownDlls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Overwrite hooked copy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371600"/>
            <a:ext cx="1920240" cy="64008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2. Direct</a:t>
            </a:r>
            <a:br/>
            <a:r>
              <a:t>Syscalls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1031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Call Nt* functions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via syscall instruction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Skip ntdll entirely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371600"/>
            <a:ext cx="1920240" cy="64008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3. Indirect</a:t>
            </a:r>
            <a:br/>
            <a:r>
              <a:t>Syscalls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1031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JMP to syscall gadget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in ntdll.dll — looks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like legitimate caller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371600"/>
            <a:ext cx="1920240" cy="64008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4. ETW</a:t>
            </a:r>
            <a:br/>
            <a:r>
              <a:t>Patching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1031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Patch EtwEventWrite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to ret 0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Blind telemetry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94560" y="1600200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389120" y="160020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583679" y="1600200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65760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Additional evasion techniques: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AMSI bypass: Patch AmsiScanBuffer to always return AMSI_RESULT_CLEAN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Callback removal: Enumerate and remove PsSetCreateProcessNotifyRoutine callbacks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PPL bypass: Exploit vulnerable signed drivers to inject into protected processes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Kernel callback table: Modify PspNotifyEnableMask to disable kernel notifications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Hardware breakpoints: Use debug registers for hooking without patching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ETW Architecture &amp; Patching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828800" cy="54864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Provider</a:t>
            </a:r>
            <a:br/>
            <a:r>
              <a:t>(Application)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03120" y="1554480"/>
            <a:ext cx="64008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1828800" cy="54864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ETW Session</a:t>
            </a:r>
            <a:br/>
            <a:r>
              <a:t>(Kernel Buffer)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554480"/>
            <a:ext cx="64008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0" y="1371600"/>
            <a:ext cx="1828800" cy="5486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Consumer</a:t>
            </a:r>
            <a:br/>
            <a:r>
              <a:t>(EDR/Sysmon)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40880" y="1554480"/>
            <a:ext cx="45719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79" y="1371600"/>
            <a:ext cx="1280160" cy="54864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Detection</a:t>
            </a:r>
            <a:br/>
            <a:r>
              <a:t>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377440"/>
            <a:ext cx="1828800" cy="45720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PATCH POINT</a:t>
            </a:r>
            <a:br/>
            <a:r>
              <a:t>EtwEventWrite → ret 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566160" y="1920240"/>
            <a:ext cx="182880" cy="457200"/>
          </a:xfrm>
          <a:prstGeom prst="down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108960"/>
            <a:ext cx="8412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Event Tracing for Windows (ETW) is the primary telemetry pipeline for EDR products.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Providers emit events → kernel routes to sessions → consumers (EDR) process events.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ETW patching: The attacker patches ntdll!EtwEventWrite in their process to immediately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return 0 (success) without actually writing any events. This blinds per-process ETW providers.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Patch (x64): mov eax, 0; ret (B8 00 00 00 00 C3) at EtwEventWrite entry point.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Newer evasion: Patch NtTraceEvent in ntdll to bypass kernel-mode ETW consumers.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Detection: Monitor for memory modifications to ETW-related functions.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Kernel ETW providers (Microsoft-Windows-Threat-Intelligence) are harder to patch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because they run in kernel space — requires vulnerable driver exploit.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BB86FC"/>
                </a:solidFill>
              </a:defRPr>
            </a:pPr>
            <a:r>
              <a:t>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Reverse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926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Static analysis, dynamic analysis, firmware RE,</a:t>
            </a:r>
            <a:br/>
            <a:r>
              <a:t>tooling comparison and methodologies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743200"/>
            <a:ext cx="4572000" cy="25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Static Analysis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554480" cy="54864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File ID &amp;</a:t>
            </a:r>
            <a:br/>
            <a:r>
              <a:t>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0116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file, binwalk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DIE, PEiD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Entropy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371600"/>
            <a:ext cx="1554480" cy="54864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Disassembly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0116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IDA Pro, Ghidra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Linear vs recursive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descent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371600"/>
            <a:ext cx="1554480" cy="5486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Decompilation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Hex-Rays, Ghidra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decompiler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Pseudocode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71600"/>
            <a:ext cx="1554480" cy="54864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String &amp;</a:t>
            </a:r>
            <a:br/>
            <a:r>
              <a:t>Import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0116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FLOSS, strings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Import table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API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371600"/>
            <a:ext cx="1554480" cy="54864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Pattern</a:t>
            </a:r>
            <a:br/>
            <a:r>
              <a:t>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0116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YARA rules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ssdeep/TLSH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Code similarity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828800" y="155448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3657600" y="155448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486400" y="155448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315200" y="1554480"/>
            <a:ext cx="18287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291840"/>
            <a:ext cx="8412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Key static analysis indicators: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High entropy sections → packed/encrypted payload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Imports: VirtualAlloc + WriteProcessMemory + CreateRemoteThread → injection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Imports: CryptEncrypt + InternetOpen → ransomware/C2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Anti-analysis: IsDebuggerPresent, NtQueryInformationProcess, CPUID checks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Ghidra scripting (Java/Python) for automated analysis and IOC extraction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Dynamic Analysis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743200" cy="45720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Malware Sample</a:t>
            </a:r>
          </a:p>
        </p:txBody>
      </p:sp>
      <p:sp>
        <p:nvSpPr>
          <p:cNvPr id="5" name="Down Arrow 4"/>
          <p:cNvSpPr/>
          <p:nvPr/>
        </p:nvSpPr>
        <p:spPr>
          <a:xfrm>
            <a:off x="1554480" y="1828800"/>
            <a:ext cx="182880" cy="457200"/>
          </a:xfrm>
          <a:prstGeom prst="down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2286000"/>
            <a:ext cx="2743200" cy="22860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Analysis VM</a:t>
            </a:r>
            <a:br/>
            <a:br/>
            <a:r>
              <a:t>• API hooking (Detours/Frida)</a:t>
            </a:r>
            <a:br/>
            <a:r>
              <a:t>• Syscall tracing</a:t>
            </a:r>
            <a:br/>
            <a:r>
              <a:t>• Network capture</a:t>
            </a:r>
            <a:br/>
            <a:r>
              <a:t>• Registry monitoring</a:t>
            </a:r>
            <a:br/>
            <a:r>
              <a:t>• File I/O tracking</a:t>
            </a:r>
            <a:br/>
            <a:r>
              <a:t>• Memory dumps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371600"/>
            <a:ext cx="2286000" cy="45720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Network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03120"/>
            <a:ext cx="2286000" cy="36576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FakeDNS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560320"/>
            <a:ext cx="2286000" cy="36576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INetSim (HTTP/SMTP)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017520"/>
            <a:ext cx="2286000" cy="36576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Remnux (full suite)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17520" y="2194560"/>
            <a:ext cx="640080" cy="18288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468880" cy="45720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Analysis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03120"/>
            <a:ext cx="2468880" cy="36576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Behavioral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560320"/>
            <a:ext cx="2468880" cy="36576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Network IOCs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017520"/>
            <a:ext cx="2468880" cy="36576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YARA signatures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474720"/>
            <a:ext cx="2468880" cy="36576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MITRE ATT&amp;CK mapping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43600" y="2194560"/>
            <a:ext cx="457200" cy="18288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38912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Sandboxes: Cuckoo/CAPE, ANY.RUN (interactive), Joe Sandbox, VMRay (hypervisor-based).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Debuggers: x64dbg/OllyDbg (Windows), GDB+GEF/PEDA (Linux), Frida (cross-platform hooking).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Anti-sandbox: CPUID leaf check, timing attacks, mouse movement, disk size, MAC address OUI.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Countermeasure: Pafish detection → configure VMs to mimic real hardware.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Firmware Extraction &amp; Analysis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828800" cy="45720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Acquire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• Download update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UART/JTAG dump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Chip-off (SPI/eMMC)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828800" cy="45720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Unpack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• binwalk -Me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unsquashfs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ubi_reader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jefferson (JFFS2)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1828800" cy="45720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Analyze 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• Find configs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Extract keys/certs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/etc/shadow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hardcoded creds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1828800" cy="45720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RE Binaries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• Ghidra (MIPS/ARM)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Function ID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String refs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Crypto constants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03120" y="1508760"/>
            <a:ext cx="18288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114800" y="1508760"/>
            <a:ext cx="18288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126480" y="1508760"/>
            <a:ext cx="18288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47472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Emulation: QEMU user-mode (single binary) or system-mode (full firmware).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Firmware Analysis Toolkit (FAT), FirmAE for automated QEMU emulation.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Common vulnerabilities: command injection in web interfaces (busybox ash),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hardcoded credentials, unencrypted firmware updates, debug interfaces left enabled.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Cross-ref: Domain 17C (PCB RE for physical access), Domain 17D (JTAG/SWD extraction).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Reverse Engineering Tools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D700"/>
                </a:solidFill>
              </a:defRPr>
            </a:pPr>
            <a:r>
              <a:t>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926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Symmetric/asymmetric primitives, TLS 1.3, Kerberos,</a:t>
            </a:r>
            <a:br/>
            <a:r>
              <a:t>NTLM, post-quantum, protocol attacks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743200"/>
            <a:ext cx="45720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Symmetric vs. Asymmetric Encryption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840480" cy="45720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SYMMETRIC (Shared Key)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• AES-256 (GCM/CTR): standard block cipher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• ChaCha20-Poly1305: stream cipher (mobile/IoT)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• Speed: ~1 GB/s (AES-NI hardware acceleration)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• Key distribution problem: both parties need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• Use: bulk data encryption, disk encryption, TLS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280160"/>
            <a:ext cx="3840480" cy="45720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ASYMMETRIC (Public/Private Key)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• RSA-2048/4096: factoring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• ECDSA/ECDH (P-256, Curve25519): ECC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• Speed: ~1000x slower than symmetric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• Solves key distribution (public key exchange)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• Use: key exchange, digital signatures, TLS handshake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Hybrid approach (used everywhere): Asymmetric for key exchange → symmetric for data encryption.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TLS handshake: ECDHE key agreement → derive session key → AES-GCM for application data.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Hash functions: SHA-256, SHA-3, BLAKE3 (fastest). Used for integrity, MACs, key derivation.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MAC: HMAC-SHA256, Poly1305. Provides authentication + integrity.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TLS 1.3 Handshake (1-RTT)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011680" cy="45720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71600"/>
            <a:ext cx="2011680" cy="45720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SERVER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86000" y="2057400"/>
            <a:ext cx="43891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828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D4FF"/>
                </a:solidFill>
              </a:defRPr>
            </a:pPr>
            <a:r>
              <a:t>ClientHello + key_share (ECDHE)</a:t>
            </a:r>
          </a:p>
        </p:txBody>
      </p:sp>
      <p:sp>
        <p:nvSpPr>
          <p:cNvPr id="8" name="Left Arrow 7"/>
          <p:cNvSpPr/>
          <p:nvPr/>
        </p:nvSpPr>
        <p:spPr>
          <a:xfrm>
            <a:off x="2286000" y="2606039"/>
            <a:ext cx="4389120" cy="182880"/>
          </a:xfrm>
          <a:prstGeom prst="lef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377439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FF88"/>
                </a:solidFill>
              </a:defRPr>
            </a:pPr>
            <a:r>
              <a:t>ServerHello + key_share + {EncryptedExts}</a:t>
            </a:r>
          </a:p>
        </p:txBody>
      </p:sp>
      <p:sp>
        <p:nvSpPr>
          <p:cNvPr id="10" name="Left Arrow 9"/>
          <p:cNvSpPr/>
          <p:nvPr/>
        </p:nvSpPr>
        <p:spPr>
          <a:xfrm>
            <a:off x="2286000" y="3154679"/>
            <a:ext cx="4389120" cy="182880"/>
          </a:xfrm>
          <a:prstGeom prst="lef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926079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FF88"/>
                </a:solidFill>
              </a:defRPr>
            </a:pPr>
            <a:r>
              <a:t>{Certificate} + {CertVerify} + {Finished}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86000" y="3703320"/>
            <a:ext cx="43891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34747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D4FF"/>
                </a:solidFill>
              </a:defRPr>
            </a:pPr>
            <a:r>
              <a:t>{Finished}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86000" y="4251960"/>
            <a:ext cx="4389120" cy="18288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4023359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D700"/>
                </a:solidFill>
              </a:defRPr>
            </a:pPr>
            <a:r>
              <a:t>Application Data (encrypted)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84632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TLS 1.3 improvements over 1.2: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1-RTT handshake (vs 2-RTT) — 0-RTT available for resumption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Removed: RSA key exchange, CBC ciphers, RC4, SHA-1, compression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Only AEAD ciphers: AES-128-GCM, AES-256-GCM, ChaCha20-Poly1305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Forward secrecy mandatory (ECDHE/DHE only — no static RSA)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Encrypted handshake: server certificate hidden from passive observers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Kerberos Authentication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371600" cy="45720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371600"/>
            <a:ext cx="1645920" cy="45720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KDC (DC)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1371600" cy="45720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Service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45920" y="2103120"/>
            <a:ext cx="182879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901951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1. AS-REQ: username + timestamp (encrypted with user hash)</a:t>
            </a:r>
          </a:p>
        </p:txBody>
      </p:sp>
      <p:sp>
        <p:nvSpPr>
          <p:cNvPr id="9" name="Left Arrow 8"/>
          <p:cNvSpPr/>
          <p:nvPr/>
        </p:nvSpPr>
        <p:spPr>
          <a:xfrm>
            <a:off x="1645920" y="2651760"/>
            <a:ext cx="1828800" cy="182880"/>
          </a:xfrm>
          <a:prstGeom prst="lef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50591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2. AS-REP: TGT (encrypted with krbtgt hash)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45920" y="3200400"/>
            <a:ext cx="182879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999232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3. TGS-REQ: TGT + SPN of target service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1645920" y="3749039"/>
            <a:ext cx="1828800" cy="182880"/>
          </a:xfrm>
          <a:prstGeom prst="lef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547871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4. TGS-REP: Service Ticket (encrypted with service hash)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645920" y="4297680"/>
            <a:ext cx="182879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096512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5. AP-REQ: Service Ticket → target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02920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AAAAAA"/>
                </a:solidFill>
              </a:defRPr>
            </a:pPr>
            <a:r>
              <a:t>Attack surfaces: AS-REP Roasting (no pre-auth), Kerberoasting (crack service ticket),</a:t>
            </a:r>
          </a:p>
          <a:p>
            <a:pPr>
              <a:spcAft>
                <a:spcPts val="600"/>
              </a:spcAft>
              <a:defRPr sz="1000">
                <a:solidFill>
                  <a:srgbClr val="AAAAAA"/>
                </a:solidFill>
              </a:defRPr>
            </a:pPr>
            <a:r>
              <a:t>Golden Ticket (forge TGT with krbtgt hash), Silver Ticket (forge ST with service hash),</a:t>
            </a:r>
          </a:p>
          <a:p>
            <a:pPr>
              <a:spcAft>
                <a:spcPts val="600"/>
              </a:spcAft>
              <a:defRPr sz="1000">
                <a:solidFill>
                  <a:srgbClr val="AAAAAA"/>
                </a:solidFill>
              </a:defRPr>
            </a:pPr>
            <a:r>
              <a:t>Diamond Ticket (modify legitimate TGT), Sapphire Ticket (S4U2Self + modification).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Kerberoasting Attack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737360" cy="54864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1. Domain</a:t>
            </a:r>
            <a:br/>
            <a:r>
              <a:t>User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0116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Any authenticated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domain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737360" cy="54864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2. Request</a:t>
            </a:r>
            <a:br/>
            <a:r>
              <a:t>Service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0116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TGS-REQ for SPN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(e.g. MSSQLSvc/...)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1737360" cy="5486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3. Receive</a:t>
            </a:r>
            <a:br/>
            <a:r>
              <a:t>Encrypted 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0116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TGS-REP: ticket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enc. with svc hash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1737360" cy="54864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4. Offline</a:t>
            </a:r>
            <a:br/>
            <a:r>
              <a:t>Cracking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hashcat -m 13100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John + rockyou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Rule-based attack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11679" y="1554480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023360" y="155448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035040" y="1554480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200400"/>
            <a:ext cx="8412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Kerberoasting requires NO special privileges — any domain user can request a service ticket.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The ticket is encrypted with the service account's NTLM hash — crackable offline.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Tools: Rubeus (kerberoast), Impacket GetUserSPNs, PowerView Get-DomainSPNTicket.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Detection: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Event ID 4769: Service Ticket requested with RC4 encryption (downgrade from AES)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Anomalous volume of TGS requests from a single user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Honey SPN: decoy service principal that triggers alert on any TGS request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Mitigation: 25+ char passwords on service accounts, gMSA (auto-rotated), AES-only encryption.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NTLM Relay Attack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286000" cy="54864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Victim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Initiates NTLM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authentication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(e.g., via coercion)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371600"/>
            <a:ext cx="2286000" cy="54864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Attacker</a:t>
            </a:r>
            <a:br/>
            <a:r>
              <a:t>(ntlmrelayx)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Intercepts NTLM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challenge-response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Relays to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371600"/>
            <a:ext cx="2286000" cy="5486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Target</a:t>
            </a:r>
            <a:br/>
            <a:r>
              <a:t>(e.g., ADCS)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59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Accepts relayed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credentials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Performs action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0320" y="1554480"/>
            <a:ext cx="457200" cy="182880"/>
          </a:xfrm>
          <a:prstGeom prst="rightArrow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303520" y="1554480"/>
            <a:ext cx="457200" cy="182880"/>
          </a:xfrm>
          <a:prstGeom prst="rightArrow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200400"/>
            <a:ext cx="8412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Coercion methods: PetitPotam (EfsRpcOpenFileRaw), PrinterBug (RpcRemoteFindFirstPrinterChangeNotification),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DFSCoerce, ShadowCoerce — all force a machine to authenticate to attacker-controlled listener.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Relay targets: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ADCS web enrollment (ESC8) → certificate request → domain admin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LDAP → add machine account, modify delegation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SMB → remote code execution on target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Exchange (PrivExchange) → DCSync rights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Defenses: EPA (Extended Protection for Authentication), LDAP signing required,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SMB signing required, ADCS web enrollment disabled or EPA-protected, IPv6 mitigation.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Post-Quantum Cryptography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Common Cryptographic Attack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560320" cy="50292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Padding Oracle</a:t>
            </a:r>
            <a:br/>
            <a:r>
              <a:t>(CBC)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920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Decrypt ciphertext byte-by-byte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via error oracle (CVE-2014-3566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POODLE, CVE-2016-2107)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2560320" cy="50292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Birthday</a:t>
            </a:r>
            <a:br/>
            <a:r>
              <a:t>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920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Find collision in hash function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with O(2^(n/2)) complexity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Breaks 64-bit MACs/hashes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560320" cy="50292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Meet-in-the-</a:t>
            </a:r>
            <a:br/>
            <a:r>
              <a:t>Middle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920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Break 2DES in O(2^57) vs O(2^112)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Encrypt from one end, decrypt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from other, find 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291840"/>
            <a:ext cx="2560320" cy="50292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Length</a:t>
            </a:r>
            <a:br/>
            <a:r>
              <a:t>Extension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840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Append data to H(secret||msg)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without knowing secret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Affects: MD5, SHA-1, SHA-256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3291840"/>
            <a:ext cx="2560320" cy="50292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Bleichenbacher</a:t>
            </a:r>
            <a:br/>
            <a:r>
              <a:t>(RSA PKCS#1)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840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Decrypt RSA via ~1M chosen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ciphertexts. ROBOT attack on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modern TLS (CVE-2017-13099)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291840"/>
            <a:ext cx="2560320" cy="50292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Downgrade</a:t>
            </a:r>
            <a:br/>
            <a:r>
              <a:t>Attack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40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Force weaker cipher/protocol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LOGJAM (DH-512), FREAK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(export RSA), DROWN (SSLv2)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Cross-Reference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371600" cy="41148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097280"/>
            <a:ext cx="1828800" cy="41148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Code Reuse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143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CFI bypass tied to malware evasion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19"/>
            <a:ext cx="1371600" cy="41148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645919"/>
            <a:ext cx="1828800" cy="41148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Mitigation Bypass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91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Kernel exploit primitives used by rootkits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371600" cy="41148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194560"/>
            <a:ext cx="1828800" cy="41148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Web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40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TLS attacks, JWT manipulation, crypto misuse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1371600" cy="41148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743200"/>
            <a:ext cx="1828800" cy="41148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Malware/Tradecraft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C2 frameworks, EDR evasion, injection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39"/>
            <a:ext cx="1371600" cy="41148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291839"/>
            <a:ext cx="1828800" cy="41148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Reverse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3375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Static/dynamic analysis, firmware 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40480"/>
            <a:ext cx="1371600" cy="41148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3840480"/>
            <a:ext cx="1828800" cy="41148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Cryptography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Protocol attacks, Kerberos, NTLM, PQ crypto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89120"/>
            <a:ext cx="1371600" cy="41148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14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389120"/>
            <a:ext cx="1828800" cy="41148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AD/Windows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Kerberoasting, NTLM relay, ADCS attacks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937760"/>
            <a:ext cx="1371600" cy="41148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17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4937760"/>
            <a:ext cx="1828800" cy="41148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Physical/Hardware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Firmware extraction for RE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