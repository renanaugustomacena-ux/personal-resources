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Mitigation Bypass &amp;</a:t>
            </a:r>
            <a:br/>
            <a:r>
              <a:t>Hardware-Level Attacks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</a:defRPr>
            </a:pPr>
            <a:r>
              <a:t>Domains 4B, 6, 7  ·  Speculative Execution  ·  CFI/PAC/MTE  ·  Cache Side Channels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0" y="3383280"/>
            <a:ext cx="667512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00584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097280" y="12801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1.  Defense-in-Depth Mitigation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7373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2.  Intel CET: Shadow Stack &amp; IBT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3.  ARM PAC &amp; MTE Mechanisms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6517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4.  CFG / XFG / Clang CFI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1089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5.  KASLR &amp; ASLR Bypass Techniques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5661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6.  DEP/W^X Bypass via ROP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0233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7.  Stack Canary &amp; RELRO Bypass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4805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8.  Kernel Mitigation Stack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9377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9.  Spectre &amp; Meltdown Attack Flows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3949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10.  Cache Side-Channel Taxonomy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8521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11.  SGX &amp; Rowhammer Attacks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63093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12.  Microarchitectural Defense Timeline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Defense-in-Depth Mitigation Stack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828800" y="1188720"/>
            <a:ext cx="8229600" cy="5943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CFI / CET / PAC  —  Forward-edge + backward-edge control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901952"/>
            <a:ext cx="8229600" cy="5943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Stack Canaries  —  Buffer overflow detection at function return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615184"/>
            <a:ext cx="8229600" cy="5943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ASLR / KASLR  —  Randomize virtual address layout each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328416"/>
            <a:ext cx="8229600" cy="5943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DEP / W^X / NX  —  Non-executable data pages, non-writable code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041648"/>
            <a:ext cx="8229600" cy="5943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RELRO / FORTIFY  —  GOT hardening, bounds-checked libc functions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754880"/>
            <a:ext cx="8229600" cy="5943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8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Seccomp / Sandboxing  —  Syscall filtering, least privilege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5595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FF"/>
                </a:solidFill>
              </a:defRPr>
            </a:pPr>
            <a:r>
              <a:t>▲  Each layer compensates if the one above is bypassed  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Intel CET — Shadow Stack &amp; IBT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Shadow Stack (Backward-Edge)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18288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CALL instruction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Push return addr to both stacks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103120"/>
            <a:ext cx="18288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RET instruction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Compare shadow vs regular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560320"/>
            <a:ext cx="18288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Mismatch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#CP exception → process killed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017520"/>
            <a:ext cx="18288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Protected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Supervisor shadow stack flag in PTE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8"/>
                </a:solidFill>
              </a:defRPr>
            </a:pPr>
            <a:r>
              <a:t>IBT — Indirect Branch Tracking (Forward-Edge)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645920"/>
            <a:ext cx="201168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Indirect JMP/CALL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Sets TRACKER state machine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103120"/>
            <a:ext cx="201168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Target must start with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ENDBR64 / ENDBR32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560320"/>
            <a:ext cx="201168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Missing ENDBR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#CP exception → process killed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017520"/>
            <a:ext cx="201168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Legacy interop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NOTRACK prefix + LE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700"/>
                </a:solidFill>
              </a:defRPr>
            </a:pPr>
            <a:r>
              <a:t>CET available since Intel Tiger Lake (11th gen, 2020). Requires OS + compiler support. Linux 5.18+, Windows 10+ (Hardware-enforced Stack Protection).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ARM Pointer Authentication (PAC)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1520" y="1371600"/>
            <a:ext cx="164592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Pointer</a:t>
            </a:r>
            <a:br/>
            <a:r>
              <a:t>(48-bit VA)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68880" y="1645920"/>
            <a:ext cx="45720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17520" y="1371600"/>
            <a:ext cx="164592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FF88"/>
                </a:solidFill>
              </a:defRPr>
            </a:pPr>
            <a:r>
              <a:t>PAC Key</a:t>
            </a:r>
            <a:br/>
            <a:r>
              <a:t>(128-bit)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54880" y="1645920"/>
            <a:ext cx="45720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0" y="1371600"/>
            <a:ext cx="164592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QARMA</a:t>
            </a:r>
            <a:br/>
            <a:r>
              <a:t>Cipher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40880" y="1645920"/>
            <a:ext cx="45720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0" y="1371600"/>
            <a:ext cx="164592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BB86FC"/>
                </a:solidFill>
              </a:defRPr>
            </a:pPr>
            <a:r>
              <a:t>PAC Bits</a:t>
            </a:r>
            <a:br/>
            <a:r>
              <a:t>(7-16 bits)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26880" y="1645920"/>
            <a:ext cx="457200" cy="0"/>
          </a:xfrm>
          <a:prstGeom prst="rightArrow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0" y="1371600"/>
            <a:ext cx="164592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4444"/>
                </a:solidFill>
              </a:defRPr>
            </a:pPr>
            <a:r>
              <a:t>Signed</a:t>
            </a:r>
            <a:br/>
            <a:r>
              <a:t>Pointer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64-bit pointer layout:  [PAC bits | upper VA bits | 48-bit virtual address]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Keys: APIAKey, APIBKey, APDAKey, APDBKey, APGAKey  —  5 distinct key families in ARMv8.3+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444"/>
                </a:solidFill>
              </a:defRPr>
            </a:pPr>
            <a:r>
              <a:t>Known Bypass Research: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57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▸ PACMAN (2022): speculative execution to brute-force PAC without crashing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050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▸ ForgePAC: signing gadgets that compute valid PACs from leaked keys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352544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▸ PAC bypass via kernel gadgets: find AUT+BR sequence without check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ARM Memory Tagging Extension (MTE)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188720"/>
            <a:ext cx="27432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Pointer Tag (4-bit)</a:t>
            </a:r>
            <a:br/>
            <a:r>
              <a:t>Stored in top byte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188720"/>
            <a:ext cx="27432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FF88"/>
                </a:solidFill>
              </a:defRPr>
            </a:pPr>
            <a:r>
              <a:t>Memory Tag (4-bit)</a:t>
            </a:r>
            <a:br/>
            <a:r>
              <a:t>Per 16-byte granule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188720"/>
            <a:ext cx="32004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Hardware Compare</a:t>
            </a:r>
            <a:br/>
            <a:r>
              <a:t>Tag match? → proceed</a:t>
            </a:r>
            <a:br/>
            <a:r>
              <a:t>Mismatch? → fault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49039" y="1417320"/>
            <a:ext cx="640081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7406640" y="1417320"/>
            <a:ext cx="6400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286000"/>
            <a:ext cx="22860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Synchronous MTE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286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Immediate fault on tag mismatch. Precise. High overhead (~3-5%)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834640"/>
            <a:ext cx="22860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Asynchronous MTE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34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Deferred reporting via TFSR. Lower overhead (~1-2%). Less precise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383280"/>
            <a:ext cx="22860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Asymmetric MTE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383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Sync for reads, async for writes. Balance precision/performance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MTE detects: heap overflow, use-after-free, double-free, uninitialized memory access.</a:t>
            </a:r>
            <a:br/>
            <a:r>
              <a:t>Pixel 8 = first production device with MTE (2023). Android 14+ supports MTE in userspace.</a:t>
            </a:r>
            <a:br/>
            <a:r>
              <a:t>4-bit tag = 1/16 probability of collision (brute-force requires ~16 attempts on average).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Windows CFG / XFG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188720"/>
            <a:ext cx="201168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Indirect Call</a:t>
            </a:r>
            <a:br/>
            <a:r>
              <a:t>Site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17520" y="1463040"/>
            <a:ext cx="54864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0" y="1188720"/>
            <a:ext cx="201168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FF88"/>
                </a:solidFill>
              </a:defRPr>
            </a:pPr>
            <a:r>
              <a:t>CFG Bitmap</a:t>
            </a:r>
            <a:br/>
            <a:r>
              <a:t>Lookup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60720" y="1463040"/>
            <a:ext cx="54864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201168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Valid Target?</a:t>
            </a:r>
            <a:br/>
            <a:r>
              <a:t>Check bit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503920" y="1463040"/>
            <a:ext cx="54864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0" y="1188720"/>
            <a:ext cx="201168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FF88"/>
                </a:solidFill>
              </a:defRPr>
            </a:pPr>
            <a:r>
              <a:t>Call</a:t>
            </a:r>
            <a:br/>
            <a:r>
              <a:t>Proceeds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CFG (Control Flow Guard): 1-bit per 8-byte aligned address. Coarse-grained.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XFG (Xtended Flow Guard): adds type hash — indirect call must match function prototype.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444"/>
                </a:solidFill>
              </a:defRPr>
            </a:pPr>
            <a:r>
              <a:t>CFG Bypasses: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657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▸ Call existing valid targets (JIT code, longjmp, coroutines)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050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▸ Abuse 8-byte granularity to land at unintended instruction 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5254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▸ Mark writable pages as valid via VirtualAlloc/VirtualProtect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0001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▸ XFG hash collision: find valid target with matching type signature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Clang CFI — Type-Based Control Flow Integrity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188720"/>
            <a:ext cx="2011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cfi-vcall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Virtual call check — vtable pointer must reference valid vtable for the static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2011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cfi-nvcall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37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Non-virtual member call — validate derived class pointer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2011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cfi-derived-cast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Derived cast check — static_cast must be valid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34640"/>
            <a:ext cx="2011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cfi-unrelated-cast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Unrelated cast check — reinterpret_cast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83280"/>
            <a:ext cx="2011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cfi-icall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Indirect call — function pointer must match expected signature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Requires LTO (Link-Time Optimization) for cross-module enforcement.</a:t>
            </a:r>
            <a:br/>
            <a:r>
              <a:t>Android uses Clang CFI for kernel (KCFI) since Android 13.</a:t>
            </a:r>
            <a:br/>
            <a:r>
              <a:t>Bypass: type confusion within same CFI equivalence class.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KASLR Bypass Techniques — Comparison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ASLR Entropy Comparison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DEP / W^X Bypass via ROP Chain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280160"/>
            <a:ext cx="18288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Buffer</a:t>
            </a:r>
            <a:br/>
            <a:r>
              <a:t>Overflow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Corrupt return address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77440" y="1554480"/>
            <a:ext cx="36576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0" y="1280160"/>
            <a:ext cx="18288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Gadget 1:</a:t>
            </a:r>
            <a:br/>
            <a:r>
              <a:t>pop rdi; ret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Load /bin/sh address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663440" y="1554480"/>
            <a:ext cx="36576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0" y="1280160"/>
            <a:ext cx="18288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Gadget 2:</a:t>
            </a:r>
            <a:br/>
            <a:r>
              <a:t>pop rsi; 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Set argv = NULL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949440" y="1554480"/>
            <a:ext cx="36576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0" y="1280160"/>
            <a:ext cx="18288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Gadget 3:</a:t>
            </a:r>
            <a:br/>
            <a:r>
              <a:t>pop rdx; ret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Set envp = NULL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235440" y="1554480"/>
            <a:ext cx="36576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0" y="1280160"/>
            <a:ext cx="18288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execve</a:t>
            </a:r>
            <a:br/>
            <a:r>
              <a:t>syscall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Execute shell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9260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ROP works because DEP only prevents execution of data — existing code (gadgets) is still executable.</a:t>
            </a:r>
            <a:br/>
            <a:br/>
            <a:r>
              <a:t>Advanced variants:</a:t>
            </a:r>
            <a:br/>
            <a:r>
              <a:t>▸ JOP (Jump-Oriented Programming): uses indirect jumps, no return instructions</a:t>
            </a:r>
            <a:br/>
            <a:r>
              <a:t>▸ SROP (Sigreturn-Oriented Programming): single sigreturn gadget → control all registers</a:t>
            </a:r>
            <a:br/>
            <a:r>
              <a:t>▸ BROP (Blind ROP): brute-force gadgets over network without binary access</a:t>
            </a:r>
            <a:br/>
            <a:r>
              <a:t>▸ ret2dlresolve: forge relocation entries to resolve arbitrary library functions</a:t>
            </a:r>
            <a:br/>
            <a:br/>
            <a:r>
              <a:t>Countered by: CET shadow stack (ROP), IBT (JOP), CFI (both), ASLR (all — raises cost)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Stack Canary Bypass Methods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188720"/>
            <a:ext cx="256032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Information Leak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Read canary via format string (%p), out-of-bounds read, or /proc/self/mem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256032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Byte-by-Byte Brute 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7373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Fork-based servers: child inherits canary → try 256 values per byte × 8 bytes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256032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Overwrite Past Canary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286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Corrupt function pointer or local variable before canary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34640"/>
            <a:ext cx="256032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Canary-less Functions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8346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Small functions, leaf functions may not have canaries (-fno-stack-protector)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83280"/>
            <a:ext cx="256032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Thread-Local Bypass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383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Overwrite __stack_chk_guard in TLS (adjacent to stack on some archs)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31920"/>
            <a:ext cx="256032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8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8080FF"/>
                </a:solidFill>
              </a:defRPr>
            </a:pPr>
            <a:r>
              <a:t>Signal Handler Abuse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931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Trigger signal before __stack_chk_fail → hijack execution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RELRO Bypass Techniques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188720"/>
            <a:ext cx="5029200" cy="5486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D700"/>
                </a:solidFill>
              </a:defRPr>
            </a:pPr>
            <a:r>
              <a:t>Partial RELRO  (gcc default)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▸ .got → read-only (non-PLT GOT entries)</a:t>
            </a:r>
            <a:br/>
            <a:r>
              <a:t>▸ .got.plt → still WRITABLE</a:t>
            </a:r>
            <a:br/>
            <a:r>
              <a:t>▸ Attacker: overwrite .got.plt entries</a:t>
            </a:r>
            <a:br/>
            <a:r>
              <a:t>▸ Bypass: any arbitrary write primitive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5486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00FF88"/>
                </a:solidFill>
              </a:defRPr>
            </a:pPr>
            <a:r>
              <a:t>Full RELRO  (-z now)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▸ All GOT entries resolved at load time</a:t>
            </a:r>
            <a:br/>
            <a:r>
              <a:t>▸ Entire .got and .got.plt → read-only</a:t>
            </a:r>
            <a:br/>
            <a:r>
              <a:t>▸ Attacker: cannot overwrite GOT</a:t>
            </a:r>
            <a:br/>
            <a:r>
              <a:t>▸ Bypass: __free_hook, __malloc_hook (removed glibc 2.34+),</a:t>
            </a:r>
            <a:br/>
            <a:r>
              <a:t>   ld.so internal structures, or target non-GOT pointers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Post-glibc 2.34 landscape: hooks removed, Full RELRO + PIE standard.</a:t>
            </a:r>
            <a:br/>
            <a:r>
              <a:t>Modern bypass targets: _IO_FILE vtable corruption (FSOP), TLS-DTV, ld.so _r_debug,</a:t>
            </a:r>
            <a:br/>
            <a:r>
              <a:t>exit handlers (__exit_funcs), custom allocator metadata.</a:t>
            </a:r>
            <a:br/>
            <a:br/>
            <a:r>
              <a:t>Detection: checksec (pwntools), readelf -l (GNU_RELRO segment), readelf -d (BIND_NOW flag).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Linux Kernel Mitigation Stack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097280"/>
            <a:ext cx="16459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KASLR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0972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Randomize kernel base by up to 1GB (x86_64). ~9 bits entropy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16459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SMEP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6002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Supervisor Mode Execution Prevention — no exec of userspace code from ring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03120"/>
            <a:ext cx="16459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SMAP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03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Supervisor Mode Access Prevention — no read/write userspace from ring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06040"/>
            <a:ext cx="16459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KPTI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060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Kernel Page Table Isolation — separate page tables for user/kernel (Meltdown fix)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108960"/>
            <a:ext cx="16459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KCFI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089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Kernel CFI — Clang's type-based CFI for indirect calls in kernel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11880"/>
            <a:ext cx="16459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8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8080FF"/>
                </a:solidFill>
              </a:defRPr>
            </a:pPr>
            <a:r>
              <a:t>Stack Protector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6118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Per-task canary, __stack_chk_guard in task_struct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114800"/>
            <a:ext cx="16459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RANDSTRUCT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114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Randomize layout of sensitive kernel structs at compile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617720"/>
            <a:ext cx="16459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Hardened Usercopy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6177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Validate user ↔ kernel copy bounds against slab metadata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</a:defRPr>
            </a:pPr>
            <a:r>
              <a:t>Speculative Execution &amp;</a:t>
            </a:r>
            <a:br/>
            <a:r>
              <a:t>Hardware Attacks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0" y="3840480"/>
            <a:ext cx="4846320" cy="0"/>
          </a:xfrm>
          <a:prstGeom prst="line">
            <a:avLst/>
          </a:prstGeom>
          <a:ln w="19050">
            <a:solidFill>
              <a:srgbClr val="BB86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Spectre v1 — Bounds Check Bypass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280160"/>
            <a:ext cx="182880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Attacker trains</a:t>
            </a:r>
            <a:br/>
            <a:r>
              <a:t>branch predictor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77440" y="1600200"/>
            <a:ext cx="27432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1280160"/>
            <a:ext cx="182880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Victim executes</a:t>
            </a:r>
            <a:br/>
            <a:r>
              <a:t>bounds check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663440" y="1600200"/>
            <a:ext cx="27432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0" y="1280160"/>
            <a:ext cx="182880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Speculative</a:t>
            </a:r>
            <a:br/>
            <a:r>
              <a:t>OOB access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949440" y="1600200"/>
            <a:ext cx="27432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0" y="1280160"/>
            <a:ext cx="182880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Data-dependent</a:t>
            </a:r>
            <a:br/>
            <a:r>
              <a:t>cache load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35440" y="1600200"/>
            <a:ext cx="27432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0" y="1280160"/>
            <a:ext cx="182880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Flush+Reload</a:t>
            </a:r>
            <a:br/>
            <a:r>
              <a:t>recovers secret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if (x &lt; array1_size)  →  y = array2[array1[x] * 256]</a:t>
            </a:r>
            <a:br/>
            <a:br/>
            <a:r>
              <a:t>Speculative window: CPU executes past branch before branch resolves.</a:t>
            </a:r>
            <a:br/>
            <a:r>
              <a:t>Even though result is architecturally discarded, cache state persists.</a:t>
            </a:r>
            <a:br/>
            <a:br/>
            <a:r>
              <a:t>Mitigations:</a:t>
            </a:r>
            <a:br/>
            <a:r>
              <a:t>▸ lfence / speculation barrier after bounds check</a:t>
            </a:r>
            <a:br/>
            <a:r>
              <a:t>▸ Array index masking (x &amp; (size-1))</a:t>
            </a:r>
            <a:br/>
            <a:r>
              <a:t>▸ Retpoline (Spectre v2 — indirect branch)</a:t>
            </a:r>
            <a:br/>
            <a:r>
              <a:t>▸ IBRS / STIBP / IBPB (microcode-level)</a:t>
            </a:r>
            <a:br/>
            <a:r>
              <a:t>▸ BHI_DIS_S, RRSBA mitigation (newer variants)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Meltdown — Rogue Data Cache Load (CVE-2017-5754)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280160"/>
            <a:ext cx="18288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Userspace</a:t>
            </a:r>
            <a:br/>
            <a:r>
              <a:t>process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77440" y="1554480"/>
            <a:ext cx="27432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1280160"/>
            <a:ext cx="18288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Access kernel</a:t>
            </a:r>
            <a:br/>
            <a:r>
              <a:t>memory (faults)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663440" y="1554480"/>
            <a:ext cx="27432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0" y="1280160"/>
            <a:ext cx="18288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CPU speculatively</a:t>
            </a:r>
            <a:br/>
            <a:r>
              <a:t>loads value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949440" y="1554480"/>
            <a:ext cx="27432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0" y="1280160"/>
            <a:ext cx="18288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Use value as</a:t>
            </a:r>
            <a:br/>
            <a:r>
              <a:t>cache oracle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35440" y="1554480"/>
            <a:ext cx="27432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0" y="1280160"/>
            <a:ext cx="18288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Recover byte</a:t>
            </a:r>
            <a:br/>
            <a:r>
              <a:t>via timing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Exploits the race between permission check and speculative execution.</a:t>
            </a:r>
            <a:br/>
            <a:r>
              <a:t>Kernel virtual memory mapped into every process (for syscall performance).</a:t>
            </a:r>
            <a:br/>
            <a:r>
              <a:t>Out-of-order execution reads kernel data before fault is raised.</a:t>
            </a:r>
            <a:br/>
            <a:br/>
            <a:r>
              <a:t>Impact: Read arbitrary kernel memory from userspace at ~500 KB/s.</a:t>
            </a:r>
            <a:br/>
            <a:r>
              <a:t>Affected: Intel (most pre-2019), some ARM. AMD largely unaffected.</a:t>
            </a:r>
            <a:br/>
            <a:br/>
            <a:r>
              <a:t>Fix: KPTI (Kernel Page Table Isolation) — separate page tables for user/kernel.</a:t>
            </a:r>
            <a:br/>
            <a:r>
              <a:t>Performance cost: 5-30% depending on syscall frequency.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Spectre / Meltdown Variant Landscape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</a:defRPr>
            </a:pPr>
            <a:r>
              <a:t>Variant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</a:defRPr>
            </a:pPr>
            <a:r>
              <a:t>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</a:defRPr>
            </a:pPr>
            <a:r>
              <a:t>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</a:defRPr>
            </a:pPr>
            <a:r>
              <a:t>Primary Mitigation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1463040"/>
            <a:ext cx="10698480" cy="0"/>
          </a:xfrm>
          <a:prstGeom prst="line">
            <a:avLst/>
          </a:prstGeom>
          <a:ln w="19050">
            <a:solidFill>
              <a:srgbClr val="333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Spectre v1 (BCB)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508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2018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508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Bounds Check Bypass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508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lfence, masking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28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Spectre v2 (BTI)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2018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828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Branch Target 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Retpoline, IBRS, eIBRS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148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Meltdown (RDCL)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148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2018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Rogue Data Cache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148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KPTI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468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Spectre v4 (SSB)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468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2018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468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Speculative Store Bypass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468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SSBD bit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788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MDS/RIDL/Fallout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2788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2019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788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Microarch Data Sampling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2788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Verw, buffer overwrite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LVI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108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2020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Load Value Injection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lfence everywhere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429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Retbleed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429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2022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Return prediction bypass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3429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IBPB, eIBRS+retpoline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3749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Downfall (GDS)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3749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2023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3749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Gather Data Sampling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3749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Microcode update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0690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Inception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4069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2023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4069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Phantom speculation (AMD)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4069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Safe RET, IBPB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389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BHI (Spectre-BHB)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4389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2024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4389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Branch History Injection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4389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BHI_DIS_S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Cache Side-Channel Taxonomy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188720"/>
            <a:ext cx="2011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Flush+Reload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Shared memory. Flush target line → victim executes → time reload. Precise, cross-core.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2011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FF88"/>
                </a:solidFill>
              </a:defRPr>
            </a:pPr>
            <a:r>
              <a:t>Prime+Probe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37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No shared memory needed. Fill cache set → victim evicts → probe for eviction. Noisier.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2011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Evict+Reload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Like Flush+Reload but uses eviction instead of clflush. Works without clflush.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34640"/>
            <a:ext cx="2011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4444"/>
                </a:solidFill>
              </a:defRPr>
            </a:pPr>
            <a:r>
              <a:t>Flush+Flush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Measure clflush time itself (cached vs uncached). Stealthier — no memory access.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83280"/>
            <a:ext cx="201168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BB86FC"/>
                </a:solidFill>
              </a:defRPr>
            </a:pPr>
            <a:r>
              <a:t>Cache Occupancy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Monitor total cache pressure. Coarse-grained. Used for keystroke timing.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All exploit timing differences between cache hit (~4 cycles) and cache miss (~200+ cycles).</a:t>
            </a:r>
            <a:br/>
            <a:r>
              <a:t>Flush+Reload requires shared pages (dedup, shared libs) — most precise at ~byte granularity.</a:t>
            </a:r>
            <a:br/>
            <a:r>
              <a:t>Prime+Probe works across VMs (L3 cache shared) — used in cloud cross-tenant attacks.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Intel SGX — Enclave Attack Surface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114800" y="1188720"/>
            <a:ext cx="36576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00FF88"/>
                </a:solidFill>
              </a:defRPr>
            </a:pPr>
            <a:r>
              <a:t>SGX Enclave</a:t>
            </a:r>
            <a:br/>
            <a:r>
              <a:t>(Encrypted Memory Region)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27432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Controlled-Channel</a:t>
            </a:r>
            <a:br/>
            <a:r>
              <a:t>(Page Fault)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560320"/>
            <a:ext cx="27432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SGAxe / CacheOut</a:t>
            </a:r>
            <a:br/>
            <a:r>
              <a:t>(L1D Eviction)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560320"/>
            <a:ext cx="27432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Plundervolt</a:t>
            </a:r>
            <a:br/>
            <a:r>
              <a:t>(Voltage Glitch)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40480"/>
            <a:ext cx="27432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SmashEx</a:t>
            </a:r>
            <a:br/>
            <a:r>
              <a:t>(Async Exception)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840480"/>
            <a:ext cx="27432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Enclave Interface</a:t>
            </a:r>
            <a:br/>
            <a:r>
              <a:t>(ECALL Fuzzing)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840480"/>
            <a:ext cx="27432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AEX-Notify</a:t>
            </a:r>
            <a:br/>
            <a:r>
              <a:t>(Interrupt Storm)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700"/>
                </a:solidFill>
              </a:defRPr>
            </a:pPr>
            <a:r>
              <a:t>SGX deprecated on 12th+ gen Intel (Alder Lake). Replaced by TDX for VM-level confidential computing.</a:t>
            </a:r>
            <a:br/>
            <a:r>
              <a:t>Key lesson: hardware isolation without side-channel resistance is insufficient.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Rowhammer — DRAM Disturbance Attack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280160"/>
            <a:ext cx="22860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4444"/>
                </a:solidFill>
              </a:defRPr>
            </a:pPr>
            <a:r>
              <a:t>Aggressor Row</a:t>
            </a:r>
            <a:br/>
            <a:r>
              <a:t>Repeated Access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91840" y="1554480"/>
            <a:ext cx="36576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49040" y="1280160"/>
            <a:ext cx="22860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Charge Leakage</a:t>
            </a:r>
            <a:br/>
            <a:r>
              <a:t>→ Adjacent Rows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126480" y="1554480"/>
            <a:ext cx="36576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0" y="1280160"/>
            <a:ext cx="22860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BB86FC"/>
                </a:solidFill>
              </a:defRPr>
            </a:pPr>
            <a:r>
              <a:t>Bit Flip in</a:t>
            </a:r>
            <a:br/>
            <a:r>
              <a:t>Victim Row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961120" y="1554480"/>
            <a:ext cx="365760" cy="0"/>
          </a:xfrm>
          <a:prstGeom prst="rightArrow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18320" y="1280160"/>
            <a:ext cx="22860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FF88"/>
                </a:solidFill>
              </a:defRPr>
            </a:pPr>
            <a:r>
              <a:t>Exploit:</a:t>
            </a:r>
            <a:br/>
            <a:r>
              <a:t>PTE Manipulation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DRAM cells store bits as charge in capacitors. Repeated row activations cause charge leakage</a:t>
            </a:r>
            <a:br/>
            <a:r>
              <a:t>into physically adjacent rows, flipping bits in victim rows.</a:t>
            </a:r>
            <a:br/>
            <a:br/>
            <a:r>
              <a:t>Exploitation: flip PTE bits → gain write access to page table → arbitrary kernel R/W.</a:t>
            </a:r>
            <a:br/>
            <a:r>
              <a:t>Variants: single-sided, double-sided, one-location, TRRespass, Half-Double, Blacksmith.</a:t>
            </a:r>
            <a:br/>
            <a:br/>
            <a:r>
              <a:t>Mitigations:</a:t>
            </a:r>
            <a:br/>
            <a:r>
              <a:t>▸ ECC RAM (detects single-bit, corrects — but multiple flips bypass)</a:t>
            </a:r>
            <a:br/>
            <a:r>
              <a:t>▸ TRR (Target Row Refresh) — hardware mitigation, repeatedly bypassed</a:t>
            </a:r>
            <a:br/>
            <a:r>
              <a:t>▸ LPDDR5 / DDR5: per-row refresh counters, RFM (Refresh Management)</a:t>
            </a:r>
            <a:br/>
            <a:r>
              <a:t>▸ Software: memory isolation, guard rows, DRAMA-based detection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Microarchitectural Attack &amp; Defense Timeline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Cross-Reference 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18872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1-2: ELF/PE binary formats → understanding PLT/GOT for RELRO bypass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3: Stack/heap corruption → the vulnerability classes these mitigations address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4A: ROP/JOP/SROP — the code reuse attacks CET/PAC/CFI are designed to stop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9748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5: Kernel exploitation → SMEP/SMAP/KPTI are the kernel-side mitigations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0040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6B: Kernel mitigation bypass — extends this presentation with KASLR/kCFI specifics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0332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11: EDR evasion → attackers bypass these mitigations in practice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0624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14: Windows enterprise — CFG/XFG are the Windows-specific implementations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0916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26: Vuln research — exploit developers must defeat these mitigations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