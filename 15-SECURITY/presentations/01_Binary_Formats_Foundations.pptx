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  <p:sldId id="269" r:id="rId20"/>
    <p:sldId id="270" r:id="rId21"/>
    <p:sldId id="271" r:id="rId22"/>
    <p:sldId id="272" r:id="rId23"/>
    <p:sldId id="273" r:id="rId24"/>
    <p:sldId id="274" r:id="rId25"/>
    <p:sldId id="275" r:id="rId26"/>
    <p:sldId id="276" r:id="rId27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Relationship Id="rId19" Type="http://schemas.openxmlformats.org/officeDocument/2006/relationships/slide" Target="slides/slide13.xml"/><Relationship Id="rId20" Type="http://schemas.openxmlformats.org/officeDocument/2006/relationships/slide" Target="slides/slide14.xml"/><Relationship Id="rId21" Type="http://schemas.openxmlformats.org/officeDocument/2006/relationships/slide" Target="slides/slide15.xml"/><Relationship Id="rId22" Type="http://schemas.openxmlformats.org/officeDocument/2006/relationships/slide" Target="slides/slide16.xml"/><Relationship Id="rId23" Type="http://schemas.openxmlformats.org/officeDocument/2006/relationships/slide" Target="slides/slide17.xml"/><Relationship Id="rId24" Type="http://schemas.openxmlformats.org/officeDocument/2006/relationships/slide" Target="slides/slide18.xml"/><Relationship Id="rId25" Type="http://schemas.openxmlformats.org/officeDocument/2006/relationships/slide" Target="slides/slide19.xml"/><Relationship Id="rId26" Type="http://schemas.openxmlformats.org/officeDocument/2006/relationships/slide" Target="slides/slide20.xml"/><Relationship Id="rId27" Type="http://schemas.openxmlformats.org/officeDocument/2006/relationships/slide" Target="slides/slide21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21224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914400" y="3108960"/>
            <a:ext cx="7315200" cy="38100"/>
          </a:xfrm>
          <a:prstGeom prst="rect">
            <a:avLst/>
          </a:prstGeom>
          <a:solidFill>
            <a:srgbClr val="00D4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1371600"/>
            <a:ext cx="8229600" cy="1645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3800" b="1">
                <a:solidFill>
                  <a:srgbClr val="FFFFFF"/>
                </a:solidFill>
                <a:latin typeface="Calibri"/>
              </a:defRPr>
            </a:pPr>
            <a:r>
              <a:t>Binary Formats &amp;</a:t>
            </a:r>
            <a:br/>
            <a:r>
              <a:t>Low-Level Foundations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3383280"/>
            <a:ext cx="822960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800" b="0">
                <a:solidFill>
                  <a:srgbClr val="00D4FF"/>
                </a:solidFill>
                <a:latin typeface="Calibri"/>
              </a:defRPr>
            </a:pPr>
            <a:r>
              <a:t>Domains 1–2: ELF, PE/COFF, Process Memory, OS Primitives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5943600"/>
            <a:ext cx="82296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100" b="0">
                <a:solidFill>
                  <a:srgbClr val="444455"/>
                </a:solidFill>
                <a:latin typeface="Calibri"/>
              </a:defRPr>
            </a:pPr>
            <a:r>
              <a:t>Enterprise Security Reference Library — 2025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21224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82296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800" b="1">
                <a:solidFill>
                  <a:srgbClr val="FFFFFF"/>
                </a:solidFill>
                <a:latin typeface="Calibri"/>
              </a:defRPr>
            </a:pPr>
            <a:r>
              <a:t>Agenda</a:t>
            </a:r>
          </a:p>
        </p:txBody>
      </p:sp>
      <p:sp>
        <p:nvSpPr>
          <p:cNvPr id="3" name="Rectangle 2"/>
          <p:cNvSpPr/>
          <p:nvPr/>
        </p:nvSpPr>
        <p:spPr>
          <a:xfrm>
            <a:off x="457200" y="914400"/>
            <a:ext cx="8229600" cy="25400"/>
          </a:xfrm>
          <a:prstGeom prst="rect">
            <a:avLst/>
          </a:prstGeom>
          <a:solidFill>
            <a:srgbClr val="00D4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457200" y="1188720"/>
            <a:ext cx="457200" cy="365760"/>
          </a:xfrm>
          <a:prstGeom prst="rect">
            <a:avLst/>
          </a:prstGeom>
          <a:solidFill>
            <a:srgbClr val="00D4FF"/>
          </a:solidFill>
          <a:ln w="19050">
            <a:solidFill>
              <a:srgbClr val="00D4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100" b="1">
                <a:solidFill>
                  <a:srgbClr val="121224"/>
                </a:solidFill>
              </a:defRPr>
            </a:pPr>
            <a:r>
              <a:t>1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97280" y="1188720"/>
            <a:ext cx="73152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0">
                <a:solidFill>
                  <a:srgbClr val="FFFFFF"/>
                </a:solidFill>
                <a:latin typeface="Calibri"/>
              </a:defRPr>
            </a:pPr>
            <a:r>
              <a:t>ELF Binary Format — Structure &amp; Internals</a:t>
            </a:r>
          </a:p>
        </p:txBody>
      </p:sp>
      <p:sp>
        <p:nvSpPr>
          <p:cNvPr id="6" name="Rectangle 5"/>
          <p:cNvSpPr/>
          <p:nvPr/>
        </p:nvSpPr>
        <p:spPr>
          <a:xfrm>
            <a:off x="457200" y="1645920"/>
            <a:ext cx="457200" cy="365760"/>
          </a:xfrm>
          <a:prstGeom prst="rect">
            <a:avLst/>
          </a:prstGeom>
          <a:solidFill>
            <a:srgbClr val="00D4FF"/>
          </a:solidFill>
          <a:ln w="19050">
            <a:solidFill>
              <a:srgbClr val="00D4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100" b="1">
                <a:solidFill>
                  <a:srgbClr val="121224"/>
                </a:solidFill>
              </a:defRPr>
            </a:pPr>
            <a:r>
              <a:t>2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97280" y="1645920"/>
            <a:ext cx="73152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0">
                <a:solidFill>
                  <a:srgbClr val="FFFFFF"/>
                </a:solidFill>
                <a:latin typeface="Calibri"/>
              </a:defRPr>
            </a:pPr>
            <a:r>
              <a:t>ELF Loading &amp; Dynamic Linking</a:t>
            </a:r>
          </a:p>
        </p:txBody>
      </p:sp>
      <p:sp>
        <p:nvSpPr>
          <p:cNvPr id="8" name="Rectangle 7"/>
          <p:cNvSpPr/>
          <p:nvPr/>
        </p:nvSpPr>
        <p:spPr>
          <a:xfrm>
            <a:off x="457200" y="2103120"/>
            <a:ext cx="457200" cy="365760"/>
          </a:xfrm>
          <a:prstGeom prst="rect">
            <a:avLst/>
          </a:prstGeom>
          <a:solidFill>
            <a:srgbClr val="00D4FF"/>
          </a:solidFill>
          <a:ln w="19050">
            <a:solidFill>
              <a:srgbClr val="00D4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100" b="1">
                <a:solidFill>
                  <a:srgbClr val="121224"/>
                </a:solidFill>
              </a:defRPr>
            </a:pPr>
            <a:r>
              <a:t>3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097280" y="2103120"/>
            <a:ext cx="73152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0">
                <a:solidFill>
                  <a:srgbClr val="FFFFFF"/>
                </a:solidFill>
                <a:latin typeface="Calibri"/>
              </a:defRPr>
            </a:pPr>
            <a:r>
              <a:t>RELRO Protection Levels</a:t>
            </a:r>
          </a:p>
        </p:txBody>
      </p:sp>
      <p:sp>
        <p:nvSpPr>
          <p:cNvPr id="10" name="Rectangle 9"/>
          <p:cNvSpPr/>
          <p:nvPr/>
        </p:nvSpPr>
        <p:spPr>
          <a:xfrm>
            <a:off x="457200" y="2560320"/>
            <a:ext cx="457200" cy="365760"/>
          </a:xfrm>
          <a:prstGeom prst="rect">
            <a:avLst/>
          </a:prstGeom>
          <a:solidFill>
            <a:srgbClr val="00D4FF"/>
          </a:solidFill>
          <a:ln w="19050">
            <a:solidFill>
              <a:srgbClr val="00D4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100" b="1">
                <a:solidFill>
                  <a:srgbClr val="121224"/>
                </a:solidFill>
              </a:defRPr>
            </a:pPr>
            <a:r>
              <a:t>4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097280" y="2560320"/>
            <a:ext cx="73152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0">
                <a:solidFill>
                  <a:srgbClr val="FFFFFF"/>
                </a:solidFill>
                <a:latin typeface="Calibri"/>
              </a:defRPr>
            </a:pPr>
            <a:r>
              <a:t>PE/COFF Format — Windows Executables</a:t>
            </a:r>
          </a:p>
        </p:txBody>
      </p:sp>
      <p:sp>
        <p:nvSpPr>
          <p:cNvPr id="12" name="Rectangle 11"/>
          <p:cNvSpPr/>
          <p:nvPr/>
        </p:nvSpPr>
        <p:spPr>
          <a:xfrm>
            <a:off x="457200" y="3017520"/>
            <a:ext cx="457200" cy="365760"/>
          </a:xfrm>
          <a:prstGeom prst="rect">
            <a:avLst/>
          </a:prstGeom>
          <a:solidFill>
            <a:srgbClr val="00D4FF"/>
          </a:solidFill>
          <a:ln w="19050">
            <a:solidFill>
              <a:srgbClr val="00D4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100" b="1">
                <a:solidFill>
                  <a:srgbClr val="121224"/>
                </a:solidFill>
              </a:defRPr>
            </a:pPr>
            <a:r>
              <a:t>5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097280" y="3017520"/>
            <a:ext cx="73152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0">
                <a:solidFill>
                  <a:srgbClr val="FFFFFF"/>
                </a:solidFill>
                <a:latin typeface="Calibri"/>
              </a:defRPr>
            </a:pPr>
            <a:r>
              <a:t>ELF vs PE Comparison</a:t>
            </a:r>
          </a:p>
        </p:txBody>
      </p:sp>
      <p:sp>
        <p:nvSpPr>
          <p:cNvPr id="14" name="Rectangle 13"/>
          <p:cNvSpPr/>
          <p:nvPr/>
        </p:nvSpPr>
        <p:spPr>
          <a:xfrm>
            <a:off x="457200" y="3474720"/>
            <a:ext cx="457200" cy="365760"/>
          </a:xfrm>
          <a:prstGeom prst="rect">
            <a:avLst/>
          </a:prstGeom>
          <a:solidFill>
            <a:srgbClr val="00D4FF"/>
          </a:solidFill>
          <a:ln w="19050">
            <a:solidFill>
              <a:srgbClr val="00D4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100" b="1">
                <a:solidFill>
                  <a:srgbClr val="121224"/>
                </a:solidFill>
              </a:defRPr>
            </a:pPr>
            <a:r>
              <a:t>6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097280" y="3474720"/>
            <a:ext cx="73152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0">
                <a:solidFill>
                  <a:srgbClr val="FFFFFF"/>
                </a:solidFill>
                <a:latin typeface="Calibri"/>
              </a:defRPr>
            </a:pPr>
            <a:r>
              <a:t>Virtual Address Space Layout</a:t>
            </a:r>
          </a:p>
        </p:txBody>
      </p:sp>
      <p:sp>
        <p:nvSpPr>
          <p:cNvPr id="16" name="Rectangle 15"/>
          <p:cNvSpPr/>
          <p:nvPr/>
        </p:nvSpPr>
        <p:spPr>
          <a:xfrm>
            <a:off x="457200" y="3931920"/>
            <a:ext cx="457200" cy="365760"/>
          </a:xfrm>
          <a:prstGeom prst="rect">
            <a:avLst/>
          </a:prstGeom>
          <a:solidFill>
            <a:srgbClr val="00D4FF"/>
          </a:solidFill>
          <a:ln w="19050">
            <a:solidFill>
              <a:srgbClr val="00D4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100" b="1">
                <a:solidFill>
                  <a:srgbClr val="121224"/>
                </a:solidFill>
              </a:defRPr>
            </a:pPr>
            <a:r>
              <a:t>7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1097280" y="3931920"/>
            <a:ext cx="73152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0">
                <a:solidFill>
                  <a:srgbClr val="FFFFFF"/>
                </a:solidFill>
                <a:latin typeface="Calibri"/>
              </a:defRPr>
            </a:pPr>
            <a:r>
              <a:t>Page Tables &amp; Memory Management</a:t>
            </a:r>
          </a:p>
        </p:txBody>
      </p:sp>
      <p:sp>
        <p:nvSpPr>
          <p:cNvPr id="18" name="Rectangle 17"/>
          <p:cNvSpPr/>
          <p:nvPr/>
        </p:nvSpPr>
        <p:spPr>
          <a:xfrm>
            <a:off x="457200" y="4389120"/>
            <a:ext cx="457200" cy="365760"/>
          </a:xfrm>
          <a:prstGeom prst="rect">
            <a:avLst/>
          </a:prstGeom>
          <a:solidFill>
            <a:srgbClr val="00D4FF"/>
          </a:solidFill>
          <a:ln w="19050">
            <a:solidFill>
              <a:srgbClr val="00D4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100" b="1">
                <a:solidFill>
                  <a:srgbClr val="121224"/>
                </a:solidFill>
              </a:defRPr>
            </a:pPr>
            <a:r>
              <a:t>8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097280" y="4389120"/>
            <a:ext cx="73152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0">
                <a:solidFill>
                  <a:srgbClr val="FFFFFF"/>
                </a:solidFill>
                <a:latin typeface="Calibri"/>
              </a:defRPr>
            </a:pPr>
            <a:r>
              <a:t>System Calls &amp; Seccomp-BPF</a:t>
            </a:r>
          </a:p>
        </p:txBody>
      </p:sp>
      <p:sp>
        <p:nvSpPr>
          <p:cNvPr id="20" name="Rectangle 19"/>
          <p:cNvSpPr/>
          <p:nvPr/>
        </p:nvSpPr>
        <p:spPr>
          <a:xfrm>
            <a:off x="457200" y="4846320"/>
            <a:ext cx="457200" cy="365760"/>
          </a:xfrm>
          <a:prstGeom prst="rect">
            <a:avLst/>
          </a:prstGeom>
          <a:solidFill>
            <a:srgbClr val="00D4FF"/>
          </a:solidFill>
          <a:ln w="19050">
            <a:solidFill>
              <a:srgbClr val="00D4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100" b="1">
                <a:solidFill>
                  <a:srgbClr val="121224"/>
                </a:solidFill>
              </a:defRPr>
            </a:pPr>
            <a:r>
              <a:t>9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1097280" y="4846320"/>
            <a:ext cx="73152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0">
                <a:solidFill>
                  <a:srgbClr val="FFFFFF"/>
                </a:solidFill>
                <a:latin typeface="Calibri"/>
              </a:defRPr>
            </a:pPr>
            <a:r>
              <a:t>Linux Capabilities &amp; Namespaces</a:t>
            </a:r>
          </a:p>
        </p:txBody>
      </p:sp>
      <p:sp>
        <p:nvSpPr>
          <p:cNvPr id="22" name="Rectangle 21"/>
          <p:cNvSpPr/>
          <p:nvPr/>
        </p:nvSpPr>
        <p:spPr>
          <a:xfrm>
            <a:off x="457200" y="5303520"/>
            <a:ext cx="457200" cy="365760"/>
          </a:xfrm>
          <a:prstGeom prst="rect">
            <a:avLst/>
          </a:prstGeom>
          <a:solidFill>
            <a:srgbClr val="00D4FF"/>
          </a:solidFill>
          <a:ln w="19050">
            <a:solidFill>
              <a:srgbClr val="00D4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100" b="1">
                <a:solidFill>
                  <a:srgbClr val="121224"/>
                </a:solidFill>
              </a:defRPr>
            </a:pPr>
            <a:r>
              <a:t>10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1097280" y="5303520"/>
            <a:ext cx="73152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0">
                <a:solidFill>
                  <a:srgbClr val="FFFFFF"/>
                </a:solidFill>
                <a:latin typeface="Calibri"/>
              </a:defRPr>
            </a:pPr>
            <a:r>
              <a:t>LSM Hooks &amp; cgroups</a:t>
            </a:r>
          </a:p>
        </p:txBody>
      </p:sp>
      <p:sp>
        <p:nvSpPr>
          <p:cNvPr id="24" name="Rectangle 23"/>
          <p:cNvSpPr/>
          <p:nvPr/>
        </p:nvSpPr>
        <p:spPr>
          <a:xfrm>
            <a:off x="457200" y="5760720"/>
            <a:ext cx="457200" cy="365760"/>
          </a:xfrm>
          <a:prstGeom prst="rect">
            <a:avLst/>
          </a:prstGeom>
          <a:solidFill>
            <a:srgbClr val="00D4FF"/>
          </a:solidFill>
          <a:ln w="19050">
            <a:solidFill>
              <a:srgbClr val="00D4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100" b="1">
                <a:solidFill>
                  <a:srgbClr val="121224"/>
                </a:solidFill>
              </a:defRPr>
            </a:pPr>
            <a:r>
              <a:t>11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1097280" y="5760720"/>
            <a:ext cx="73152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0">
                <a:solidFill>
                  <a:srgbClr val="FFFFFF"/>
                </a:solidFill>
                <a:latin typeface="Calibri"/>
              </a:defRPr>
            </a:pPr>
            <a:r>
              <a:t>Key Takeaways &amp; Cross-References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21224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82296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600" b="1">
                <a:solidFill>
                  <a:srgbClr val="FFFFFF"/>
                </a:solidFill>
                <a:latin typeface="Calibri"/>
              </a:defRPr>
            </a:pPr>
            <a:r>
              <a:t>ELF File Structure</a:t>
            </a:r>
          </a:p>
        </p:txBody>
      </p:sp>
      <p:sp>
        <p:nvSpPr>
          <p:cNvPr id="3" name="Rectangle 2"/>
          <p:cNvSpPr/>
          <p:nvPr/>
        </p:nvSpPr>
        <p:spPr>
          <a:xfrm>
            <a:off x="457200" y="822960"/>
            <a:ext cx="8229600" cy="25400"/>
          </a:xfrm>
          <a:prstGeom prst="rect">
            <a:avLst/>
          </a:prstGeom>
          <a:solidFill>
            <a:srgbClr val="00D4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1371600" y="1097280"/>
            <a:ext cx="3657600" cy="411480"/>
          </a:xfrm>
          <a:prstGeom prst="rect">
            <a:avLst/>
          </a:prstGeom>
          <a:solidFill>
            <a:srgbClr val="1E1E38"/>
          </a:solidFill>
          <a:ln w="19050">
            <a:solidFill>
              <a:srgbClr val="00D4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100" b="0">
                <a:solidFill>
                  <a:srgbClr val="FFFFFF"/>
                </a:solidFill>
              </a:defRPr>
            </a:pPr>
            <a:r>
              <a:t>ELF Header (64 bytes)</a:t>
            </a:r>
          </a:p>
        </p:txBody>
      </p:sp>
      <p:sp>
        <p:nvSpPr>
          <p:cNvPr id="5" name="Rectangle 4"/>
          <p:cNvSpPr/>
          <p:nvPr/>
        </p:nvSpPr>
        <p:spPr>
          <a:xfrm>
            <a:off x="1371600" y="1572768"/>
            <a:ext cx="3657600" cy="411480"/>
          </a:xfrm>
          <a:prstGeom prst="rect">
            <a:avLst/>
          </a:prstGeom>
          <a:solidFill>
            <a:srgbClr val="1E1E38"/>
          </a:solidFill>
          <a:ln w="19050">
            <a:solidFill>
              <a:srgbClr val="BB86F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100" b="0">
                <a:solidFill>
                  <a:srgbClr val="FFFFFF"/>
                </a:solidFill>
              </a:defRPr>
            </a:pPr>
            <a:r>
              <a:t>Program Header Table</a:t>
            </a:r>
          </a:p>
        </p:txBody>
      </p:sp>
      <p:sp>
        <p:nvSpPr>
          <p:cNvPr id="6" name="Rectangle 5"/>
          <p:cNvSpPr/>
          <p:nvPr/>
        </p:nvSpPr>
        <p:spPr>
          <a:xfrm>
            <a:off x="1371600" y="2048256"/>
            <a:ext cx="3657600" cy="411480"/>
          </a:xfrm>
          <a:prstGeom prst="rect">
            <a:avLst/>
          </a:prstGeom>
          <a:solidFill>
            <a:srgbClr val="1E1E38"/>
          </a:solidFill>
          <a:ln w="19050">
            <a:solidFill>
              <a:srgbClr val="00FF8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100" b="0">
                <a:solidFill>
                  <a:srgbClr val="FFFFFF"/>
                </a:solidFill>
              </a:defRPr>
            </a:pPr>
            <a:r>
              <a:t>.text  (executable code)</a:t>
            </a:r>
          </a:p>
        </p:txBody>
      </p:sp>
      <p:sp>
        <p:nvSpPr>
          <p:cNvPr id="7" name="Rectangle 6"/>
          <p:cNvSpPr/>
          <p:nvPr/>
        </p:nvSpPr>
        <p:spPr>
          <a:xfrm>
            <a:off x="1371600" y="2523744"/>
            <a:ext cx="3657600" cy="411480"/>
          </a:xfrm>
          <a:prstGeom prst="rect">
            <a:avLst/>
          </a:prstGeom>
          <a:solidFill>
            <a:srgbClr val="1E1E38"/>
          </a:solidFill>
          <a:ln w="19050">
            <a:solidFill>
              <a:srgbClr val="00FF8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100" b="0">
                <a:solidFill>
                  <a:srgbClr val="FFFFFF"/>
                </a:solidFill>
              </a:defRPr>
            </a:pPr>
            <a:r>
              <a:t>.rodata  (read-only data)</a:t>
            </a:r>
          </a:p>
        </p:txBody>
      </p:sp>
      <p:sp>
        <p:nvSpPr>
          <p:cNvPr id="8" name="Rectangle 7"/>
          <p:cNvSpPr/>
          <p:nvPr/>
        </p:nvSpPr>
        <p:spPr>
          <a:xfrm>
            <a:off x="1371600" y="2999232"/>
            <a:ext cx="3657600" cy="411480"/>
          </a:xfrm>
          <a:prstGeom prst="rect">
            <a:avLst/>
          </a:prstGeom>
          <a:solidFill>
            <a:srgbClr val="1E1E38"/>
          </a:solidFill>
          <a:ln w="19050">
            <a:solidFill>
              <a:srgbClr val="FFD7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100" b="0">
                <a:solidFill>
                  <a:srgbClr val="FFFFFF"/>
                </a:solidFill>
              </a:defRPr>
            </a:pPr>
            <a:r>
              <a:t>.data  (initialized data)</a:t>
            </a:r>
          </a:p>
        </p:txBody>
      </p:sp>
      <p:sp>
        <p:nvSpPr>
          <p:cNvPr id="9" name="Rectangle 8"/>
          <p:cNvSpPr/>
          <p:nvPr/>
        </p:nvSpPr>
        <p:spPr>
          <a:xfrm>
            <a:off x="1371600" y="3474720"/>
            <a:ext cx="3657600" cy="411480"/>
          </a:xfrm>
          <a:prstGeom prst="rect">
            <a:avLst/>
          </a:prstGeom>
          <a:solidFill>
            <a:srgbClr val="1E1E38"/>
          </a:solidFill>
          <a:ln w="19050">
            <a:solidFill>
              <a:srgbClr val="FFD7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100" b="0">
                <a:solidFill>
                  <a:srgbClr val="FFFFFF"/>
                </a:solidFill>
              </a:defRPr>
            </a:pPr>
            <a:r>
              <a:t>.bss  (uninitialized data)</a:t>
            </a:r>
          </a:p>
        </p:txBody>
      </p:sp>
      <p:sp>
        <p:nvSpPr>
          <p:cNvPr id="10" name="Rectangle 9"/>
          <p:cNvSpPr/>
          <p:nvPr/>
        </p:nvSpPr>
        <p:spPr>
          <a:xfrm>
            <a:off x="1371600" y="3950208"/>
            <a:ext cx="3657600" cy="411480"/>
          </a:xfrm>
          <a:prstGeom prst="rect">
            <a:avLst/>
          </a:prstGeom>
          <a:solidFill>
            <a:srgbClr val="1E1E38"/>
          </a:solidFill>
          <a:ln w="19050">
            <a:solidFill>
              <a:srgbClr val="FF9F4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100" b="0">
                <a:solidFill>
                  <a:srgbClr val="FFFFFF"/>
                </a:solidFill>
              </a:defRPr>
            </a:pPr>
            <a:r>
              <a:t>.plt / .got  (dynamic linking)</a:t>
            </a:r>
          </a:p>
        </p:txBody>
      </p:sp>
      <p:sp>
        <p:nvSpPr>
          <p:cNvPr id="11" name="Rectangle 10"/>
          <p:cNvSpPr/>
          <p:nvPr/>
        </p:nvSpPr>
        <p:spPr>
          <a:xfrm>
            <a:off x="1371600" y="4425696"/>
            <a:ext cx="3657600" cy="411480"/>
          </a:xfrm>
          <a:prstGeom prst="rect">
            <a:avLst/>
          </a:prstGeom>
          <a:solidFill>
            <a:srgbClr val="1E1E38"/>
          </a:solidFill>
          <a:ln w="19050">
            <a:solidFill>
              <a:srgbClr val="FF9F4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100" b="0">
                <a:solidFill>
                  <a:srgbClr val="FFFFFF"/>
                </a:solidFill>
              </a:defRPr>
            </a:pPr>
            <a:r>
              <a:t>.dynamic  (linker metadata)</a:t>
            </a:r>
          </a:p>
        </p:txBody>
      </p:sp>
      <p:sp>
        <p:nvSpPr>
          <p:cNvPr id="12" name="Rectangle 11"/>
          <p:cNvSpPr/>
          <p:nvPr/>
        </p:nvSpPr>
        <p:spPr>
          <a:xfrm>
            <a:off x="1371600" y="4901184"/>
            <a:ext cx="3657600" cy="411480"/>
          </a:xfrm>
          <a:prstGeom prst="rect">
            <a:avLst/>
          </a:prstGeom>
          <a:solidFill>
            <a:srgbClr val="1E1E38"/>
          </a:solidFill>
          <a:ln w="19050">
            <a:solidFill>
              <a:srgbClr val="BBBBB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100" b="0">
                <a:solidFill>
                  <a:srgbClr val="FFFFFF"/>
                </a:solidFill>
              </a:defRPr>
            </a:pPr>
            <a:r>
              <a:t>.symtab / .strtab  (symbols)</a:t>
            </a:r>
          </a:p>
        </p:txBody>
      </p:sp>
      <p:sp>
        <p:nvSpPr>
          <p:cNvPr id="13" name="Rectangle 12"/>
          <p:cNvSpPr/>
          <p:nvPr/>
        </p:nvSpPr>
        <p:spPr>
          <a:xfrm>
            <a:off x="1371600" y="5376672"/>
            <a:ext cx="3657600" cy="411480"/>
          </a:xfrm>
          <a:prstGeom prst="rect">
            <a:avLst/>
          </a:prstGeom>
          <a:solidFill>
            <a:srgbClr val="1E1E38"/>
          </a:solidFill>
          <a:ln w="19050">
            <a:solidFill>
              <a:srgbClr val="BB86F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100" b="0">
                <a:solidFill>
                  <a:srgbClr val="FFFFFF"/>
                </a:solidFill>
              </a:defRPr>
            </a:pPr>
            <a:r>
              <a:t>Section Header Table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5486400" y="1097280"/>
            <a:ext cx="32004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0">
                <a:solidFill>
                  <a:srgbClr val="444455"/>
                </a:solidFill>
                <a:latin typeface="Calibri"/>
              </a:defRPr>
            </a:pPr>
            <a:r>
              <a:t>e_ident[16] magic, class, endian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5486400" y="1572768"/>
            <a:ext cx="32004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0">
                <a:solidFill>
                  <a:srgbClr val="444455"/>
                </a:solidFill>
                <a:latin typeface="Calibri"/>
              </a:defRPr>
            </a:pPr>
            <a:r>
              <a:t>p_type, p_offset, p_vaddr, p_memsz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5486400" y="2048256"/>
            <a:ext cx="32004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0">
                <a:solidFill>
                  <a:srgbClr val="444455"/>
                </a:solidFill>
                <a:latin typeface="Calibri"/>
              </a:defRPr>
            </a:pPr>
            <a:r>
              <a:t>Machine code — .text segment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5486400" y="3474720"/>
            <a:ext cx="32004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0">
                <a:solidFill>
                  <a:srgbClr val="444455"/>
                </a:solidFill>
                <a:latin typeface="Calibri"/>
              </a:defRPr>
            </a:pPr>
            <a:r>
              <a:t>PLT stubs → GOT entries → ld.so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5486400" y="4572000"/>
            <a:ext cx="32004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0">
                <a:solidFill>
                  <a:srgbClr val="444455"/>
                </a:solidFill>
                <a:latin typeface="Calibri"/>
              </a:defRPr>
            </a:pPr>
            <a:r>
              <a:t>sh_name, sh_type, sh_offset, sh_size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21224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82296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600" b="1">
                <a:solidFill>
                  <a:srgbClr val="FFFFFF"/>
                </a:solidFill>
                <a:latin typeface="Calibri"/>
              </a:defRPr>
            </a:pPr>
            <a:r>
              <a:t>ELF Header — Key Fields</a:t>
            </a:r>
          </a:p>
        </p:txBody>
      </p:sp>
      <p:sp>
        <p:nvSpPr>
          <p:cNvPr id="3" name="Rectangle 2"/>
          <p:cNvSpPr/>
          <p:nvPr/>
        </p:nvSpPr>
        <p:spPr>
          <a:xfrm>
            <a:off x="457200" y="914400"/>
            <a:ext cx="8229600" cy="25400"/>
          </a:xfrm>
          <a:prstGeom prst="rect">
            <a:avLst/>
          </a:prstGeom>
          <a:solidFill>
            <a:srgbClr val="00D4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640080" y="1188720"/>
            <a:ext cx="77724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1">
                <a:solidFill>
                  <a:srgbClr val="00D4FF"/>
                </a:solidFill>
                <a:latin typeface="Calibri"/>
              </a:defRPr>
            </a:pPr>
            <a:r>
              <a:t>e_ident[0..3] = 0x7F 'E' 'L' 'F'</a:t>
            </a:r>
          </a:p>
          <a:p>
            <a:pPr algn="l">
              <a:spcBef>
                <a:spcPts val="600"/>
              </a:spcBef>
              <a:defRPr sz="1200" b="0">
                <a:solidFill>
                  <a:srgbClr val="BBBBBB"/>
                </a:solidFill>
              </a:defRPr>
            </a:pPr>
            <a:r>
              <a:t>Magic bytes — identifies file as ELF. All ELF parsers check these first.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40080" y="1783080"/>
            <a:ext cx="77724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1">
                <a:solidFill>
                  <a:srgbClr val="00D4FF"/>
                </a:solidFill>
                <a:latin typeface="Calibri"/>
              </a:defRPr>
            </a:pPr>
            <a:r>
              <a:t>e_type: ET_EXEC (2), ET_DYN (3), ET_REL (1)</a:t>
            </a:r>
          </a:p>
          <a:p>
            <a:pPr algn="l">
              <a:spcBef>
                <a:spcPts val="600"/>
              </a:spcBef>
              <a:defRPr sz="1200" b="0">
                <a:solidFill>
                  <a:srgbClr val="BBBBBB"/>
                </a:solidFill>
              </a:defRPr>
            </a:pPr>
            <a:r>
              <a:t>Executable, shared object (PIE), or relocatable object file.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2377440"/>
            <a:ext cx="77724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1">
                <a:solidFill>
                  <a:srgbClr val="00D4FF"/>
                </a:solidFill>
                <a:latin typeface="Calibri"/>
              </a:defRPr>
            </a:pPr>
            <a:r>
              <a:t>e_entry: Virtual entry point address</a:t>
            </a:r>
          </a:p>
          <a:p>
            <a:pPr algn="l">
              <a:spcBef>
                <a:spcPts val="600"/>
              </a:spcBef>
              <a:defRPr sz="1200" b="0">
                <a:solidFill>
                  <a:srgbClr val="BBBBBB"/>
                </a:solidFill>
              </a:defRPr>
            </a:pPr>
            <a:r>
              <a:t>Where execution begins — _start symbol, or ld-linux.so for dynamic executables.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40080" y="2971800"/>
            <a:ext cx="77724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1">
                <a:solidFill>
                  <a:srgbClr val="00D4FF"/>
                </a:solidFill>
                <a:latin typeface="Calibri"/>
              </a:defRPr>
            </a:pPr>
            <a:r>
              <a:t>e_phoff / e_phnum: Program header table</a:t>
            </a:r>
          </a:p>
          <a:p>
            <a:pPr algn="l">
              <a:spcBef>
                <a:spcPts val="600"/>
              </a:spcBef>
              <a:defRPr sz="1200" b="0">
                <a:solidFill>
                  <a:srgbClr val="BBBBBB"/>
                </a:solidFill>
              </a:defRPr>
            </a:pPr>
            <a:r>
              <a:t>Offset and count of program headers — used by kernel for loading segments.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40080" y="3566160"/>
            <a:ext cx="77724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1">
                <a:solidFill>
                  <a:srgbClr val="00D4FF"/>
                </a:solidFill>
                <a:latin typeface="Calibri"/>
              </a:defRPr>
            </a:pPr>
            <a:r>
              <a:t>e_shoff / e_shnum: Section header table</a:t>
            </a:r>
          </a:p>
          <a:p>
            <a:pPr algn="l">
              <a:spcBef>
                <a:spcPts val="600"/>
              </a:spcBef>
              <a:defRPr sz="1200" b="0">
                <a:solidFill>
                  <a:srgbClr val="BBBBBB"/>
                </a:solidFill>
              </a:defRPr>
            </a:pPr>
            <a:r>
              <a:t>Offset and count of section headers — used by linker/debugger, not loader.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40080" y="4160520"/>
            <a:ext cx="77724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1">
                <a:solidFill>
                  <a:srgbClr val="00D4FF"/>
                </a:solidFill>
                <a:latin typeface="Calibri"/>
              </a:defRPr>
            </a:pPr>
            <a:r>
              <a:t>e_machine: EM_X86_64 (62), EM_AARCH64 (183)</a:t>
            </a:r>
          </a:p>
          <a:p>
            <a:pPr algn="l">
              <a:spcBef>
                <a:spcPts val="600"/>
              </a:spcBef>
              <a:defRPr sz="1200" b="0">
                <a:solidFill>
                  <a:srgbClr val="BBBBBB"/>
                </a:solidFill>
              </a:defRPr>
            </a:pPr>
            <a:r>
              <a:t>Target architecture. Kernel rejects binaries for wrong architecture.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40080" y="4754880"/>
            <a:ext cx="77724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1">
                <a:solidFill>
                  <a:srgbClr val="00D4FF"/>
                </a:solidFill>
                <a:latin typeface="Calibri"/>
              </a:defRPr>
            </a:pPr>
            <a:r>
              <a:t>e_flags: Architecture-specific flags</a:t>
            </a:r>
          </a:p>
          <a:p>
            <a:pPr algn="l">
              <a:spcBef>
                <a:spcPts val="600"/>
              </a:spcBef>
              <a:defRPr sz="1200" b="0">
                <a:solidFill>
                  <a:srgbClr val="BBBBBB"/>
                </a:solidFill>
              </a:defRPr>
            </a:pPr>
            <a:r>
              <a:t>ARM: soft/hard float. MIPS: ABI version. x86_64: usually 0.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21224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82296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600" b="1">
                <a:solidFill>
                  <a:srgbClr val="FFFFFF"/>
                </a:solidFill>
                <a:latin typeface="Calibri"/>
              </a:defRPr>
            </a:pPr>
            <a:r>
              <a:t>Program Headers vs Section Headers</a:t>
            </a:r>
          </a:p>
        </p:txBody>
      </p:sp>
      <p:sp>
        <p:nvSpPr>
          <p:cNvPr id="3" name="Rectangle 2"/>
          <p:cNvSpPr/>
          <p:nvPr/>
        </p:nvSpPr>
        <p:spPr>
          <a:xfrm>
            <a:off x="457200" y="822960"/>
            <a:ext cx="8229600" cy="25400"/>
          </a:xfrm>
          <a:prstGeom prst="rect">
            <a:avLst/>
          </a:prstGeom>
          <a:solidFill>
            <a:srgbClr val="00D4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457200" y="914400"/>
            <a:ext cx="36576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1">
                <a:solidFill>
                  <a:srgbClr val="00D4FF"/>
                </a:solidFill>
                <a:latin typeface="Calibri"/>
              </a:defRPr>
            </a:pPr>
            <a:r>
              <a:t>Program Headers (Segments)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846320" y="914400"/>
            <a:ext cx="36576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1">
                <a:solidFill>
                  <a:srgbClr val="BB86FC"/>
                </a:solidFill>
                <a:latin typeface="Calibri"/>
              </a:defRPr>
            </a:pPr>
            <a:r>
              <a:t>Section Headers (Sections)</a:t>
            </a:r>
          </a:p>
        </p:txBody>
      </p:sp>
      <p:sp>
        <p:nvSpPr>
          <p:cNvPr id="6" name="Rectangle 5"/>
          <p:cNvSpPr/>
          <p:nvPr/>
        </p:nvSpPr>
        <p:spPr>
          <a:xfrm>
            <a:off x="457200" y="1280160"/>
            <a:ext cx="3931920" cy="411480"/>
          </a:xfrm>
          <a:prstGeom prst="rect">
            <a:avLst/>
          </a:prstGeom>
          <a:solidFill>
            <a:srgbClr val="1E1E38"/>
          </a:solidFill>
          <a:ln w="19050">
            <a:solidFill>
              <a:srgbClr val="00D4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100" b="0">
                <a:solidFill>
                  <a:srgbClr val="BBBBBB"/>
                </a:solidFill>
              </a:defRPr>
            </a:pPr>
            <a:r>
              <a:t>Used by: kernel loader (execve)</a:t>
            </a:r>
          </a:p>
        </p:txBody>
      </p:sp>
      <p:sp>
        <p:nvSpPr>
          <p:cNvPr id="7" name="Rectangle 6"/>
          <p:cNvSpPr/>
          <p:nvPr/>
        </p:nvSpPr>
        <p:spPr>
          <a:xfrm>
            <a:off x="457200" y="1755648"/>
            <a:ext cx="3931920" cy="411480"/>
          </a:xfrm>
          <a:prstGeom prst="rect">
            <a:avLst/>
          </a:prstGeom>
          <a:solidFill>
            <a:srgbClr val="1E1E38"/>
          </a:solidFill>
          <a:ln w="19050">
            <a:solidFill>
              <a:srgbClr val="00D4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100" b="0">
                <a:solidFill>
                  <a:srgbClr val="BBBBBB"/>
                </a:solidFill>
              </a:defRPr>
            </a:pPr>
            <a:r>
              <a:t>Describes: memory segments</a:t>
            </a:r>
          </a:p>
        </p:txBody>
      </p:sp>
      <p:sp>
        <p:nvSpPr>
          <p:cNvPr id="8" name="Rectangle 7"/>
          <p:cNvSpPr/>
          <p:nvPr/>
        </p:nvSpPr>
        <p:spPr>
          <a:xfrm>
            <a:off x="457200" y="2231136"/>
            <a:ext cx="3931920" cy="411480"/>
          </a:xfrm>
          <a:prstGeom prst="rect">
            <a:avLst/>
          </a:prstGeom>
          <a:solidFill>
            <a:srgbClr val="1E1E38"/>
          </a:solidFill>
          <a:ln w="19050">
            <a:solidFill>
              <a:srgbClr val="00D4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100" b="0">
                <a:solidFill>
                  <a:srgbClr val="BBBBBB"/>
                </a:solidFill>
              </a:defRPr>
            </a:pPr>
            <a:r>
              <a:t>PT_LOAD — loadable segment</a:t>
            </a:r>
          </a:p>
        </p:txBody>
      </p:sp>
      <p:sp>
        <p:nvSpPr>
          <p:cNvPr id="9" name="Rectangle 8"/>
          <p:cNvSpPr/>
          <p:nvPr/>
        </p:nvSpPr>
        <p:spPr>
          <a:xfrm>
            <a:off x="457200" y="2706624"/>
            <a:ext cx="3931920" cy="411480"/>
          </a:xfrm>
          <a:prstGeom prst="rect">
            <a:avLst/>
          </a:prstGeom>
          <a:solidFill>
            <a:srgbClr val="1E1E38"/>
          </a:solidFill>
          <a:ln w="19050">
            <a:solidFill>
              <a:srgbClr val="00D4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100" b="0">
                <a:solidFill>
                  <a:srgbClr val="BBBBBB"/>
                </a:solidFill>
              </a:defRPr>
            </a:pPr>
            <a:r>
              <a:t>PT_INTERP — path to ld-linux.so</a:t>
            </a:r>
          </a:p>
        </p:txBody>
      </p:sp>
      <p:sp>
        <p:nvSpPr>
          <p:cNvPr id="10" name="Rectangle 9"/>
          <p:cNvSpPr/>
          <p:nvPr/>
        </p:nvSpPr>
        <p:spPr>
          <a:xfrm>
            <a:off x="457200" y="3182112"/>
            <a:ext cx="3931920" cy="411480"/>
          </a:xfrm>
          <a:prstGeom prst="rect">
            <a:avLst/>
          </a:prstGeom>
          <a:solidFill>
            <a:srgbClr val="1E1E38"/>
          </a:solidFill>
          <a:ln w="19050">
            <a:solidFill>
              <a:srgbClr val="00D4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100" b="0">
                <a:solidFill>
                  <a:srgbClr val="BBBBBB"/>
                </a:solidFill>
              </a:defRPr>
            </a:pPr>
            <a:r>
              <a:t>PT_DYNAMIC — .dynamic section addr</a:t>
            </a:r>
          </a:p>
        </p:txBody>
      </p:sp>
      <p:sp>
        <p:nvSpPr>
          <p:cNvPr id="11" name="Rectangle 10"/>
          <p:cNvSpPr/>
          <p:nvPr/>
        </p:nvSpPr>
        <p:spPr>
          <a:xfrm>
            <a:off x="457200" y="3657600"/>
            <a:ext cx="3931920" cy="411480"/>
          </a:xfrm>
          <a:prstGeom prst="rect">
            <a:avLst/>
          </a:prstGeom>
          <a:solidFill>
            <a:srgbClr val="1E1E38"/>
          </a:solidFill>
          <a:ln w="19050">
            <a:solidFill>
              <a:srgbClr val="00D4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100" b="0">
                <a:solidFill>
                  <a:srgbClr val="BBBBBB"/>
                </a:solidFill>
              </a:defRPr>
            </a:pPr>
            <a:r>
              <a:t>PT_GNU_STACK — stack exec flag</a:t>
            </a:r>
          </a:p>
        </p:txBody>
      </p:sp>
      <p:sp>
        <p:nvSpPr>
          <p:cNvPr id="12" name="Rectangle 11"/>
          <p:cNvSpPr/>
          <p:nvPr/>
        </p:nvSpPr>
        <p:spPr>
          <a:xfrm>
            <a:off x="457200" y="4133088"/>
            <a:ext cx="3931920" cy="411480"/>
          </a:xfrm>
          <a:prstGeom prst="rect">
            <a:avLst/>
          </a:prstGeom>
          <a:solidFill>
            <a:srgbClr val="1E1E38"/>
          </a:solidFill>
          <a:ln w="19050">
            <a:solidFill>
              <a:srgbClr val="00D4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100" b="0">
                <a:solidFill>
                  <a:srgbClr val="BBBBBB"/>
                </a:solidFill>
              </a:defRPr>
            </a:pPr>
            <a:r>
              <a:t>PT_GNU_RELRO — read-only after reloc</a:t>
            </a:r>
          </a:p>
        </p:txBody>
      </p:sp>
      <p:sp>
        <p:nvSpPr>
          <p:cNvPr id="13" name="Rectangle 12"/>
          <p:cNvSpPr/>
          <p:nvPr/>
        </p:nvSpPr>
        <p:spPr>
          <a:xfrm>
            <a:off x="457200" y="4608576"/>
            <a:ext cx="3931920" cy="411480"/>
          </a:xfrm>
          <a:prstGeom prst="rect">
            <a:avLst/>
          </a:prstGeom>
          <a:solidFill>
            <a:srgbClr val="1E1E38"/>
          </a:solidFill>
          <a:ln w="19050">
            <a:solidFill>
              <a:srgbClr val="00D4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100" b="0">
                <a:solidFill>
                  <a:srgbClr val="BBBBBB"/>
                </a:solidFill>
              </a:defRPr>
            </a:pPr>
            <a:r>
              <a:t>Required at runtime: YES</a:t>
            </a:r>
          </a:p>
        </p:txBody>
      </p:sp>
      <p:sp>
        <p:nvSpPr>
          <p:cNvPr id="14" name="Rectangle 13"/>
          <p:cNvSpPr/>
          <p:nvPr/>
        </p:nvSpPr>
        <p:spPr>
          <a:xfrm>
            <a:off x="4846320" y="1280160"/>
            <a:ext cx="3931920" cy="411480"/>
          </a:xfrm>
          <a:prstGeom prst="rect">
            <a:avLst/>
          </a:prstGeom>
          <a:solidFill>
            <a:srgbClr val="1E1E38"/>
          </a:solidFill>
          <a:ln w="19050">
            <a:solidFill>
              <a:srgbClr val="BB86F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100" b="0">
                <a:solidFill>
                  <a:srgbClr val="BBBBBB"/>
                </a:solidFill>
              </a:defRPr>
            </a:pPr>
            <a:r>
              <a:t>Used by: linker, debugger, objdump</a:t>
            </a:r>
          </a:p>
        </p:txBody>
      </p:sp>
      <p:sp>
        <p:nvSpPr>
          <p:cNvPr id="15" name="Rectangle 14"/>
          <p:cNvSpPr/>
          <p:nvPr/>
        </p:nvSpPr>
        <p:spPr>
          <a:xfrm>
            <a:off x="4846320" y="1755648"/>
            <a:ext cx="3931920" cy="411480"/>
          </a:xfrm>
          <a:prstGeom prst="rect">
            <a:avLst/>
          </a:prstGeom>
          <a:solidFill>
            <a:srgbClr val="1E1E38"/>
          </a:solidFill>
          <a:ln w="19050">
            <a:solidFill>
              <a:srgbClr val="BB86F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100" b="0">
                <a:solidFill>
                  <a:srgbClr val="BBBBBB"/>
                </a:solidFill>
              </a:defRPr>
            </a:pPr>
            <a:r>
              <a:t>Describes: file sections</a:t>
            </a:r>
          </a:p>
        </p:txBody>
      </p:sp>
      <p:sp>
        <p:nvSpPr>
          <p:cNvPr id="16" name="Rectangle 15"/>
          <p:cNvSpPr/>
          <p:nvPr/>
        </p:nvSpPr>
        <p:spPr>
          <a:xfrm>
            <a:off x="4846320" y="2231136"/>
            <a:ext cx="3931920" cy="411480"/>
          </a:xfrm>
          <a:prstGeom prst="rect">
            <a:avLst/>
          </a:prstGeom>
          <a:solidFill>
            <a:srgbClr val="1E1E38"/>
          </a:solidFill>
          <a:ln w="19050">
            <a:solidFill>
              <a:srgbClr val="BB86F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100" b="0">
                <a:solidFill>
                  <a:srgbClr val="BBBBBB"/>
                </a:solidFill>
              </a:defRPr>
            </a:pPr>
            <a:r>
              <a:t>SHT_PROGBITS — code/data</a:t>
            </a:r>
          </a:p>
        </p:txBody>
      </p:sp>
      <p:sp>
        <p:nvSpPr>
          <p:cNvPr id="17" name="Rectangle 16"/>
          <p:cNvSpPr/>
          <p:nvPr/>
        </p:nvSpPr>
        <p:spPr>
          <a:xfrm>
            <a:off x="4846320" y="2706624"/>
            <a:ext cx="3931920" cy="411480"/>
          </a:xfrm>
          <a:prstGeom prst="rect">
            <a:avLst/>
          </a:prstGeom>
          <a:solidFill>
            <a:srgbClr val="1E1E38"/>
          </a:solidFill>
          <a:ln w="19050">
            <a:solidFill>
              <a:srgbClr val="BB86F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100" b="0">
                <a:solidFill>
                  <a:srgbClr val="BBBBBB"/>
                </a:solidFill>
              </a:defRPr>
            </a:pPr>
            <a:r>
              <a:t>SHT_SYMTAB — symbol table</a:t>
            </a:r>
          </a:p>
        </p:txBody>
      </p:sp>
      <p:sp>
        <p:nvSpPr>
          <p:cNvPr id="18" name="Rectangle 17"/>
          <p:cNvSpPr/>
          <p:nvPr/>
        </p:nvSpPr>
        <p:spPr>
          <a:xfrm>
            <a:off x="4846320" y="3182112"/>
            <a:ext cx="3931920" cy="411480"/>
          </a:xfrm>
          <a:prstGeom prst="rect">
            <a:avLst/>
          </a:prstGeom>
          <a:solidFill>
            <a:srgbClr val="1E1E38"/>
          </a:solidFill>
          <a:ln w="19050">
            <a:solidFill>
              <a:srgbClr val="BB86F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100" b="0">
                <a:solidFill>
                  <a:srgbClr val="BBBBBB"/>
                </a:solidFill>
              </a:defRPr>
            </a:pPr>
            <a:r>
              <a:t>SHT_RELA — relocation entries</a:t>
            </a:r>
          </a:p>
        </p:txBody>
      </p:sp>
      <p:sp>
        <p:nvSpPr>
          <p:cNvPr id="19" name="Rectangle 18"/>
          <p:cNvSpPr/>
          <p:nvPr/>
        </p:nvSpPr>
        <p:spPr>
          <a:xfrm>
            <a:off x="4846320" y="3657600"/>
            <a:ext cx="3931920" cy="411480"/>
          </a:xfrm>
          <a:prstGeom prst="rect">
            <a:avLst/>
          </a:prstGeom>
          <a:solidFill>
            <a:srgbClr val="1E1E38"/>
          </a:solidFill>
          <a:ln w="19050">
            <a:solidFill>
              <a:srgbClr val="BB86F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100" b="0">
                <a:solidFill>
                  <a:srgbClr val="BBBBBB"/>
                </a:solidFill>
              </a:defRPr>
            </a:pPr>
            <a:r>
              <a:t>SHT_DYNAMIC — dynamic linking info</a:t>
            </a:r>
          </a:p>
        </p:txBody>
      </p:sp>
      <p:sp>
        <p:nvSpPr>
          <p:cNvPr id="20" name="Rectangle 19"/>
          <p:cNvSpPr/>
          <p:nvPr/>
        </p:nvSpPr>
        <p:spPr>
          <a:xfrm>
            <a:off x="4846320" y="4133088"/>
            <a:ext cx="3931920" cy="411480"/>
          </a:xfrm>
          <a:prstGeom prst="rect">
            <a:avLst/>
          </a:prstGeom>
          <a:solidFill>
            <a:srgbClr val="1E1E38"/>
          </a:solidFill>
          <a:ln w="19050">
            <a:solidFill>
              <a:srgbClr val="BB86F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100" b="0">
                <a:solidFill>
                  <a:srgbClr val="BBBBBB"/>
                </a:solidFill>
              </a:defRPr>
            </a:pPr>
            <a:r>
              <a:t>SHT_NOTE — build-id, ABI tag</a:t>
            </a:r>
          </a:p>
        </p:txBody>
      </p:sp>
      <p:sp>
        <p:nvSpPr>
          <p:cNvPr id="21" name="Rectangle 20"/>
          <p:cNvSpPr/>
          <p:nvPr/>
        </p:nvSpPr>
        <p:spPr>
          <a:xfrm>
            <a:off x="4846320" y="4608576"/>
            <a:ext cx="3931920" cy="411480"/>
          </a:xfrm>
          <a:prstGeom prst="rect">
            <a:avLst/>
          </a:prstGeom>
          <a:solidFill>
            <a:srgbClr val="1E1E38"/>
          </a:solidFill>
          <a:ln w="19050">
            <a:solidFill>
              <a:srgbClr val="BB86F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100" b="0">
                <a:solidFill>
                  <a:srgbClr val="BBBBBB"/>
                </a:solidFill>
              </a:defRPr>
            </a:pPr>
            <a:r>
              <a:t>Required at runtime: NO (strippable)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21224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82296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600" b="1">
                <a:solidFill>
                  <a:srgbClr val="FFFFFF"/>
                </a:solidFill>
                <a:latin typeface="Calibri"/>
              </a:defRPr>
            </a:pPr>
            <a:r>
              <a:t>ELF Loading Process</a:t>
            </a:r>
          </a:p>
        </p:txBody>
      </p:sp>
      <p:sp>
        <p:nvSpPr>
          <p:cNvPr id="3" name="Rectangle 2"/>
          <p:cNvSpPr/>
          <p:nvPr/>
        </p:nvSpPr>
        <p:spPr>
          <a:xfrm>
            <a:off x="457200" y="822960"/>
            <a:ext cx="8229600" cy="25400"/>
          </a:xfrm>
          <a:prstGeom prst="rect">
            <a:avLst/>
          </a:prstGeom>
          <a:solidFill>
            <a:srgbClr val="00D4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274320" y="1371600"/>
            <a:ext cx="1463040" cy="640080"/>
          </a:xfrm>
          <a:prstGeom prst="rect">
            <a:avLst/>
          </a:prstGeom>
          <a:solidFill>
            <a:srgbClr val="00D4FF"/>
          </a:solidFill>
          <a:ln w="19050">
            <a:solidFill>
              <a:srgbClr val="00D4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100" b="1">
                <a:solidFill>
                  <a:srgbClr val="121224"/>
                </a:solidFill>
              </a:defRPr>
            </a:pPr>
            <a:r>
              <a:t>execve()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274320" y="2194560"/>
            <a:ext cx="146304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900" b="0">
                <a:solidFill>
                  <a:srgbClr val="BBBBBB"/>
                </a:solidFill>
                <a:latin typeface="Calibri"/>
              </a:defRPr>
            </a:pPr>
            <a:r>
              <a:t>Kernel validates ELF magic,</a:t>
            </a:r>
            <a:br/>
            <a:r>
              <a:t>reads e_ident &amp; e_type</a:t>
            </a:r>
          </a:p>
        </p:txBody>
      </p:sp>
      <p:sp>
        <p:nvSpPr>
          <p:cNvPr id="6" name="Right Arrow 5"/>
          <p:cNvSpPr/>
          <p:nvPr/>
        </p:nvSpPr>
        <p:spPr>
          <a:xfrm>
            <a:off x="1783080" y="1554480"/>
            <a:ext cx="228600" cy="274320"/>
          </a:xfrm>
          <a:prstGeom prst="rightArrow">
            <a:avLst/>
          </a:prstGeom>
          <a:solidFill>
            <a:srgbClr val="00D4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2011680" y="1371600"/>
            <a:ext cx="1463040" cy="640080"/>
          </a:xfrm>
          <a:prstGeom prst="rect">
            <a:avLst/>
          </a:prstGeom>
          <a:solidFill>
            <a:srgbClr val="BB86FC"/>
          </a:solidFill>
          <a:ln w="19050">
            <a:solidFill>
              <a:srgbClr val="BB86F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100" b="1">
                <a:solidFill>
                  <a:srgbClr val="121224"/>
                </a:solidFill>
              </a:defRPr>
            </a:pPr>
            <a:r>
              <a:t>load_elf_binary()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2011680" y="2194560"/>
            <a:ext cx="146304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900" b="0">
                <a:solidFill>
                  <a:srgbClr val="BBBBBB"/>
                </a:solidFill>
                <a:latin typeface="Calibri"/>
              </a:defRPr>
            </a:pPr>
            <a:r>
              <a:t>Kernel maps PT_LOAD</a:t>
            </a:r>
            <a:br/>
            <a:r>
              <a:t>segments via mmap</a:t>
            </a:r>
          </a:p>
        </p:txBody>
      </p:sp>
      <p:sp>
        <p:nvSpPr>
          <p:cNvPr id="9" name="Right Arrow 8"/>
          <p:cNvSpPr/>
          <p:nvPr/>
        </p:nvSpPr>
        <p:spPr>
          <a:xfrm>
            <a:off x="3520440" y="1554480"/>
            <a:ext cx="228600" cy="274320"/>
          </a:xfrm>
          <a:prstGeom prst="rightArrow">
            <a:avLst/>
          </a:prstGeom>
          <a:solidFill>
            <a:srgbClr val="BB86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3749040" y="1371600"/>
            <a:ext cx="1463040" cy="640080"/>
          </a:xfrm>
          <a:prstGeom prst="rect">
            <a:avLst/>
          </a:prstGeom>
          <a:solidFill>
            <a:srgbClr val="FFD700"/>
          </a:solidFill>
          <a:ln w="19050">
            <a:solidFill>
              <a:srgbClr val="FFD7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100" b="1">
                <a:solidFill>
                  <a:srgbClr val="121224"/>
                </a:solidFill>
              </a:defRPr>
            </a:pPr>
            <a:r>
              <a:t>PT_INTERP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3749040" y="2194560"/>
            <a:ext cx="146304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900" b="0">
                <a:solidFill>
                  <a:srgbClr val="BBBBBB"/>
                </a:solidFill>
                <a:latin typeface="Calibri"/>
              </a:defRPr>
            </a:pPr>
            <a:r>
              <a:t>Kernel loads ld-linux.so</a:t>
            </a:r>
            <a:br/>
            <a:r>
              <a:t>(dynamic linker)</a:t>
            </a:r>
          </a:p>
        </p:txBody>
      </p:sp>
      <p:sp>
        <p:nvSpPr>
          <p:cNvPr id="12" name="Right Arrow 11"/>
          <p:cNvSpPr/>
          <p:nvPr/>
        </p:nvSpPr>
        <p:spPr>
          <a:xfrm>
            <a:off x="5257800" y="1554480"/>
            <a:ext cx="228600" cy="274320"/>
          </a:xfrm>
          <a:prstGeom prst="rightArrow">
            <a:avLst/>
          </a:prstGeom>
          <a:solidFill>
            <a:srgbClr val="FFD7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5486400" y="1371600"/>
            <a:ext cx="1463040" cy="640080"/>
          </a:xfrm>
          <a:prstGeom prst="rect">
            <a:avLst/>
          </a:prstGeom>
          <a:solidFill>
            <a:srgbClr val="00FF88"/>
          </a:solidFill>
          <a:ln w="19050">
            <a:solidFill>
              <a:srgbClr val="00FF8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100" b="1">
                <a:solidFill>
                  <a:srgbClr val="121224"/>
                </a:solidFill>
              </a:defRPr>
            </a:pPr>
            <a:r>
              <a:t>ld.so init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5486400" y="2194560"/>
            <a:ext cx="146304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900" b="0">
                <a:solidFill>
                  <a:srgbClr val="BBBBBB"/>
                </a:solidFill>
                <a:latin typeface="Calibri"/>
              </a:defRPr>
            </a:pPr>
            <a:r>
              <a:t>Resolves DT_NEEDED libs,</a:t>
            </a:r>
            <a:br/>
            <a:r>
              <a:t>processes relocations</a:t>
            </a:r>
          </a:p>
        </p:txBody>
      </p:sp>
      <p:sp>
        <p:nvSpPr>
          <p:cNvPr id="15" name="Right Arrow 14"/>
          <p:cNvSpPr/>
          <p:nvPr/>
        </p:nvSpPr>
        <p:spPr>
          <a:xfrm>
            <a:off x="6995160" y="1554480"/>
            <a:ext cx="228600" cy="274320"/>
          </a:xfrm>
          <a:prstGeom prst="rightArrow">
            <a:avLst/>
          </a:prstGeom>
          <a:solidFill>
            <a:srgbClr val="00FF8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ectangle 15"/>
          <p:cNvSpPr/>
          <p:nvPr/>
        </p:nvSpPr>
        <p:spPr>
          <a:xfrm>
            <a:off x="7223760" y="1371600"/>
            <a:ext cx="1463040" cy="640080"/>
          </a:xfrm>
          <a:prstGeom prst="rect">
            <a:avLst/>
          </a:prstGeom>
          <a:solidFill>
            <a:srgbClr val="FF9F43"/>
          </a:solidFill>
          <a:ln w="19050">
            <a:solidFill>
              <a:srgbClr val="FF9F4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100" b="1">
                <a:solidFill>
                  <a:srgbClr val="121224"/>
                </a:solidFill>
              </a:defRPr>
            </a:pPr>
            <a:r>
              <a:t>_start → main()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7223760" y="2194560"/>
            <a:ext cx="146304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900" b="0">
                <a:solidFill>
                  <a:srgbClr val="BBBBBB"/>
                </a:solidFill>
                <a:latin typeface="Calibri"/>
              </a:defRPr>
            </a:pPr>
            <a:r>
              <a:t>Control transfers to</a:t>
            </a:r>
            <a:br/>
            <a:r>
              <a:t>application entry point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457200" y="3657600"/>
            <a:ext cx="8229600" cy="2286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BBBBBB"/>
                </a:solidFill>
                <a:latin typeface="Calibri"/>
              </a:defRPr>
            </a:pPr>
            <a:r>
              <a:t>Key security check: kernel verifies e_type, refuses ET_CORE. PT_GNU_STACK controls whether stack is executable (NX enforcement). ASLR randomizes mmap base, stack, heap, and PIE base addresses. For static binaries, no ld.so step — kernel jumps directly to e_entry.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21224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82296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600" b="1">
                <a:solidFill>
                  <a:srgbClr val="FFFFFF"/>
                </a:solidFill>
                <a:latin typeface="Calibri"/>
              </a:defRPr>
            </a:pPr>
            <a:r>
              <a:t>Dynamic Linking: PLT/GOT Mechanism</a:t>
            </a:r>
          </a:p>
        </p:txBody>
      </p:sp>
      <p:sp>
        <p:nvSpPr>
          <p:cNvPr id="3" name="Rectangle 2"/>
          <p:cNvSpPr/>
          <p:nvPr/>
        </p:nvSpPr>
        <p:spPr>
          <a:xfrm>
            <a:off x="457200" y="822960"/>
            <a:ext cx="8229600" cy="25400"/>
          </a:xfrm>
          <a:prstGeom prst="rect">
            <a:avLst/>
          </a:prstGeom>
          <a:solidFill>
            <a:srgbClr val="00D4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457200" y="1371600"/>
            <a:ext cx="1828800" cy="640080"/>
          </a:xfrm>
          <a:prstGeom prst="rect">
            <a:avLst/>
          </a:prstGeom>
          <a:solidFill>
            <a:srgbClr val="1E1E38"/>
          </a:solidFill>
          <a:ln w="19050"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200" b="1">
                <a:solidFill>
                  <a:srgbClr val="FFFFFF"/>
                </a:solidFill>
              </a:defRPr>
            </a:pPr>
            <a:r>
              <a:t>call printf@PLT</a:t>
            </a:r>
          </a:p>
        </p:txBody>
      </p:sp>
      <p:sp>
        <p:nvSpPr>
          <p:cNvPr id="5" name="Right Arrow 4"/>
          <p:cNvSpPr/>
          <p:nvPr/>
        </p:nvSpPr>
        <p:spPr>
          <a:xfrm>
            <a:off x="2377440" y="1554480"/>
            <a:ext cx="365760" cy="274320"/>
          </a:xfrm>
          <a:prstGeom prst="rightArrow">
            <a:avLst/>
          </a:prstGeom>
          <a:solidFill>
            <a:srgbClr val="00D4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2834640" y="1188720"/>
            <a:ext cx="2103120" cy="1005840"/>
          </a:xfrm>
          <a:prstGeom prst="rect">
            <a:avLst/>
          </a:prstGeom>
          <a:solidFill>
            <a:srgbClr val="1E1E38"/>
          </a:solidFill>
          <a:ln w="19050">
            <a:solidFill>
              <a:srgbClr val="00D4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000" b="0">
                <a:solidFill>
                  <a:srgbClr val="00D4FF"/>
                </a:solidFill>
              </a:defRPr>
            </a:pPr>
            <a:r>
              <a:t>.plt stub</a:t>
            </a:r>
            <a:br/>
            <a:r>
              <a:t>jmp *GOT[n]</a:t>
            </a:r>
            <a:br/>
            <a:r>
              <a:t>push reloc_index</a:t>
            </a:r>
            <a:br/>
            <a:r>
              <a:t>jmp PLT[0]</a:t>
            </a:r>
          </a:p>
        </p:txBody>
      </p:sp>
      <p:sp>
        <p:nvSpPr>
          <p:cNvPr id="7" name="Right Arrow 6"/>
          <p:cNvSpPr/>
          <p:nvPr/>
        </p:nvSpPr>
        <p:spPr>
          <a:xfrm>
            <a:off x="5029200" y="1554480"/>
            <a:ext cx="365760" cy="274320"/>
          </a:xfrm>
          <a:prstGeom prst="rightArrow">
            <a:avLst/>
          </a:prstGeom>
          <a:solidFill>
            <a:srgbClr val="FFD7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5486400" y="1188720"/>
            <a:ext cx="1645920" cy="1005840"/>
          </a:xfrm>
          <a:prstGeom prst="rect">
            <a:avLst/>
          </a:prstGeom>
          <a:solidFill>
            <a:srgbClr val="1E1E38"/>
          </a:solidFill>
          <a:ln w="19050">
            <a:solidFill>
              <a:srgbClr val="FFD7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000" b="0">
                <a:solidFill>
                  <a:srgbClr val="FFD700"/>
                </a:solidFill>
              </a:defRPr>
            </a:pPr>
            <a:r>
              <a:t>.got.plt[n]</a:t>
            </a:r>
            <a:br/>
            <a:r>
              <a:t>(initially → PLT+6</a:t>
            </a:r>
            <a:br/>
            <a:r>
              <a:t>after resolve → libc)</a:t>
            </a:r>
          </a:p>
        </p:txBody>
      </p:sp>
      <p:sp>
        <p:nvSpPr>
          <p:cNvPr id="9" name="Right Arrow 8"/>
          <p:cNvSpPr/>
          <p:nvPr/>
        </p:nvSpPr>
        <p:spPr>
          <a:xfrm>
            <a:off x="7223760" y="1554480"/>
            <a:ext cx="365760" cy="274320"/>
          </a:xfrm>
          <a:prstGeom prst="rightArrow">
            <a:avLst/>
          </a:prstGeom>
          <a:solidFill>
            <a:srgbClr val="00FF8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7680960" y="1371600"/>
            <a:ext cx="1097280" cy="640080"/>
          </a:xfrm>
          <a:prstGeom prst="rect">
            <a:avLst/>
          </a:prstGeom>
          <a:solidFill>
            <a:srgbClr val="00FF88"/>
          </a:solidFill>
          <a:ln w="19050">
            <a:solidFill>
              <a:srgbClr val="00FF8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000" b="1">
                <a:solidFill>
                  <a:srgbClr val="121224"/>
                </a:solidFill>
              </a:defRPr>
            </a:pPr>
            <a:r>
              <a:t>printf()</a:t>
            </a:r>
            <a:br/>
            <a:r>
              <a:t>in libc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457200" y="2743200"/>
            <a:ext cx="82296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1">
                <a:solidFill>
                  <a:srgbClr val="FF4444"/>
                </a:solidFill>
                <a:latin typeface="Calibri"/>
              </a:defRPr>
            </a:pPr>
            <a:r>
              <a:t>Lazy Binding (first call):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457200" y="3200400"/>
            <a:ext cx="8229600" cy="2743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BBBBBB"/>
                </a:solidFill>
                <a:latin typeface="Calibri"/>
              </a:defRPr>
            </a:pPr>
            <a:r>
              <a:t>1. PLT stub jumps to GOT entry → initially points back to PLT+6 (resolver stub)</a:t>
            </a:r>
            <a:br/>
            <a:r>
              <a:t>2. Resolver stub pushes relocation index, jumps to PLT[0] → _dl_runtime_resolve()</a:t>
            </a:r>
            <a:br/>
            <a:r>
              <a:t>3. ld.so looks up symbol in DT_NEEDED libraries, patches GOT entry with real address</a:t>
            </a:r>
            <a:br/>
            <a:r>
              <a:t>4. Subsequent calls: PLT stub → GOT → directly to resolved function (one indirection)</a:t>
            </a:r>
            <a:br/>
            <a:br/>
            <a:r>
              <a:t>Security implications:</a:t>
            </a:r>
            <a:br/>
            <a:r>
              <a:t>• GOT entries are writable → GOT overwrite attack hijacks control flow</a:t>
            </a:r>
            <a:br/>
            <a:r>
              <a:t>• Full RELRO makes .got.plt read-only after relocation → prevents GOT overwrites</a:t>
            </a:r>
            <a:br/>
            <a:r>
              <a:t>• Partial RELRO protects .got but not .got.plt → still exploitable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21224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82296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600" b="1">
                <a:solidFill>
                  <a:srgbClr val="FFFFFF"/>
                </a:solidFill>
                <a:latin typeface="Calibri"/>
              </a:defRPr>
            </a:pPr>
            <a:r>
              <a:t>RELRO Protection Levels</a:t>
            </a:r>
          </a:p>
        </p:txBody>
      </p:sp>
      <p:sp>
        <p:nvSpPr>
          <p:cNvPr id="3" name="Rectangle 2"/>
          <p:cNvSpPr/>
          <p:nvPr/>
        </p:nvSpPr>
        <p:spPr>
          <a:xfrm>
            <a:off x="457200" y="822960"/>
            <a:ext cx="8229600" cy="25400"/>
          </a:xfrm>
          <a:prstGeom prst="rect">
            <a:avLst/>
          </a:prstGeom>
          <a:solidFill>
            <a:srgbClr val="00D4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274320" y="1188720"/>
            <a:ext cx="2743200" cy="457200"/>
          </a:xfrm>
          <a:prstGeom prst="rect">
            <a:avLst/>
          </a:prstGeom>
          <a:solidFill>
            <a:srgbClr val="FF4444"/>
          </a:solidFill>
          <a:ln w="19050">
            <a:solidFill>
              <a:srgbClr val="FF444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400" b="1">
                <a:solidFill>
                  <a:srgbClr val="121224"/>
                </a:solidFill>
              </a:defRPr>
            </a:pPr>
            <a:r>
              <a:t>No RELRO</a:t>
            </a:r>
          </a:p>
        </p:txBody>
      </p:sp>
      <p:sp>
        <p:nvSpPr>
          <p:cNvPr id="5" name="Rectangle 4"/>
          <p:cNvSpPr/>
          <p:nvPr/>
        </p:nvSpPr>
        <p:spPr>
          <a:xfrm>
            <a:off x="274320" y="1828800"/>
            <a:ext cx="2743200" cy="384048"/>
          </a:xfrm>
          <a:prstGeom prst="rect">
            <a:avLst/>
          </a:prstGeom>
          <a:solidFill>
            <a:srgbClr val="1E1E38"/>
          </a:solidFill>
          <a:ln w="19050">
            <a:solidFill>
              <a:srgbClr val="FF444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100" b="0">
                <a:solidFill>
                  <a:srgbClr val="BBBBBB"/>
                </a:solidFill>
              </a:defRPr>
            </a:pPr>
            <a:r>
              <a:t>.got writable</a:t>
            </a:r>
          </a:p>
        </p:txBody>
      </p:sp>
      <p:sp>
        <p:nvSpPr>
          <p:cNvPr id="6" name="Rectangle 5"/>
          <p:cNvSpPr/>
          <p:nvPr/>
        </p:nvSpPr>
        <p:spPr>
          <a:xfrm>
            <a:off x="274320" y="2267712"/>
            <a:ext cx="2743200" cy="384048"/>
          </a:xfrm>
          <a:prstGeom prst="rect">
            <a:avLst/>
          </a:prstGeom>
          <a:solidFill>
            <a:srgbClr val="1E1E38"/>
          </a:solidFill>
          <a:ln w="19050">
            <a:solidFill>
              <a:srgbClr val="FF444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100" b="0">
                <a:solidFill>
                  <a:srgbClr val="BBBBBB"/>
                </a:solidFill>
              </a:defRPr>
            </a:pPr>
            <a:r>
              <a:t>.got.plt writable</a:t>
            </a:r>
          </a:p>
        </p:txBody>
      </p:sp>
      <p:sp>
        <p:nvSpPr>
          <p:cNvPr id="7" name="Rectangle 6"/>
          <p:cNvSpPr/>
          <p:nvPr/>
        </p:nvSpPr>
        <p:spPr>
          <a:xfrm>
            <a:off x="274320" y="2706624"/>
            <a:ext cx="2743200" cy="384048"/>
          </a:xfrm>
          <a:prstGeom prst="rect">
            <a:avLst/>
          </a:prstGeom>
          <a:solidFill>
            <a:srgbClr val="1E1E38"/>
          </a:solidFill>
          <a:ln w="19050">
            <a:solidFill>
              <a:srgbClr val="FF444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100" b="0">
                <a:solidFill>
                  <a:srgbClr val="BBBBBB"/>
                </a:solidFill>
              </a:defRPr>
            </a:pPr>
            <a:r>
              <a:t>.dynamic writable</a:t>
            </a:r>
          </a:p>
        </p:txBody>
      </p:sp>
      <p:sp>
        <p:nvSpPr>
          <p:cNvPr id="8" name="Rectangle 7"/>
          <p:cNvSpPr/>
          <p:nvPr/>
        </p:nvSpPr>
        <p:spPr>
          <a:xfrm>
            <a:off x="274320" y="3145536"/>
            <a:ext cx="2743200" cy="384048"/>
          </a:xfrm>
          <a:prstGeom prst="rect">
            <a:avLst/>
          </a:prstGeom>
          <a:solidFill>
            <a:srgbClr val="1E1E38"/>
          </a:solidFill>
          <a:ln w="19050">
            <a:solidFill>
              <a:srgbClr val="FF444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100" b="0">
                <a:solidFill>
                  <a:srgbClr val="BBBBBB"/>
                </a:solidFill>
              </a:defRPr>
            </a:pPr>
            <a:r>
              <a:t>GOT overwrite trivial</a:t>
            </a:r>
          </a:p>
        </p:txBody>
      </p:sp>
      <p:sp>
        <p:nvSpPr>
          <p:cNvPr id="9" name="Rectangle 8"/>
          <p:cNvSpPr/>
          <p:nvPr/>
        </p:nvSpPr>
        <p:spPr>
          <a:xfrm>
            <a:off x="274320" y="3584448"/>
            <a:ext cx="2743200" cy="384048"/>
          </a:xfrm>
          <a:prstGeom prst="rect">
            <a:avLst/>
          </a:prstGeom>
          <a:solidFill>
            <a:srgbClr val="1E1E38"/>
          </a:solidFill>
          <a:ln w="19050">
            <a:solidFill>
              <a:srgbClr val="FF444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100" b="0">
                <a:solidFill>
                  <a:srgbClr val="BBBBBB"/>
                </a:solidFill>
              </a:defRPr>
            </a:pPr>
            <a:r>
              <a:t>gcc default (old)</a:t>
            </a:r>
          </a:p>
        </p:txBody>
      </p:sp>
      <p:sp>
        <p:nvSpPr>
          <p:cNvPr id="10" name="Rectangle 9"/>
          <p:cNvSpPr/>
          <p:nvPr/>
        </p:nvSpPr>
        <p:spPr>
          <a:xfrm>
            <a:off x="3200400" y="1188720"/>
            <a:ext cx="2743200" cy="457200"/>
          </a:xfrm>
          <a:prstGeom prst="rect">
            <a:avLst/>
          </a:prstGeom>
          <a:solidFill>
            <a:srgbClr val="FFD700"/>
          </a:solidFill>
          <a:ln w="19050">
            <a:solidFill>
              <a:srgbClr val="FFD7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400" b="1">
                <a:solidFill>
                  <a:srgbClr val="121224"/>
                </a:solidFill>
              </a:defRPr>
            </a:pPr>
            <a:r>
              <a:t>Partial RELRO</a:t>
            </a:r>
          </a:p>
        </p:txBody>
      </p:sp>
      <p:sp>
        <p:nvSpPr>
          <p:cNvPr id="11" name="Rectangle 10"/>
          <p:cNvSpPr/>
          <p:nvPr/>
        </p:nvSpPr>
        <p:spPr>
          <a:xfrm>
            <a:off x="3200400" y="1828800"/>
            <a:ext cx="2743200" cy="384048"/>
          </a:xfrm>
          <a:prstGeom prst="rect">
            <a:avLst/>
          </a:prstGeom>
          <a:solidFill>
            <a:srgbClr val="1E1E38"/>
          </a:solidFill>
          <a:ln w="19050">
            <a:solidFill>
              <a:srgbClr val="FFD7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100" b="0">
                <a:solidFill>
                  <a:srgbClr val="BBBBBB"/>
                </a:solidFill>
              </a:defRPr>
            </a:pPr>
            <a:r>
              <a:t>.got read-only</a:t>
            </a:r>
          </a:p>
        </p:txBody>
      </p:sp>
      <p:sp>
        <p:nvSpPr>
          <p:cNvPr id="12" name="Rectangle 11"/>
          <p:cNvSpPr/>
          <p:nvPr/>
        </p:nvSpPr>
        <p:spPr>
          <a:xfrm>
            <a:off x="3200400" y="2267712"/>
            <a:ext cx="2743200" cy="384048"/>
          </a:xfrm>
          <a:prstGeom prst="rect">
            <a:avLst/>
          </a:prstGeom>
          <a:solidFill>
            <a:srgbClr val="1E1E38"/>
          </a:solidFill>
          <a:ln w="19050">
            <a:solidFill>
              <a:srgbClr val="FFD7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100" b="0">
                <a:solidFill>
                  <a:srgbClr val="BBBBBB"/>
                </a:solidFill>
              </a:defRPr>
            </a:pPr>
            <a:r>
              <a:t>.got.plt WRITABLE</a:t>
            </a:r>
          </a:p>
        </p:txBody>
      </p:sp>
      <p:sp>
        <p:nvSpPr>
          <p:cNvPr id="13" name="Rectangle 12"/>
          <p:cNvSpPr/>
          <p:nvPr/>
        </p:nvSpPr>
        <p:spPr>
          <a:xfrm>
            <a:off x="3200400" y="2706624"/>
            <a:ext cx="2743200" cy="384048"/>
          </a:xfrm>
          <a:prstGeom prst="rect">
            <a:avLst/>
          </a:prstGeom>
          <a:solidFill>
            <a:srgbClr val="1E1E38"/>
          </a:solidFill>
          <a:ln w="19050">
            <a:solidFill>
              <a:srgbClr val="FFD7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100" b="0">
                <a:solidFill>
                  <a:srgbClr val="BBBBBB"/>
                </a:solidFill>
              </a:defRPr>
            </a:pPr>
            <a:r>
              <a:t>.dynamic read-only</a:t>
            </a:r>
          </a:p>
        </p:txBody>
      </p:sp>
      <p:sp>
        <p:nvSpPr>
          <p:cNvPr id="14" name="Rectangle 13"/>
          <p:cNvSpPr/>
          <p:nvPr/>
        </p:nvSpPr>
        <p:spPr>
          <a:xfrm>
            <a:off x="3200400" y="3145536"/>
            <a:ext cx="2743200" cy="384048"/>
          </a:xfrm>
          <a:prstGeom prst="rect">
            <a:avLst/>
          </a:prstGeom>
          <a:solidFill>
            <a:srgbClr val="1E1E38"/>
          </a:solidFill>
          <a:ln w="19050">
            <a:solidFill>
              <a:srgbClr val="FFD7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100" b="0">
                <a:solidFill>
                  <a:srgbClr val="BBBBBB"/>
                </a:solidFill>
              </a:defRPr>
            </a:pPr>
            <a:r>
              <a:t>GOT overwrite still possible</a:t>
            </a:r>
          </a:p>
        </p:txBody>
      </p:sp>
      <p:sp>
        <p:nvSpPr>
          <p:cNvPr id="15" name="Rectangle 14"/>
          <p:cNvSpPr/>
          <p:nvPr/>
        </p:nvSpPr>
        <p:spPr>
          <a:xfrm>
            <a:off x="3200400" y="3584448"/>
            <a:ext cx="2743200" cy="384048"/>
          </a:xfrm>
          <a:prstGeom prst="rect">
            <a:avLst/>
          </a:prstGeom>
          <a:solidFill>
            <a:srgbClr val="1E1E38"/>
          </a:solidFill>
          <a:ln w="19050">
            <a:solidFill>
              <a:srgbClr val="FFD7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100" b="0">
                <a:solidFill>
                  <a:srgbClr val="BBBBBB"/>
                </a:solidFill>
              </a:defRPr>
            </a:pPr>
            <a:r>
              <a:t>gcc -Wl,-z,relro</a:t>
            </a:r>
          </a:p>
        </p:txBody>
      </p:sp>
      <p:sp>
        <p:nvSpPr>
          <p:cNvPr id="16" name="Rectangle 15"/>
          <p:cNvSpPr/>
          <p:nvPr/>
        </p:nvSpPr>
        <p:spPr>
          <a:xfrm>
            <a:off x="6126480" y="1188720"/>
            <a:ext cx="2743200" cy="457200"/>
          </a:xfrm>
          <a:prstGeom prst="rect">
            <a:avLst/>
          </a:prstGeom>
          <a:solidFill>
            <a:srgbClr val="00FF88"/>
          </a:solidFill>
          <a:ln w="19050">
            <a:solidFill>
              <a:srgbClr val="00FF8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400" b="1">
                <a:solidFill>
                  <a:srgbClr val="121224"/>
                </a:solidFill>
              </a:defRPr>
            </a:pPr>
            <a:r>
              <a:t>Full RELRO</a:t>
            </a:r>
          </a:p>
        </p:txBody>
      </p:sp>
      <p:sp>
        <p:nvSpPr>
          <p:cNvPr id="17" name="Rectangle 16"/>
          <p:cNvSpPr/>
          <p:nvPr/>
        </p:nvSpPr>
        <p:spPr>
          <a:xfrm>
            <a:off x="6126480" y="1828800"/>
            <a:ext cx="2743200" cy="384048"/>
          </a:xfrm>
          <a:prstGeom prst="rect">
            <a:avLst/>
          </a:prstGeom>
          <a:solidFill>
            <a:srgbClr val="1E1E38"/>
          </a:solidFill>
          <a:ln w="19050">
            <a:solidFill>
              <a:srgbClr val="00FF8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100" b="0">
                <a:solidFill>
                  <a:srgbClr val="BBBBBB"/>
                </a:solidFill>
              </a:defRPr>
            </a:pPr>
            <a:r>
              <a:t>.got read-only</a:t>
            </a:r>
          </a:p>
        </p:txBody>
      </p:sp>
      <p:sp>
        <p:nvSpPr>
          <p:cNvPr id="18" name="Rectangle 17"/>
          <p:cNvSpPr/>
          <p:nvPr/>
        </p:nvSpPr>
        <p:spPr>
          <a:xfrm>
            <a:off x="6126480" y="2267712"/>
            <a:ext cx="2743200" cy="384048"/>
          </a:xfrm>
          <a:prstGeom prst="rect">
            <a:avLst/>
          </a:prstGeom>
          <a:solidFill>
            <a:srgbClr val="1E1E38"/>
          </a:solidFill>
          <a:ln w="19050">
            <a:solidFill>
              <a:srgbClr val="00FF8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100" b="0">
                <a:solidFill>
                  <a:srgbClr val="BBBBBB"/>
                </a:solidFill>
              </a:defRPr>
            </a:pPr>
            <a:r>
              <a:t>.got.plt READ-ONLY</a:t>
            </a:r>
          </a:p>
        </p:txBody>
      </p:sp>
      <p:sp>
        <p:nvSpPr>
          <p:cNvPr id="19" name="Rectangle 18"/>
          <p:cNvSpPr/>
          <p:nvPr/>
        </p:nvSpPr>
        <p:spPr>
          <a:xfrm>
            <a:off x="6126480" y="2706624"/>
            <a:ext cx="2743200" cy="384048"/>
          </a:xfrm>
          <a:prstGeom prst="rect">
            <a:avLst/>
          </a:prstGeom>
          <a:solidFill>
            <a:srgbClr val="1E1E38"/>
          </a:solidFill>
          <a:ln w="19050">
            <a:solidFill>
              <a:srgbClr val="00FF8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100" b="0">
                <a:solidFill>
                  <a:srgbClr val="BBBBBB"/>
                </a:solidFill>
              </a:defRPr>
            </a:pPr>
            <a:r>
              <a:t>.dynamic read-only</a:t>
            </a:r>
          </a:p>
        </p:txBody>
      </p:sp>
      <p:sp>
        <p:nvSpPr>
          <p:cNvPr id="20" name="Rectangle 19"/>
          <p:cNvSpPr/>
          <p:nvPr/>
        </p:nvSpPr>
        <p:spPr>
          <a:xfrm>
            <a:off x="6126480" y="3145536"/>
            <a:ext cx="2743200" cy="384048"/>
          </a:xfrm>
          <a:prstGeom prst="rect">
            <a:avLst/>
          </a:prstGeom>
          <a:solidFill>
            <a:srgbClr val="1E1E38"/>
          </a:solidFill>
          <a:ln w="19050">
            <a:solidFill>
              <a:srgbClr val="00FF8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100" b="0">
                <a:solidFill>
                  <a:srgbClr val="BBBBBB"/>
                </a:solidFill>
              </a:defRPr>
            </a:pPr>
            <a:r>
              <a:t>GOT overwrite blocked</a:t>
            </a:r>
          </a:p>
        </p:txBody>
      </p:sp>
      <p:sp>
        <p:nvSpPr>
          <p:cNvPr id="21" name="Rectangle 20"/>
          <p:cNvSpPr/>
          <p:nvPr/>
        </p:nvSpPr>
        <p:spPr>
          <a:xfrm>
            <a:off x="6126480" y="3584448"/>
            <a:ext cx="2743200" cy="384048"/>
          </a:xfrm>
          <a:prstGeom prst="rect">
            <a:avLst/>
          </a:prstGeom>
          <a:solidFill>
            <a:srgbClr val="1E1E38"/>
          </a:solidFill>
          <a:ln w="19050">
            <a:solidFill>
              <a:srgbClr val="00FF8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100" b="0">
                <a:solidFill>
                  <a:srgbClr val="BBBBBB"/>
                </a:solidFill>
              </a:defRPr>
            </a:pPr>
            <a:r>
              <a:t>gcc -Wl,-z,relro,-z,now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457200" y="4754880"/>
            <a:ext cx="822960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BBBBBB"/>
                </a:solidFill>
                <a:latin typeface="Calibri"/>
              </a:defRPr>
            </a:pPr>
            <a:r>
              <a:t>Trade-off: Full RELRO forces eager binding (all symbols resolved at load time) → slower startup for large binaries with many imports. Modern distros default to Full RELRO. Combine with PIE + stack canaries + NX for layered defense.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21224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82296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600" b="1">
                <a:solidFill>
                  <a:srgbClr val="FFFFFF"/>
                </a:solidFill>
                <a:latin typeface="Calibri"/>
              </a:defRPr>
            </a:pPr>
            <a:r>
              <a:t>PE/COFF Format Structure (Windows)</a:t>
            </a:r>
          </a:p>
        </p:txBody>
      </p:sp>
      <p:sp>
        <p:nvSpPr>
          <p:cNvPr id="3" name="Rectangle 2"/>
          <p:cNvSpPr/>
          <p:nvPr/>
        </p:nvSpPr>
        <p:spPr>
          <a:xfrm>
            <a:off x="457200" y="822960"/>
            <a:ext cx="8229600" cy="25400"/>
          </a:xfrm>
          <a:prstGeom prst="rect">
            <a:avLst/>
          </a:prstGeom>
          <a:solidFill>
            <a:srgbClr val="00D4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1371600" y="1097280"/>
            <a:ext cx="5029200" cy="384048"/>
          </a:xfrm>
          <a:prstGeom prst="rect">
            <a:avLst/>
          </a:prstGeom>
          <a:solidFill>
            <a:srgbClr val="1E1E38"/>
          </a:solidFill>
          <a:ln w="19050">
            <a:solidFill>
              <a:srgbClr val="00D4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000" b="0">
                <a:solidFill>
                  <a:srgbClr val="FFFFFF"/>
                </a:solidFill>
              </a:defRPr>
            </a:pPr>
            <a:r>
              <a:t>DOS Header (64 bytes) — e_magic = 'MZ'</a:t>
            </a:r>
          </a:p>
        </p:txBody>
      </p:sp>
      <p:sp>
        <p:nvSpPr>
          <p:cNvPr id="5" name="Rectangle 4"/>
          <p:cNvSpPr/>
          <p:nvPr/>
        </p:nvSpPr>
        <p:spPr>
          <a:xfrm>
            <a:off x="1371600" y="1536192"/>
            <a:ext cx="5029200" cy="384048"/>
          </a:xfrm>
          <a:prstGeom prst="rect">
            <a:avLst/>
          </a:prstGeom>
          <a:solidFill>
            <a:srgbClr val="1E1E38"/>
          </a:solidFill>
          <a:ln w="19050">
            <a:solidFill>
              <a:srgbClr val="4444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000" b="0">
                <a:solidFill>
                  <a:srgbClr val="FFFFFF"/>
                </a:solidFill>
              </a:defRPr>
            </a:pPr>
            <a:r>
              <a:t>DOS Stub (optional legacy code)</a:t>
            </a:r>
          </a:p>
        </p:txBody>
      </p:sp>
      <p:sp>
        <p:nvSpPr>
          <p:cNvPr id="6" name="Rectangle 5"/>
          <p:cNvSpPr/>
          <p:nvPr/>
        </p:nvSpPr>
        <p:spPr>
          <a:xfrm>
            <a:off x="1371600" y="1975104"/>
            <a:ext cx="5029200" cy="384048"/>
          </a:xfrm>
          <a:prstGeom prst="rect">
            <a:avLst/>
          </a:prstGeom>
          <a:solidFill>
            <a:srgbClr val="1E1E38"/>
          </a:solidFill>
          <a:ln w="19050">
            <a:solidFill>
              <a:srgbClr val="00D4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000" b="0">
                <a:solidFill>
                  <a:srgbClr val="FFFFFF"/>
                </a:solidFill>
              </a:defRPr>
            </a:pPr>
            <a:r>
              <a:t>PE Signature = 'PE\0\0'</a:t>
            </a:r>
          </a:p>
        </p:txBody>
      </p:sp>
      <p:sp>
        <p:nvSpPr>
          <p:cNvPr id="7" name="Rectangle 6"/>
          <p:cNvSpPr/>
          <p:nvPr/>
        </p:nvSpPr>
        <p:spPr>
          <a:xfrm>
            <a:off x="1371600" y="2414016"/>
            <a:ext cx="5029200" cy="384048"/>
          </a:xfrm>
          <a:prstGeom prst="rect">
            <a:avLst/>
          </a:prstGeom>
          <a:solidFill>
            <a:srgbClr val="1E1E38"/>
          </a:solidFill>
          <a:ln w="19050">
            <a:solidFill>
              <a:srgbClr val="BB86F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000" b="0">
                <a:solidFill>
                  <a:srgbClr val="FFFFFF"/>
                </a:solidFill>
              </a:defRPr>
            </a:pPr>
            <a:r>
              <a:t>COFF Header — machine, section count, timestamp</a:t>
            </a:r>
          </a:p>
        </p:txBody>
      </p:sp>
      <p:sp>
        <p:nvSpPr>
          <p:cNvPr id="8" name="Rectangle 7"/>
          <p:cNvSpPr/>
          <p:nvPr/>
        </p:nvSpPr>
        <p:spPr>
          <a:xfrm>
            <a:off x="1371600" y="2852928"/>
            <a:ext cx="5029200" cy="384048"/>
          </a:xfrm>
          <a:prstGeom prst="rect">
            <a:avLst/>
          </a:prstGeom>
          <a:solidFill>
            <a:srgbClr val="1E1E38"/>
          </a:solidFill>
          <a:ln w="19050">
            <a:solidFill>
              <a:srgbClr val="BB86F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000" b="0">
                <a:solidFill>
                  <a:srgbClr val="FFFFFF"/>
                </a:solidFill>
              </a:defRPr>
            </a:pPr>
            <a:r>
              <a:t>Optional Header — entry point, image base, subsystem</a:t>
            </a:r>
          </a:p>
        </p:txBody>
      </p:sp>
      <p:sp>
        <p:nvSpPr>
          <p:cNvPr id="9" name="Rectangle 8"/>
          <p:cNvSpPr/>
          <p:nvPr/>
        </p:nvSpPr>
        <p:spPr>
          <a:xfrm>
            <a:off x="1371600" y="3291840"/>
            <a:ext cx="5029200" cy="384048"/>
          </a:xfrm>
          <a:prstGeom prst="rect">
            <a:avLst/>
          </a:prstGeom>
          <a:solidFill>
            <a:srgbClr val="1E1E38"/>
          </a:solidFill>
          <a:ln w="19050">
            <a:solidFill>
              <a:srgbClr val="FF9F4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000" b="0">
                <a:solidFill>
                  <a:srgbClr val="FFFFFF"/>
                </a:solidFill>
              </a:defRPr>
            </a:pPr>
            <a:r>
              <a:t>Data Directories[16] — import, export, reloc, TLS, CLR</a:t>
            </a:r>
          </a:p>
        </p:txBody>
      </p:sp>
      <p:sp>
        <p:nvSpPr>
          <p:cNvPr id="10" name="Rectangle 9"/>
          <p:cNvSpPr/>
          <p:nvPr/>
        </p:nvSpPr>
        <p:spPr>
          <a:xfrm>
            <a:off x="1371600" y="3730752"/>
            <a:ext cx="5029200" cy="384048"/>
          </a:xfrm>
          <a:prstGeom prst="rect">
            <a:avLst/>
          </a:prstGeom>
          <a:solidFill>
            <a:srgbClr val="1E1E38"/>
          </a:solidFill>
          <a:ln w="19050">
            <a:solidFill>
              <a:srgbClr val="00FF8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000" b="0">
                <a:solidFill>
                  <a:srgbClr val="FFFFFF"/>
                </a:solidFill>
              </a:defRPr>
            </a:pPr>
            <a:r>
              <a:t>.text — executable code</a:t>
            </a:r>
          </a:p>
        </p:txBody>
      </p:sp>
      <p:sp>
        <p:nvSpPr>
          <p:cNvPr id="11" name="Rectangle 10"/>
          <p:cNvSpPr/>
          <p:nvPr/>
        </p:nvSpPr>
        <p:spPr>
          <a:xfrm>
            <a:off x="1371600" y="4169664"/>
            <a:ext cx="5029200" cy="384048"/>
          </a:xfrm>
          <a:prstGeom prst="rect">
            <a:avLst/>
          </a:prstGeom>
          <a:solidFill>
            <a:srgbClr val="1E1E38"/>
          </a:solidFill>
          <a:ln w="19050">
            <a:solidFill>
              <a:srgbClr val="00FF8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000" b="0">
                <a:solidFill>
                  <a:srgbClr val="FFFFFF"/>
                </a:solidFill>
              </a:defRPr>
            </a:pPr>
            <a:r>
              <a:t>.rdata — read-only data, import tables</a:t>
            </a:r>
          </a:p>
        </p:txBody>
      </p:sp>
      <p:sp>
        <p:nvSpPr>
          <p:cNvPr id="12" name="Rectangle 11"/>
          <p:cNvSpPr/>
          <p:nvPr/>
        </p:nvSpPr>
        <p:spPr>
          <a:xfrm>
            <a:off x="1371600" y="4608576"/>
            <a:ext cx="5029200" cy="384048"/>
          </a:xfrm>
          <a:prstGeom prst="rect">
            <a:avLst/>
          </a:prstGeom>
          <a:solidFill>
            <a:srgbClr val="1E1E38"/>
          </a:solidFill>
          <a:ln w="19050">
            <a:solidFill>
              <a:srgbClr val="FFD7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000" b="0">
                <a:solidFill>
                  <a:srgbClr val="FFFFFF"/>
                </a:solidFill>
              </a:defRPr>
            </a:pPr>
            <a:r>
              <a:t>.data / .bss — initialized/uninitialized data</a:t>
            </a:r>
          </a:p>
        </p:txBody>
      </p:sp>
      <p:sp>
        <p:nvSpPr>
          <p:cNvPr id="13" name="Rectangle 12"/>
          <p:cNvSpPr/>
          <p:nvPr/>
        </p:nvSpPr>
        <p:spPr>
          <a:xfrm>
            <a:off x="1371600" y="5047488"/>
            <a:ext cx="5029200" cy="384048"/>
          </a:xfrm>
          <a:prstGeom prst="rect">
            <a:avLst/>
          </a:prstGeom>
          <a:solidFill>
            <a:srgbClr val="1E1E38"/>
          </a:solidFill>
          <a:ln w="19050">
            <a:solidFill>
              <a:srgbClr val="FFD7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000" b="0">
                <a:solidFill>
                  <a:srgbClr val="FFFFFF"/>
                </a:solidFill>
              </a:defRPr>
            </a:pPr>
            <a:r>
              <a:t>.rsrc — resources (icons, manifests)</a:t>
            </a:r>
          </a:p>
        </p:txBody>
      </p:sp>
      <p:sp>
        <p:nvSpPr>
          <p:cNvPr id="14" name="Rectangle 13"/>
          <p:cNvSpPr/>
          <p:nvPr/>
        </p:nvSpPr>
        <p:spPr>
          <a:xfrm>
            <a:off x="1371600" y="5486400"/>
            <a:ext cx="5029200" cy="384048"/>
          </a:xfrm>
          <a:prstGeom prst="rect">
            <a:avLst/>
          </a:prstGeom>
          <a:solidFill>
            <a:srgbClr val="1E1E38"/>
          </a:solidFill>
          <a:ln w="19050">
            <a:solidFill>
              <a:srgbClr val="FF9F4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000" b="0">
                <a:solidFill>
                  <a:srgbClr val="FFFFFF"/>
                </a:solidFill>
              </a:defRPr>
            </a:pPr>
            <a:r>
              <a:t>.reloc — base relocation table (for ASLR)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6675120" y="1371600"/>
            <a:ext cx="2286000" cy="3657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BBBBBB"/>
                </a:solidFill>
                <a:latin typeface="Calibri"/>
              </a:defRPr>
            </a:pPr>
            <a:r>
              <a:t>Key differences from ELF:</a:t>
            </a:r>
            <a:br/>
            <a:br/>
            <a:r>
              <a:t>• RVA (Relative Virtual Address)</a:t>
            </a:r>
            <a:br/>
            <a:r>
              <a:t>  instead of absolute vaddr</a:t>
            </a:r>
            <a:br/>
            <a:br/>
            <a:r>
              <a:t>• Import Address Table (IAT)</a:t>
            </a:r>
            <a:br/>
            <a:r>
              <a:t>  ≈ GOT in ELF</a:t>
            </a:r>
            <a:br/>
            <a:br/>
            <a:r>
              <a:t>• Data Directories index</a:t>
            </a:r>
            <a:br/>
            <a:r>
              <a:t>  critical structures</a:t>
            </a:r>
            <a:br/>
            <a:br/>
            <a:r>
              <a:t>• Authenticode signatures</a:t>
            </a:r>
            <a:br/>
            <a:r>
              <a:t>  in security directory</a:t>
            </a:r>
            <a:br/>
            <a:br/>
            <a:r>
              <a:t>• Rich header (undocumented)</a:t>
            </a:r>
            <a:br/>
            <a:r>
              <a:t>  — build environment info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21224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82296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600" b="1">
                <a:solidFill>
                  <a:srgbClr val="FFFFFF"/>
                </a:solidFill>
                <a:latin typeface="Calibri"/>
              </a:defRPr>
            </a:pPr>
            <a:r>
              <a:t>PE vs ELF — Feature Comparison</a:t>
            </a:r>
          </a:p>
        </p:txBody>
      </p:sp>
      <p:sp>
        <p:nvSpPr>
          <p:cNvPr id="3" name="Rectangle 2"/>
          <p:cNvSpPr/>
          <p:nvPr/>
        </p:nvSpPr>
        <p:spPr>
          <a:xfrm>
            <a:off x="457200" y="822960"/>
            <a:ext cx="8229600" cy="25400"/>
          </a:xfrm>
          <a:prstGeom prst="rect">
            <a:avLst/>
          </a:prstGeom>
          <a:solidFill>
            <a:srgbClr val="00D4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4" name="Picture 3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14400" y="1097280"/>
            <a:ext cx="7315200" cy="4114800"/>
          </a:xfrm>
          <a:prstGeom prst="rect">
            <a:avLst/>
          </a:prstGeom>
        </p:spPr>
      </p:pic>
      <p:sp>
        <p:nvSpPr>
          <p:cNvPr id="5" name="TextBox 4"/>
          <p:cNvSpPr txBox="1"/>
          <p:nvPr/>
        </p:nvSpPr>
        <p:spPr>
          <a:xfrm>
            <a:off x="457200" y="5486400"/>
            <a:ext cx="822960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BBBBBB"/>
                </a:solidFill>
                <a:latin typeface="Calibri"/>
              </a:defRPr>
            </a:pPr>
            <a:r>
              <a:t>ELF excels in section flexibility and dynamic linking granularity. PE leads in code signing (Authenticode) and header metadata richness. Both support full ASLR with appropriate compilation flags.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21224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365760" y="2011680"/>
            <a:ext cx="1097280" cy="1097280"/>
          </a:xfrm>
          <a:prstGeom prst="rect">
            <a:avLst/>
          </a:prstGeom>
          <a:solidFill>
            <a:srgbClr val="00D4FF"/>
          </a:solidFill>
          <a:ln w="19050">
            <a:solidFill>
              <a:srgbClr val="00D4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3600" b="1">
                <a:solidFill>
                  <a:srgbClr val="121224"/>
                </a:solidFill>
              </a:defRPr>
            </a:pPr>
            <a:r>
              <a:t>II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1828800" y="2011680"/>
            <a:ext cx="68580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200" b="1">
                <a:solidFill>
                  <a:srgbClr val="FFFFFF"/>
                </a:solidFill>
                <a:latin typeface="Calibri"/>
              </a:defRPr>
            </a:pPr>
            <a:r>
              <a:t>Process Memory &amp;</a:t>
            </a:r>
            <a:br/>
            <a:r>
              <a:t>OS Primitives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828800" y="2926080"/>
            <a:ext cx="685800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0">
                <a:solidFill>
                  <a:srgbClr val="BBBBBB"/>
                </a:solidFill>
                <a:latin typeface="Calibri"/>
              </a:defRPr>
            </a:pPr>
            <a:r>
              <a:t>Virtual address space, page tables, syscalls, seccomp, capabilities, namespaces, LSMs, and cgroups</a:t>
            </a:r>
          </a:p>
        </p:txBody>
      </p:sp>
      <p:sp>
        <p:nvSpPr>
          <p:cNvPr id="5" name="Rectangle 4"/>
          <p:cNvSpPr/>
          <p:nvPr/>
        </p:nvSpPr>
        <p:spPr>
          <a:xfrm>
            <a:off x="1828800" y="2743200"/>
            <a:ext cx="6400800" cy="25400"/>
          </a:xfrm>
          <a:prstGeom prst="rect">
            <a:avLst/>
          </a:prstGeom>
          <a:solidFill>
            <a:srgbClr val="00D4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21224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82296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600" b="1">
                <a:solidFill>
                  <a:srgbClr val="FFFFFF"/>
                </a:solidFill>
                <a:latin typeface="Calibri"/>
              </a:defRPr>
            </a:pPr>
            <a:r>
              <a:t>x86-64 Virtual Address Space Layout</a:t>
            </a:r>
          </a:p>
        </p:txBody>
      </p:sp>
      <p:sp>
        <p:nvSpPr>
          <p:cNvPr id="3" name="Rectangle 2"/>
          <p:cNvSpPr/>
          <p:nvPr/>
        </p:nvSpPr>
        <p:spPr>
          <a:xfrm>
            <a:off x="457200" y="822960"/>
            <a:ext cx="8229600" cy="25400"/>
          </a:xfrm>
          <a:prstGeom prst="rect">
            <a:avLst/>
          </a:prstGeom>
          <a:solidFill>
            <a:srgbClr val="00D4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914400" y="1005840"/>
            <a:ext cx="5029200" cy="320040"/>
          </a:xfrm>
          <a:prstGeom prst="rect">
            <a:avLst/>
          </a:prstGeom>
          <a:solidFill>
            <a:srgbClr val="1E1E38"/>
          </a:solidFill>
          <a:ln w="19050">
            <a:solidFill>
              <a:srgbClr val="FF444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000" b="0">
                <a:solidFill>
                  <a:srgbClr val="FF4444"/>
                </a:solidFill>
              </a:defRPr>
            </a:pPr>
            <a:r>
              <a:t>0xFFFFFFFF_FFFFFFFF  Kernel Space (upper half)</a:t>
            </a:r>
          </a:p>
        </p:txBody>
      </p:sp>
      <p:sp>
        <p:nvSpPr>
          <p:cNvPr id="5" name="Rectangle 4"/>
          <p:cNvSpPr/>
          <p:nvPr/>
        </p:nvSpPr>
        <p:spPr>
          <a:xfrm>
            <a:off x="914400" y="1371600"/>
            <a:ext cx="5029200" cy="320040"/>
          </a:xfrm>
          <a:prstGeom prst="rect">
            <a:avLst/>
          </a:prstGeom>
          <a:solidFill>
            <a:srgbClr val="1E1E38"/>
          </a:solidFill>
          <a:ln w="19050">
            <a:solidFill>
              <a:srgbClr val="FF444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000" b="0">
                <a:solidFill>
                  <a:srgbClr val="FF4444"/>
                </a:solidFill>
              </a:defRPr>
            </a:pPr>
            <a:r>
              <a:t>0xFFFF8000_00000000  Kernel text, modules, vmalloc</a:t>
            </a:r>
          </a:p>
        </p:txBody>
      </p:sp>
      <p:sp>
        <p:nvSpPr>
          <p:cNvPr id="6" name="Rectangle 5"/>
          <p:cNvSpPr/>
          <p:nvPr/>
        </p:nvSpPr>
        <p:spPr>
          <a:xfrm>
            <a:off x="914400" y="1737360"/>
            <a:ext cx="5029200" cy="320040"/>
          </a:xfrm>
          <a:prstGeom prst="rect">
            <a:avLst/>
          </a:prstGeom>
          <a:solidFill>
            <a:srgbClr val="1E1E38"/>
          </a:solidFill>
          <a:ln w="19050">
            <a:solidFill>
              <a:srgbClr val="4444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000" b="0">
                <a:solidFill>
                  <a:srgbClr val="444455"/>
                </a:solidFill>
              </a:defRPr>
            </a:pPr>
            <a:r>
              <a:t>— canonical hole —</a:t>
            </a:r>
          </a:p>
        </p:txBody>
      </p:sp>
      <p:sp>
        <p:nvSpPr>
          <p:cNvPr id="7" name="Rectangle 6"/>
          <p:cNvSpPr/>
          <p:nvPr/>
        </p:nvSpPr>
        <p:spPr>
          <a:xfrm>
            <a:off x="914400" y="2194560"/>
            <a:ext cx="5029200" cy="320040"/>
          </a:xfrm>
          <a:prstGeom prst="rect">
            <a:avLst/>
          </a:prstGeom>
          <a:solidFill>
            <a:srgbClr val="1E1E38"/>
          </a:solidFill>
          <a:ln w="19050">
            <a:solidFill>
              <a:srgbClr val="BB86F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000" b="0">
                <a:solidFill>
                  <a:srgbClr val="BB86FC"/>
                </a:solidFill>
              </a:defRPr>
            </a:pPr>
            <a:r>
              <a:t>0x7FFFFFFF_FFFF  [stack] ↓ grows down</a:t>
            </a:r>
          </a:p>
        </p:txBody>
      </p:sp>
      <p:sp>
        <p:nvSpPr>
          <p:cNvPr id="8" name="Rectangle 7"/>
          <p:cNvSpPr/>
          <p:nvPr/>
        </p:nvSpPr>
        <p:spPr>
          <a:xfrm>
            <a:off x="914400" y="2926080"/>
            <a:ext cx="5029200" cy="320040"/>
          </a:xfrm>
          <a:prstGeom prst="rect">
            <a:avLst/>
          </a:prstGeom>
          <a:solidFill>
            <a:srgbClr val="1E1E38"/>
          </a:solidFill>
          <a:ln w="19050">
            <a:solidFill>
              <a:srgbClr val="FF9F4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000" b="0">
                <a:solidFill>
                  <a:srgbClr val="FF9F43"/>
                </a:solidFill>
              </a:defRPr>
            </a:pPr>
            <a:r>
              <a:t>↕ mmap region (libraries, anon)</a:t>
            </a:r>
          </a:p>
        </p:txBody>
      </p:sp>
      <p:sp>
        <p:nvSpPr>
          <p:cNvPr id="9" name="Rectangle 8"/>
          <p:cNvSpPr/>
          <p:nvPr/>
        </p:nvSpPr>
        <p:spPr>
          <a:xfrm>
            <a:off x="914400" y="3657600"/>
            <a:ext cx="5029200" cy="320040"/>
          </a:xfrm>
          <a:prstGeom prst="rect">
            <a:avLst/>
          </a:prstGeom>
          <a:solidFill>
            <a:srgbClr val="1E1E38"/>
          </a:solidFill>
          <a:ln w="19050">
            <a:solidFill>
              <a:srgbClr val="00FF8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000" b="0">
                <a:solidFill>
                  <a:srgbClr val="00FF88"/>
                </a:solidFill>
              </a:defRPr>
            </a:pPr>
            <a:r>
              <a:t>[heap] ↑ grows up (brk)</a:t>
            </a:r>
          </a:p>
        </p:txBody>
      </p:sp>
      <p:sp>
        <p:nvSpPr>
          <p:cNvPr id="10" name="Rectangle 9"/>
          <p:cNvSpPr/>
          <p:nvPr/>
        </p:nvSpPr>
        <p:spPr>
          <a:xfrm>
            <a:off x="914400" y="4114800"/>
            <a:ext cx="5029200" cy="320040"/>
          </a:xfrm>
          <a:prstGeom prst="rect">
            <a:avLst/>
          </a:prstGeom>
          <a:solidFill>
            <a:srgbClr val="1E1E38"/>
          </a:solidFill>
          <a:ln w="19050">
            <a:solidFill>
              <a:srgbClr val="FFD7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000" b="0">
                <a:solidFill>
                  <a:srgbClr val="FFD700"/>
                </a:solidFill>
              </a:defRPr>
            </a:pPr>
            <a:r>
              <a:t>.bss / .data (RW)</a:t>
            </a:r>
          </a:p>
        </p:txBody>
      </p:sp>
      <p:sp>
        <p:nvSpPr>
          <p:cNvPr id="11" name="Rectangle 10"/>
          <p:cNvSpPr/>
          <p:nvPr/>
        </p:nvSpPr>
        <p:spPr>
          <a:xfrm>
            <a:off x="914400" y="4480560"/>
            <a:ext cx="5029200" cy="320040"/>
          </a:xfrm>
          <a:prstGeom prst="rect">
            <a:avLst/>
          </a:prstGeom>
          <a:solidFill>
            <a:srgbClr val="1E1E38"/>
          </a:solidFill>
          <a:ln w="19050">
            <a:solidFill>
              <a:srgbClr val="FFD7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000" b="0">
                <a:solidFill>
                  <a:srgbClr val="FFD700"/>
                </a:solidFill>
              </a:defRPr>
            </a:pPr>
            <a:r>
              <a:t>.rodata (R)</a:t>
            </a:r>
          </a:p>
        </p:txBody>
      </p:sp>
      <p:sp>
        <p:nvSpPr>
          <p:cNvPr id="12" name="Rectangle 11"/>
          <p:cNvSpPr/>
          <p:nvPr/>
        </p:nvSpPr>
        <p:spPr>
          <a:xfrm>
            <a:off x="914400" y="4846320"/>
            <a:ext cx="5029200" cy="320040"/>
          </a:xfrm>
          <a:prstGeom prst="rect">
            <a:avLst/>
          </a:prstGeom>
          <a:solidFill>
            <a:srgbClr val="1E1E38"/>
          </a:solidFill>
          <a:ln w="19050">
            <a:solidFill>
              <a:srgbClr val="00D4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000" b="0">
                <a:solidFill>
                  <a:srgbClr val="00D4FF"/>
                </a:solidFill>
              </a:defRPr>
            </a:pPr>
            <a:r>
              <a:t>.text (RX) — code</a:t>
            </a:r>
          </a:p>
        </p:txBody>
      </p:sp>
      <p:sp>
        <p:nvSpPr>
          <p:cNvPr id="13" name="Rectangle 12"/>
          <p:cNvSpPr/>
          <p:nvPr/>
        </p:nvSpPr>
        <p:spPr>
          <a:xfrm>
            <a:off x="914400" y="5212080"/>
            <a:ext cx="5029200" cy="320040"/>
          </a:xfrm>
          <a:prstGeom prst="rect">
            <a:avLst/>
          </a:prstGeom>
          <a:solidFill>
            <a:srgbClr val="1E1E38"/>
          </a:solidFill>
          <a:ln w="19050">
            <a:solidFill>
              <a:srgbClr val="00D4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000" b="0">
                <a:solidFill>
                  <a:srgbClr val="00D4FF"/>
                </a:solidFill>
              </a:defRPr>
            </a:pPr>
            <a:r>
              <a:t>0x0000_00400000  ELF base (non-PIE) or random (PIE)</a:t>
            </a:r>
          </a:p>
        </p:txBody>
      </p:sp>
      <p:sp>
        <p:nvSpPr>
          <p:cNvPr id="14" name="Rectangle 13"/>
          <p:cNvSpPr/>
          <p:nvPr/>
        </p:nvSpPr>
        <p:spPr>
          <a:xfrm>
            <a:off x="914400" y="5577840"/>
            <a:ext cx="5029200" cy="320040"/>
          </a:xfrm>
          <a:prstGeom prst="rect">
            <a:avLst/>
          </a:prstGeom>
          <a:solidFill>
            <a:srgbClr val="1E1E38"/>
          </a:solidFill>
          <a:ln w="19050">
            <a:solidFill>
              <a:srgbClr val="4444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000" b="0">
                <a:solidFill>
                  <a:srgbClr val="444455"/>
                </a:solidFill>
              </a:defRPr>
            </a:pPr>
            <a:r>
              <a:t>0x0  NULL page (unmapped)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6400800" y="1371600"/>
            <a:ext cx="256032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BBBBBB"/>
                </a:solidFill>
                <a:latin typeface="Calibri"/>
              </a:defRPr>
            </a:pPr>
            <a:r>
              <a:t>ASLR randomizes:</a:t>
            </a:r>
            <a:br/>
            <a:r>
              <a:t>• Stack base (28 bits)</a:t>
            </a:r>
            <a:br/>
            <a:r>
              <a:t>• mmap base (28 bits)</a:t>
            </a:r>
            <a:br/>
            <a:r>
              <a:t>• Heap base (13 bits)</a:t>
            </a:r>
            <a:br/>
            <a:r>
              <a:t>• PIE base (28 bits)</a:t>
            </a:r>
            <a:br/>
            <a:br/>
            <a:r>
              <a:t>Kernel half isolated</a:t>
            </a:r>
            <a:br/>
            <a:r>
              <a:t>by KPTI (Meltdown fix)</a:t>
            </a:r>
            <a:br/>
            <a:br/>
            <a:r>
              <a:t>NX bit enforced per page:</a:t>
            </a:r>
            <a:br/>
            <a:r>
              <a:t>stack = RW (no exec)</a:t>
            </a:r>
            <a:br/>
            <a:r>
              <a:t>code = RX (no write)</a:t>
            </a:r>
            <a:br/>
            <a:r>
              <a:t>heap = RW (no exec)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21224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82296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600" b="1">
                <a:solidFill>
                  <a:srgbClr val="FFFFFF"/>
                </a:solidFill>
                <a:latin typeface="Calibri"/>
              </a:defRPr>
            </a:pPr>
            <a:r>
              <a:t>4-Level Page Table Hierarchy (x86-64)</a:t>
            </a:r>
          </a:p>
        </p:txBody>
      </p:sp>
      <p:sp>
        <p:nvSpPr>
          <p:cNvPr id="3" name="Rectangle 2"/>
          <p:cNvSpPr/>
          <p:nvPr/>
        </p:nvSpPr>
        <p:spPr>
          <a:xfrm>
            <a:off x="457200" y="822960"/>
            <a:ext cx="8229600" cy="25400"/>
          </a:xfrm>
          <a:prstGeom prst="rect">
            <a:avLst/>
          </a:prstGeom>
          <a:solidFill>
            <a:srgbClr val="00D4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457200" y="1371600"/>
            <a:ext cx="1554480" cy="822960"/>
          </a:xfrm>
          <a:prstGeom prst="rect">
            <a:avLst/>
          </a:prstGeom>
          <a:solidFill>
            <a:srgbClr val="1E1E38"/>
          </a:solidFill>
          <a:ln w="19050">
            <a:solidFill>
              <a:srgbClr val="00D4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900" b="0">
                <a:solidFill>
                  <a:srgbClr val="FFFFFF"/>
                </a:solidFill>
              </a:defRPr>
            </a:pPr>
            <a:r>
              <a:t>CR3 Register</a:t>
            </a:r>
          </a:p>
        </p:txBody>
      </p:sp>
      <p:sp>
        <p:nvSpPr>
          <p:cNvPr id="5" name="Rectangle 4"/>
          <p:cNvSpPr/>
          <p:nvPr/>
        </p:nvSpPr>
        <p:spPr>
          <a:xfrm>
            <a:off x="1828800" y="1371600"/>
            <a:ext cx="1554480" cy="822960"/>
          </a:xfrm>
          <a:prstGeom prst="rect">
            <a:avLst/>
          </a:prstGeom>
          <a:solidFill>
            <a:srgbClr val="1E1E38"/>
          </a:solidFill>
          <a:ln w="19050">
            <a:solidFill>
              <a:srgbClr val="BB86F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900" b="0">
                <a:solidFill>
                  <a:srgbClr val="FFFFFF"/>
                </a:solidFill>
              </a:defRPr>
            </a:pPr>
            <a:r>
              <a:t>PGD (Page Global Dir)</a:t>
            </a:r>
            <a:br/>
            <a:r>
              <a:t>512 entries — bits [47:39]</a:t>
            </a:r>
          </a:p>
        </p:txBody>
      </p:sp>
      <p:sp>
        <p:nvSpPr>
          <p:cNvPr id="6" name="Rectangle 5"/>
          <p:cNvSpPr/>
          <p:nvPr/>
        </p:nvSpPr>
        <p:spPr>
          <a:xfrm>
            <a:off x="3200400" y="1371600"/>
            <a:ext cx="1554480" cy="822960"/>
          </a:xfrm>
          <a:prstGeom prst="rect">
            <a:avLst/>
          </a:prstGeom>
          <a:solidFill>
            <a:srgbClr val="1E1E38"/>
          </a:solidFill>
          <a:ln w="19050">
            <a:solidFill>
              <a:srgbClr val="FFD7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900" b="0">
                <a:solidFill>
                  <a:srgbClr val="FFFFFF"/>
                </a:solidFill>
              </a:defRPr>
            </a:pPr>
            <a:r>
              <a:t>PUD (Page Upper Dir)</a:t>
            </a:r>
            <a:br/>
            <a:r>
              <a:t>512 entries — bits [38:30]</a:t>
            </a:r>
          </a:p>
        </p:txBody>
      </p:sp>
      <p:sp>
        <p:nvSpPr>
          <p:cNvPr id="7" name="Rectangle 6"/>
          <p:cNvSpPr/>
          <p:nvPr/>
        </p:nvSpPr>
        <p:spPr>
          <a:xfrm>
            <a:off x="4572000" y="1371600"/>
            <a:ext cx="1554480" cy="822960"/>
          </a:xfrm>
          <a:prstGeom prst="rect">
            <a:avLst/>
          </a:prstGeom>
          <a:solidFill>
            <a:srgbClr val="1E1E38"/>
          </a:solidFill>
          <a:ln w="19050">
            <a:solidFill>
              <a:srgbClr val="FF9F4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900" b="0">
                <a:solidFill>
                  <a:srgbClr val="FFFFFF"/>
                </a:solidFill>
              </a:defRPr>
            </a:pPr>
            <a:r>
              <a:t>PMD (Page Middle Dir)</a:t>
            </a:r>
            <a:br/>
            <a:r>
              <a:t>512 entries — bits [29:21]</a:t>
            </a:r>
          </a:p>
        </p:txBody>
      </p:sp>
      <p:sp>
        <p:nvSpPr>
          <p:cNvPr id="8" name="Rectangle 7"/>
          <p:cNvSpPr/>
          <p:nvPr/>
        </p:nvSpPr>
        <p:spPr>
          <a:xfrm>
            <a:off x="5943600" y="1371600"/>
            <a:ext cx="1554480" cy="822960"/>
          </a:xfrm>
          <a:prstGeom prst="rect">
            <a:avLst/>
          </a:prstGeom>
          <a:solidFill>
            <a:srgbClr val="1E1E38"/>
          </a:solidFill>
          <a:ln w="19050">
            <a:solidFill>
              <a:srgbClr val="00FF8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900" b="0">
                <a:solidFill>
                  <a:srgbClr val="FFFFFF"/>
                </a:solidFill>
              </a:defRPr>
            </a:pPr>
            <a:r>
              <a:t>PTE (Page Table Entry)</a:t>
            </a:r>
            <a:br/>
            <a:r>
              <a:t>512 entries — bits [20:12]</a:t>
            </a:r>
          </a:p>
        </p:txBody>
      </p:sp>
      <p:sp>
        <p:nvSpPr>
          <p:cNvPr id="9" name="Right Arrow 8"/>
          <p:cNvSpPr/>
          <p:nvPr/>
        </p:nvSpPr>
        <p:spPr>
          <a:xfrm>
            <a:off x="2057400" y="1645920"/>
            <a:ext cx="-228600" cy="274320"/>
          </a:xfrm>
          <a:prstGeom prst="rightArrow">
            <a:avLst/>
          </a:prstGeom>
          <a:solidFill>
            <a:srgbClr val="00D4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ight Arrow 9"/>
          <p:cNvSpPr/>
          <p:nvPr/>
        </p:nvSpPr>
        <p:spPr>
          <a:xfrm>
            <a:off x="3429000" y="1645920"/>
            <a:ext cx="-228600" cy="274320"/>
          </a:xfrm>
          <a:prstGeom prst="rightArrow">
            <a:avLst/>
          </a:prstGeom>
          <a:solidFill>
            <a:srgbClr val="BB86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ight Arrow 10"/>
          <p:cNvSpPr/>
          <p:nvPr/>
        </p:nvSpPr>
        <p:spPr>
          <a:xfrm>
            <a:off x="4800600" y="1645920"/>
            <a:ext cx="-228600" cy="274320"/>
          </a:xfrm>
          <a:prstGeom prst="rightArrow">
            <a:avLst/>
          </a:prstGeom>
          <a:solidFill>
            <a:srgbClr val="FFD7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ight Arrow 11"/>
          <p:cNvSpPr/>
          <p:nvPr/>
        </p:nvSpPr>
        <p:spPr>
          <a:xfrm>
            <a:off x="6172200" y="1645920"/>
            <a:ext cx="-228600" cy="274320"/>
          </a:xfrm>
          <a:prstGeom prst="rightArrow">
            <a:avLst/>
          </a:prstGeom>
          <a:solidFill>
            <a:srgbClr val="FF9F4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7498079" y="1371600"/>
            <a:ext cx="1371600" cy="822960"/>
          </a:xfrm>
          <a:prstGeom prst="rect">
            <a:avLst/>
          </a:prstGeom>
          <a:solidFill>
            <a:srgbClr val="1E1E38"/>
          </a:solidFill>
          <a:ln w="19050"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000" b="1">
                <a:solidFill>
                  <a:srgbClr val="FFFFFF"/>
                </a:solidFill>
              </a:defRPr>
            </a:pPr>
            <a:r>
              <a:t>4 KiB</a:t>
            </a:r>
            <a:br/>
            <a:r>
              <a:t>Physical</a:t>
            </a:r>
            <a:br/>
            <a:r>
              <a:t>Page Frame</a:t>
            </a:r>
          </a:p>
        </p:txBody>
      </p:sp>
      <p:sp>
        <p:nvSpPr>
          <p:cNvPr id="14" name="Right Arrow 13"/>
          <p:cNvSpPr/>
          <p:nvPr/>
        </p:nvSpPr>
        <p:spPr>
          <a:xfrm>
            <a:off x="7543800" y="1645920"/>
            <a:ext cx="182880" cy="274320"/>
          </a:xfrm>
          <a:prstGeom prst="rightArrow">
            <a:avLst/>
          </a:prstGeom>
          <a:solidFill>
            <a:srgbClr val="00FF8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457200" y="2743200"/>
            <a:ext cx="8229600" cy="3657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BBBBBB"/>
                </a:solidFill>
                <a:latin typeface="Calibri"/>
              </a:defRPr>
            </a:pPr>
            <a:r>
              <a:t>Each PTE contains: physical frame number, Present bit, Read/Write, User/Supervisor, NX (No-Execute), Accessed, Dirty flags.</a:t>
            </a:r>
            <a:br/>
            <a:br/>
            <a:r>
              <a:t>Security-relevant bits:</a:t>
            </a:r>
            <a:br/>
            <a:r>
              <a:t>• NX (bit 63): prevents code execution from data pages — DEP/W^X enforcement</a:t>
            </a:r>
            <a:br/>
            <a:r>
              <a:t>• U/S (bit 2): separates kernel and user pages — SMEP/SMAP enforcement</a:t>
            </a:r>
            <a:br/>
            <a:r>
              <a:t>• R/W (bit 1): write protection — used for COW, RELRO, code integrity</a:t>
            </a:r>
            <a:br/>
            <a:br/>
            <a:r>
              <a:t>5-level paging (LA57) adds PML5 for 57-bit virtual addresses (128 PiB).</a:t>
            </a:r>
            <a:br/>
            <a:r>
              <a:t>Huge pages: 2 MiB (PMD maps directly) or 1 GiB (PUD maps directly) — reduces TLB pressure but coarser permission granularity.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21224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82296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600" b="1">
                <a:solidFill>
                  <a:srgbClr val="FFFFFF"/>
                </a:solidFill>
                <a:latin typeface="Calibri"/>
              </a:defRPr>
            </a:pPr>
            <a:r>
              <a:t>System Call Flow (x86-64 Linux)</a:t>
            </a:r>
          </a:p>
        </p:txBody>
      </p:sp>
      <p:sp>
        <p:nvSpPr>
          <p:cNvPr id="3" name="Rectangle 2"/>
          <p:cNvSpPr/>
          <p:nvPr/>
        </p:nvSpPr>
        <p:spPr>
          <a:xfrm>
            <a:off x="457200" y="822960"/>
            <a:ext cx="8229600" cy="25400"/>
          </a:xfrm>
          <a:prstGeom prst="rect">
            <a:avLst/>
          </a:prstGeom>
          <a:solidFill>
            <a:srgbClr val="00D4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182880" y="1188720"/>
            <a:ext cx="1554480" cy="548640"/>
          </a:xfrm>
          <a:prstGeom prst="rect">
            <a:avLst/>
          </a:prstGeom>
          <a:solidFill>
            <a:srgbClr val="00D4FF"/>
          </a:solidFill>
          <a:ln w="19050">
            <a:solidFill>
              <a:srgbClr val="00D4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000" b="1">
                <a:solidFill>
                  <a:srgbClr val="121224"/>
                </a:solidFill>
              </a:defRPr>
            </a:pPr>
            <a:r>
              <a:t>User Process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82880" y="1920240"/>
            <a:ext cx="155448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900" b="0">
                <a:solidFill>
                  <a:srgbClr val="BBBBBB"/>
                </a:solidFill>
                <a:latin typeface="Calibri"/>
              </a:defRPr>
            </a:pPr>
            <a:r>
              <a:t>mov rdi, arg1</a:t>
            </a:r>
            <a:br/>
            <a:r>
              <a:t>mov rsi, arg2</a:t>
            </a:r>
            <a:br/>
            <a:r>
              <a:t>mov rax, __NR_xxx</a:t>
            </a:r>
            <a:br/>
            <a:r>
              <a:t>syscall</a:t>
            </a:r>
          </a:p>
        </p:txBody>
      </p:sp>
      <p:sp>
        <p:nvSpPr>
          <p:cNvPr id="6" name="Right Arrow 5"/>
          <p:cNvSpPr/>
          <p:nvPr/>
        </p:nvSpPr>
        <p:spPr>
          <a:xfrm>
            <a:off x="1783080" y="1371600"/>
            <a:ext cx="182880" cy="274320"/>
          </a:xfrm>
          <a:prstGeom prst="rightArrow">
            <a:avLst/>
          </a:prstGeom>
          <a:solidFill>
            <a:srgbClr val="00D4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1965960" y="1188720"/>
            <a:ext cx="1554480" cy="548640"/>
          </a:xfrm>
          <a:prstGeom prst="rect">
            <a:avLst/>
          </a:prstGeom>
          <a:solidFill>
            <a:srgbClr val="FFD700"/>
          </a:solidFill>
          <a:ln w="19050">
            <a:solidFill>
              <a:srgbClr val="FFD7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000" b="1">
                <a:solidFill>
                  <a:srgbClr val="121224"/>
                </a:solidFill>
              </a:defRPr>
            </a:pPr>
            <a:r>
              <a:t>CPU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965960" y="1920240"/>
            <a:ext cx="155448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900" b="0">
                <a:solidFill>
                  <a:srgbClr val="BBBBBB"/>
                </a:solidFill>
                <a:latin typeface="Calibri"/>
              </a:defRPr>
            </a:pPr>
            <a:r>
              <a:t>Ring 3 → Ring 0</a:t>
            </a:r>
            <a:br/>
            <a:r>
              <a:t>Load MSR_LSTAR</a:t>
            </a:r>
            <a:br/>
            <a:r>
              <a:t>(entry_SYSCALL_64)</a:t>
            </a:r>
          </a:p>
        </p:txBody>
      </p:sp>
      <p:sp>
        <p:nvSpPr>
          <p:cNvPr id="9" name="Right Arrow 8"/>
          <p:cNvSpPr/>
          <p:nvPr/>
        </p:nvSpPr>
        <p:spPr>
          <a:xfrm>
            <a:off x="3566160" y="1371600"/>
            <a:ext cx="182880" cy="274320"/>
          </a:xfrm>
          <a:prstGeom prst="rightArrow">
            <a:avLst/>
          </a:prstGeom>
          <a:solidFill>
            <a:srgbClr val="FFD7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3749040" y="1188720"/>
            <a:ext cx="1554480" cy="548640"/>
          </a:xfrm>
          <a:prstGeom prst="rect">
            <a:avLst/>
          </a:prstGeom>
          <a:solidFill>
            <a:srgbClr val="BB86FC"/>
          </a:solidFill>
          <a:ln w="19050">
            <a:solidFill>
              <a:srgbClr val="BB86F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000" b="1">
                <a:solidFill>
                  <a:srgbClr val="121224"/>
                </a:solidFill>
              </a:defRPr>
            </a:pPr>
            <a:r>
              <a:t>Kernel Entry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3749040" y="1920240"/>
            <a:ext cx="155448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900" b="0">
                <a:solidFill>
                  <a:srgbClr val="BBBBBB"/>
                </a:solidFill>
                <a:latin typeface="Calibri"/>
              </a:defRPr>
            </a:pPr>
            <a:r>
              <a:t>swapgs</a:t>
            </a:r>
            <a:br/>
            <a:r>
              <a:t>Switch to kernel stack</a:t>
            </a:r>
            <a:br/>
            <a:r>
              <a:t>Save pt_regs</a:t>
            </a:r>
          </a:p>
        </p:txBody>
      </p:sp>
      <p:sp>
        <p:nvSpPr>
          <p:cNvPr id="12" name="Right Arrow 11"/>
          <p:cNvSpPr/>
          <p:nvPr/>
        </p:nvSpPr>
        <p:spPr>
          <a:xfrm>
            <a:off x="5349240" y="1371600"/>
            <a:ext cx="182880" cy="274320"/>
          </a:xfrm>
          <a:prstGeom prst="rightArrow">
            <a:avLst/>
          </a:prstGeom>
          <a:solidFill>
            <a:srgbClr val="BB86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5532120" y="1188720"/>
            <a:ext cx="1554480" cy="548640"/>
          </a:xfrm>
          <a:prstGeom prst="rect">
            <a:avLst/>
          </a:prstGeom>
          <a:solidFill>
            <a:srgbClr val="FF4444"/>
          </a:solidFill>
          <a:ln w="19050">
            <a:solidFill>
              <a:srgbClr val="FF444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000" b="1">
                <a:solidFill>
                  <a:srgbClr val="121224"/>
                </a:solidFill>
              </a:defRPr>
            </a:pPr>
            <a:r>
              <a:t>Seccomp</a:t>
            </a:r>
            <a:br/>
            <a:r>
              <a:t>Check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5532120" y="1920240"/>
            <a:ext cx="155448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900" b="0">
                <a:solidFill>
                  <a:srgbClr val="BBBBBB"/>
                </a:solidFill>
                <a:latin typeface="Calibri"/>
              </a:defRPr>
            </a:pPr>
            <a:r>
              <a:t>BPF filter evaluates</a:t>
            </a:r>
            <a:br/>
            <a:r>
              <a:t>syscall nr + args</a:t>
            </a:r>
            <a:br/>
            <a:r>
              <a:t>ALLOW / KILL / TRAP</a:t>
            </a:r>
          </a:p>
        </p:txBody>
      </p:sp>
      <p:sp>
        <p:nvSpPr>
          <p:cNvPr id="15" name="Right Arrow 14"/>
          <p:cNvSpPr/>
          <p:nvPr/>
        </p:nvSpPr>
        <p:spPr>
          <a:xfrm>
            <a:off x="7132320" y="1371600"/>
            <a:ext cx="182880" cy="274320"/>
          </a:xfrm>
          <a:prstGeom prst="rightArrow">
            <a:avLst/>
          </a:prstGeom>
          <a:solidFill>
            <a:srgbClr val="FF444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ectangle 15"/>
          <p:cNvSpPr/>
          <p:nvPr/>
        </p:nvSpPr>
        <p:spPr>
          <a:xfrm>
            <a:off x="7315200" y="1188720"/>
            <a:ext cx="1554480" cy="548640"/>
          </a:xfrm>
          <a:prstGeom prst="rect">
            <a:avLst/>
          </a:prstGeom>
          <a:solidFill>
            <a:srgbClr val="00FF88"/>
          </a:solidFill>
          <a:ln w="19050">
            <a:solidFill>
              <a:srgbClr val="00FF8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000" b="1">
                <a:solidFill>
                  <a:srgbClr val="121224"/>
                </a:solidFill>
              </a:defRPr>
            </a:pPr>
            <a:r>
              <a:t>Syscall</a:t>
            </a:r>
            <a:br/>
            <a:r>
              <a:t>Handler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7315200" y="1920240"/>
            <a:ext cx="155448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900" b="0">
                <a:solidFill>
                  <a:srgbClr val="BBBBBB"/>
                </a:solidFill>
                <a:latin typeface="Calibri"/>
              </a:defRPr>
            </a:pPr>
            <a:r>
              <a:t>sys_call_table[rax]</a:t>
            </a:r>
            <a:br/>
            <a:r>
              <a:t>Execute handler</a:t>
            </a:r>
            <a:br/>
            <a:r>
              <a:t>Return to user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457200" y="3657600"/>
            <a:ext cx="8229600" cy="2743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BBBBBB"/>
                </a:solidFill>
                <a:latin typeface="Calibri"/>
              </a:defRPr>
            </a:pPr>
            <a:r>
              <a:t>Key security mechanisms in the syscall path:</a:t>
            </a:r>
            <a:br/>
            <a:r>
              <a:t>• KPTI: separate page tables for user/kernel — mitigates Meltdown</a:t>
            </a:r>
            <a:br/>
            <a:r>
              <a:t>• Seccomp-BPF: per-process syscall filter — reduces kernel attack surface</a:t>
            </a:r>
            <a:br/>
            <a:r>
              <a:t>• ptrace: debugging interface — can intercept/modify syscalls (PTRACE_SYSCALL)</a:t>
            </a:r>
            <a:br/>
            <a:r>
              <a:t>• Audit: auditd hooks into syscall return path for logging</a:t>
            </a:r>
            <a:br/>
            <a:r>
              <a:t>• LSM hooks: SELinux/AppArmor checks after basic DAC permissions</a:t>
            </a:r>
            <a:br/>
            <a:br/>
            <a:r>
              <a:t>Performance: syscall instruction ~ 100-200ns, sysenter (legacy 32-bit) similar. vDSO maps select syscalls (gettimeofday, clock_gettime) into userspace for zero-cost calls.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21224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82296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600" b="1">
                <a:solidFill>
                  <a:srgbClr val="FFFFFF"/>
                </a:solidFill>
                <a:latin typeface="Calibri"/>
              </a:defRPr>
            </a:pPr>
            <a:r>
              <a:t>Seccomp-BPF Architecture</a:t>
            </a:r>
          </a:p>
        </p:txBody>
      </p:sp>
      <p:sp>
        <p:nvSpPr>
          <p:cNvPr id="3" name="Rectangle 2"/>
          <p:cNvSpPr/>
          <p:nvPr/>
        </p:nvSpPr>
        <p:spPr>
          <a:xfrm>
            <a:off x="457200" y="822960"/>
            <a:ext cx="8229600" cy="25400"/>
          </a:xfrm>
          <a:prstGeom prst="rect">
            <a:avLst/>
          </a:prstGeom>
          <a:solidFill>
            <a:srgbClr val="00D4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457200" y="1371600"/>
            <a:ext cx="1828800" cy="914400"/>
          </a:xfrm>
          <a:prstGeom prst="rect">
            <a:avLst/>
          </a:prstGeom>
          <a:solidFill>
            <a:srgbClr val="1E1E38"/>
          </a:solidFill>
          <a:ln w="19050">
            <a:solidFill>
              <a:srgbClr val="00D4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200" b="1">
                <a:solidFill>
                  <a:srgbClr val="00D4FF"/>
                </a:solidFill>
              </a:defRPr>
            </a:pPr>
            <a:r>
              <a:t>Application</a:t>
            </a:r>
            <a:br/>
            <a:r>
              <a:t>(sandboxed)</a:t>
            </a:r>
          </a:p>
        </p:txBody>
      </p:sp>
      <p:sp>
        <p:nvSpPr>
          <p:cNvPr id="5" name="Right Arrow 4"/>
          <p:cNvSpPr/>
          <p:nvPr/>
        </p:nvSpPr>
        <p:spPr>
          <a:xfrm>
            <a:off x="2377440" y="1645920"/>
            <a:ext cx="457200" cy="274320"/>
          </a:xfrm>
          <a:prstGeom prst="rightArrow">
            <a:avLst/>
          </a:prstGeom>
          <a:solidFill>
            <a:srgbClr val="00D4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2926080" y="1188720"/>
            <a:ext cx="2286000" cy="1280160"/>
          </a:xfrm>
          <a:prstGeom prst="rect">
            <a:avLst/>
          </a:prstGeom>
          <a:solidFill>
            <a:srgbClr val="1E1E38"/>
          </a:solidFill>
          <a:ln w="19050">
            <a:solidFill>
              <a:srgbClr val="FFD7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900" b="0">
                <a:solidFill>
                  <a:srgbClr val="FFD700"/>
                </a:solidFill>
              </a:defRPr>
            </a:pPr>
            <a:r>
              <a:t>Seccomp BPF Filter</a:t>
            </a:r>
            <a:br/>
            <a:br/>
            <a:r>
              <a:t>IF nr == __NR_open</a:t>
            </a:r>
            <a:br/>
            <a:r>
              <a:t>  → ERRNO(EPERM)</a:t>
            </a:r>
            <a:br/>
            <a:r>
              <a:t>IF nr == __NR_write</a:t>
            </a:r>
            <a:br/>
            <a:r>
              <a:t>  → ALLOW</a:t>
            </a:r>
            <a:br/>
            <a:r>
              <a:t>DEFAULT → KILL</a:t>
            </a:r>
          </a:p>
        </p:txBody>
      </p:sp>
      <p:sp>
        <p:nvSpPr>
          <p:cNvPr id="7" name="Right Arrow 6"/>
          <p:cNvSpPr/>
          <p:nvPr/>
        </p:nvSpPr>
        <p:spPr>
          <a:xfrm>
            <a:off x="5303520" y="1371600"/>
            <a:ext cx="365760" cy="274320"/>
          </a:xfrm>
          <a:prstGeom prst="rightArrow">
            <a:avLst/>
          </a:prstGeom>
          <a:solidFill>
            <a:srgbClr val="00FF8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5760720" y="1371600"/>
            <a:ext cx="1371600" cy="457200"/>
          </a:xfrm>
          <a:prstGeom prst="rect">
            <a:avLst/>
          </a:prstGeom>
          <a:solidFill>
            <a:srgbClr val="00FF88"/>
          </a:solidFill>
          <a:ln w="19050">
            <a:solidFill>
              <a:srgbClr val="00FF8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200" b="1">
                <a:solidFill>
                  <a:srgbClr val="121224"/>
                </a:solidFill>
              </a:defRPr>
            </a:pPr>
            <a:r>
              <a:t>ALLOW</a:t>
            </a:r>
          </a:p>
        </p:txBody>
      </p:sp>
      <p:sp>
        <p:nvSpPr>
          <p:cNvPr id="9" name="Right Arrow 8"/>
          <p:cNvSpPr/>
          <p:nvPr/>
        </p:nvSpPr>
        <p:spPr>
          <a:xfrm>
            <a:off x="5303520" y="2011680"/>
            <a:ext cx="365760" cy="274320"/>
          </a:xfrm>
          <a:prstGeom prst="rightArrow">
            <a:avLst/>
          </a:prstGeom>
          <a:solidFill>
            <a:srgbClr val="FF444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5760720" y="1920240"/>
            <a:ext cx="1371600" cy="457200"/>
          </a:xfrm>
          <a:prstGeom prst="rect">
            <a:avLst/>
          </a:prstGeom>
          <a:solidFill>
            <a:srgbClr val="FF4444"/>
          </a:solidFill>
          <a:ln w="19050">
            <a:solidFill>
              <a:srgbClr val="FF444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200" b="1">
                <a:solidFill>
                  <a:srgbClr val="FFFFFF"/>
                </a:solidFill>
              </a:defRPr>
            </a:pPr>
            <a:r>
              <a:t>KILL / TRAP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457200" y="3017520"/>
            <a:ext cx="8229600" cy="3200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BBBBBB"/>
                </a:solidFill>
                <a:latin typeface="Calibri"/>
              </a:defRPr>
            </a:pPr>
            <a:r>
              <a:t>Seccomp-BPF inspects: syscall number, architecture, and up to 6 arguments (arg[0]–arg[5]).</a:t>
            </a:r>
            <a:br/>
            <a:br/>
            <a:r>
              <a:t>Filter actions (SECCOMP_RET_*):</a:t>
            </a:r>
            <a:br/>
            <a:r>
              <a:t>  KILL_PROCESS — terminate entire process (SIGSYS)</a:t>
            </a:r>
            <a:br/>
            <a:r>
              <a:t>  KILL_THREAD — terminate calling thread only</a:t>
            </a:r>
            <a:br/>
            <a:r>
              <a:t>  TRAP — deliver SIGSYS, handler can inspect seccomp_data</a:t>
            </a:r>
            <a:br/>
            <a:r>
              <a:t>  ERRNO(val) — return -val without executing syscall</a:t>
            </a:r>
            <a:br/>
            <a:r>
              <a:t>  USER_NOTIF — send to userspace supervisor (seccomp_unotif)</a:t>
            </a:r>
            <a:br/>
            <a:r>
              <a:t>  LOG — allow but log the violation</a:t>
            </a:r>
            <a:br/>
            <a:r>
              <a:t>  ALLOW — permit syscall to proceed</a:t>
            </a:r>
            <a:br/>
            <a:br/>
            <a:r>
              <a:t>Filters are inherited across fork/exec. Once installed, cannot be removed (only tightened). Used by: Chrome (renderer sandbox), Docker (default 300+ syscall allowlist), systemd (SystemCallFilter=), Firejail, Flatpak.</a:t>
            </a: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21224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82296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600" b="1">
                <a:solidFill>
                  <a:srgbClr val="FFFFFF"/>
                </a:solidFill>
                <a:latin typeface="Calibri"/>
              </a:defRPr>
            </a:pPr>
            <a:r>
              <a:t>Linux Capabilities Model</a:t>
            </a:r>
          </a:p>
        </p:txBody>
      </p:sp>
      <p:sp>
        <p:nvSpPr>
          <p:cNvPr id="3" name="Rectangle 2"/>
          <p:cNvSpPr/>
          <p:nvPr/>
        </p:nvSpPr>
        <p:spPr>
          <a:xfrm>
            <a:off x="457200" y="822960"/>
            <a:ext cx="8229600" cy="25400"/>
          </a:xfrm>
          <a:prstGeom prst="rect">
            <a:avLst/>
          </a:prstGeom>
          <a:solidFill>
            <a:srgbClr val="00D4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457200" y="914400"/>
            <a:ext cx="36576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1">
                <a:solidFill>
                  <a:srgbClr val="FF4444"/>
                </a:solidFill>
                <a:latin typeface="Calibri"/>
              </a:defRPr>
            </a:pPr>
            <a:r>
              <a:t>Traditional Root (UID 0)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846320" y="914400"/>
            <a:ext cx="36576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1">
                <a:solidFill>
                  <a:srgbClr val="00FF88"/>
                </a:solidFill>
                <a:latin typeface="Calibri"/>
              </a:defRPr>
            </a:pPr>
            <a:r>
              <a:t>Capability-Based (fine-grained)</a:t>
            </a:r>
          </a:p>
        </p:txBody>
      </p:sp>
      <p:sp>
        <p:nvSpPr>
          <p:cNvPr id="6" name="Rectangle 5"/>
          <p:cNvSpPr/>
          <p:nvPr/>
        </p:nvSpPr>
        <p:spPr>
          <a:xfrm>
            <a:off x="457200" y="1280160"/>
            <a:ext cx="3931920" cy="411480"/>
          </a:xfrm>
          <a:prstGeom prst="rect">
            <a:avLst/>
          </a:prstGeom>
          <a:solidFill>
            <a:srgbClr val="1E1E38"/>
          </a:solidFill>
          <a:ln w="19050">
            <a:solidFill>
              <a:srgbClr val="FF444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100" b="0">
                <a:solidFill>
                  <a:srgbClr val="BBBBBB"/>
                </a:solidFill>
              </a:defRPr>
            </a:pPr>
            <a:r>
              <a:t>UID 0 = all 41 capabilities</a:t>
            </a:r>
          </a:p>
        </p:txBody>
      </p:sp>
      <p:sp>
        <p:nvSpPr>
          <p:cNvPr id="7" name="Rectangle 6"/>
          <p:cNvSpPr/>
          <p:nvPr/>
        </p:nvSpPr>
        <p:spPr>
          <a:xfrm>
            <a:off x="457200" y="1755648"/>
            <a:ext cx="3931920" cy="411480"/>
          </a:xfrm>
          <a:prstGeom prst="rect">
            <a:avLst/>
          </a:prstGeom>
          <a:solidFill>
            <a:srgbClr val="1E1E38"/>
          </a:solidFill>
          <a:ln w="19050">
            <a:solidFill>
              <a:srgbClr val="FF444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100" b="0">
                <a:solidFill>
                  <a:srgbClr val="BBBBBB"/>
                </a:solidFill>
              </a:defRPr>
            </a:pPr>
            <a:r>
              <a:t>Single compromise = full control</a:t>
            </a:r>
          </a:p>
        </p:txBody>
      </p:sp>
      <p:sp>
        <p:nvSpPr>
          <p:cNvPr id="8" name="Rectangle 7"/>
          <p:cNvSpPr/>
          <p:nvPr/>
        </p:nvSpPr>
        <p:spPr>
          <a:xfrm>
            <a:off x="457200" y="2231136"/>
            <a:ext cx="3931920" cy="411480"/>
          </a:xfrm>
          <a:prstGeom prst="rect">
            <a:avLst/>
          </a:prstGeom>
          <a:solidFill>
            <a:srgbClr val="1E1E38"/>
          </a:solidFill>
          <a:ln w="19050">
            <a:solidFill>
              <a:srgbClr val="FF444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100" b="0">
                <a:solidFill>
                  <a:srgbClr val="BBBBBB"/>
                </a:solidFill>
              </a:defRPr>
            </a:pPr>
            <a:r>
              <a:t>No granularity</a:t>
            </a:r>
          </a:p>
        </p:txBody>
      </p:sp>
      <p:sp>
        <p:nvSpPr>
          <p:cNvPr id="9" name="Rectangle 8"/>
          <p:cNvSpPr/>
          <p:nvPr/>
        </p:nvSpPr>
        <p:spPr>
          <a:xfrm>
            <a:off x="457200" y="2706624"/>
            <a:ext cx="3931920" cy="411480"/>
          </a:xfrm>
          <a:prstGeom prst="rect">
            <a:avLst/>
          </a:prstGeom>
          <a:solidFill>
            <a:srgbClr val="1E1E38"/>
          </a:solidFill>
          <a:ln w="19050">
            <a:solidFill>
              <a:srgbClr val="FF444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100" b="0">
                <a:solidFill>
                  <a:srgbClr val="BBBBBB"/>
                </a:solidFill>
              </a:defRPr>
            </a:pPr>
            <a:r>
              <a:t>All or nothing model</a:t>
            </a:r>
          </a:p>
        </p:txBody>
      </p:sp>
      <p:sp>
        <p:nvSpPr>
          <p:cNvPr id="10" name="Rectangle 9"/>
          <p:cNvSpPr/>
          <p:nvPr/>
        </p:nvSpPr>
        <p:spPr>
          <a:xfrm>
            <a:off x="457200" y="3182112"/>
            <a:ext cx="3931920" cy="411480"/>
          </a:xfrm>
          <a:prstGeom prst="rect">
            <a:avLst/>
          </a:prstGeom>
          <a:solidFill>
            <a:srgbClr val="1E1E38"/>
          </a:solidFill>
          <a:ln w="19050">
            <a:solidFill>
              <a:srgbClr val="FF444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100" b="0">
                <a:solidFill>
                  <a:srgbClr val="BBBBBB"/>
                </a:solidFill>
              </a:defRPr>
            </a:pPr>
            <a:r>
              <a:t>setuid binaries inherit all caps</a:t>
            </a:r>
          </a:p>
        </p:txBody>
      </p:sp>
      <p:sp>
        <p:nvSpPr>
          <p:cNvPr id="11" name="Rectangle 10"/>
          <p:cNvSpPr/>
          <p:nvPr/>
        </p:nvSpPr>
        <p:spPr>
          <a:xfrm>
            <a:off x="4846320" y="1280160"/>
            <a:ext cx="3931920" cy="411480"/>
          </a:xfrm>
          <a:prstGeom prst="rect">
            <a:avLst/>
          </a:prstGeom>
          <a:solidFill>
            <a:srgbClr val="1E1E38"/>
          </a:solidFill>
          <a:ln w="19050">
            <a:solidFill>
              <a:srgbClr val="00FF8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100" b="0">
                <a:solidFill>
                  <a:srgbClr val="BBBBBB"/>
                </a:solidFill>
              </a:defRPr>
            </a:pPr>
            <a:r>
              <a:t>CAP_NET_BIND_SERVICE — port &lt;1024</a:t>
            </a:r>
          </a:p>
        </p:txBody>
      </p:sp>
      <p:sp>
        <p:nvSpPr>
          <p:cNvPr id="12" name="Rectangle 11"/>
          <p:cNvSpPr/>
          <p:nvPr/>
        </p:nvSpPr>
        <p:spPr>
          <a:xfrm>
            <a:off x="4846320" y="1755648"/>
            <a:ext cx="3931920" cy="411480"/>
          </a:xfrm>
          <a:prstGeom prst="rect">
            <a:avLst/>
          </a:prstGeom>
          <a:solidFill>
            <a:srgbClr val="1E1E38"/>
          </a:solidFill>
          <a:ln w="19050">
            <a:solidFill>
              <a:srgbClr val="00FF8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100" b="0">
                <a:solidFill>
                  <a:srgbClr val="BBBBBB"/>
                </a:solidFill>
              </a:defRPr>
            </a:pPr>
            <a:r>
              <a:t>CAP_NET_RAW — raw sockets</a:t>
            </a:r>
          </a:p>
        </p:txBody>
      </p:sp>
      <p:sp>
        <p:nvSpPr>
          <p:cNvPr id="13" name="Rectangle 12"/>
          <p:cNvSpPr/>
          <p:nvPr/>
        </p:nvSpPr>
        <p:spPr>
          <a:xfrm>
            <a:off x="4846320" y="2231136"/>
            <a:ext cx="3931920" cy="411480"/>
          </a:xfrm>
          <a:prstGeom prst="rect">
            <a:avLst/>
          </a:prstGeom>
          <a:solidFill>
            <a:srgbClr val="1E1E38"/>
          </a:solidFill>
          <a:ln w="19050">
            <a:solidFill>
              <a:srgbClr val="00FF8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100" b="0">
                <a:solidFill>
                  <a:srgbClr val="BBBBBB"/>
                </a:solidFill>
              </a:defRPr>
            </a:pPr>
            <a:r>
              <a:t>CAP_SYS_PTRACE — ptrace any proc</a:t>
            </a:r>
          </a:p>
        </p:txBody>
      </p:sp>
      <p:sp>
        <p:nvSpPr>
          <p:cNvPr id="14" name="Rectangle 13"/>
          <p:cNvSpPr/>
          <p:nvPr/>
        </p:nvSpPr>
        <p:spPr>
          <a:xfrm>
            <a:off x="4846320" y="2706624"/>
            <a:ext cx="3931920" cy="411480"/>
          </a:xfrm>
          <a:prstGeom prst="rect">
            <a:avLst/>
          </a:prstGeom>
          <a:solidFill>
            <a:srgbClr val="1E1E38"/>
          </a:solidFill>
          <a:ln w="19050">
            <a:solidFill>
              <a:srgbClr val="00FF8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100" b="0">
                <a:solidFill>
                  <a:srgbClr val="BBBBBB"/>
                </a:solidFill>
              </a:defRPr>
            </a:pPr>
            <a:r>
              <a:t>CAP_DAC_OVERRIDE — bypass file perms</a:t>
            </a:r>
          </a:p>
        </p:txBody>
      </p:sp>
      <p:sp>
        <p:nvSpPr>
          <p:cNvPr id="15" name="Rectangle 14"/>
          <p:cNvSpPr/>
          <p:nvPr/>
        </p:nvSpPr>
        <p:spPr>
          <a:xfrm>
            <a:off x="4846320" y="3182112"/>
            <a:ext cx="3931920" cy="411480"/>
          </a:xfrm>
          <a:prstGeom prst="rect">
            <a:avLst/>
          </a:prstGeom>
          <a:solidFill>
            <a:srgbClr val="1E1E38"/>
          </a:solidFill>
          <a:ln w="19050">
            <a:solidFill>
              <a:srgbClr val="00FF8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100" b="0">
                <a:solidFill>
                  <a:srgbClr val="BBBBBB"/>
                </a:solidFill>
              </a:defRPr>
            </a:pPr>
            <a:r>
              <a:t>CAP_SYS_ADMIN — catch-all (avoid!)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457200" y="5029200"/>
            <a:ext cx="822960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BBBBBB"/>
                </a:solidFill>
                <a:latin typeface="Calibri"/>
              </a:defRPr>
            </a:pPr>
            <a:r>
              <a:t>Three capability sets per thread: Effective (active), Permitted (can activate), Inheritable (preserved across execve). Ambient set (Linux 4.3+) allows non-root processes to inherit caps without setuid. Bounding set limits which caps can ever be gained. Container runtimes drop most capabilities — Docker default keeps only 14 of 41.</a:t>
            </a:r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21224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82296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600" b="1">
                <a:solidFill>
                  <a:srgbClr val="FFFFFF"/>
                </a:solidFill>
                <a:latin typeface="Calibri"/>
              </a:defRPr>
            </a:pPr>
            <a:r>
              <a:t>Linux Namespace Isolation</a:t>
            </a:r>
          </a:p>
        </p:txBody>
      </p:sp>
      <p:sp>
        <p:nvSpPr>
          <p:cNvPr id="3" name="Rectangle 2"/>
          <p:cNvSpPr/>
          <p:nvPr/>
        </p:nvSpPr>
        <p:spPr>
          <a:xfrm>
            <a:off x="457200" y="822960"/>
            <a:ext cx="8229600" cy="25400"/>
          </a:xfrm>
          <a:prstGeom prst="rect">
            <a:avLst/>
          </a:prstGeom>
          <a:solidFill>
            <a:srgbClr val="00D4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274320" y="1188720"/>
            <a:ext cx="2011680" cy="1097280"/>
          </a:xfrm>
          <a:prstGeom prst="rect">
            <a:avLst/>
          </a:prstGeom>
          <a:solidFill>
            <a:srgbClr val="1E1E38"/>
          </a:solidFill>
          <a:ln w="19050">
            <a:solidFill>
              <a:srgbClr val="00D4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900" b="0">
                <a:solidFill>
                  <a:srgbClr val="00D4FF"/>
                </a:solidFill>
              </a:defRPr>
            </a:pPr>
            <a:r>
              <a:t>PID NS</a:t>
            </a:r>
            <a:br/>
            <a:br/>
            <a:r>
              <a:t>Isolated process tree</a:t>
            </a:r>
            <a:br/>
            <a:r>
              <a:t>PID 1 inside container</a:t>
            </a:r>
          </a:p>
        </p:txBody>
      </p:sp>
      <p:sp>
        <p:nvSpPr>
          <p:cNvPr id="5" name="Rectangle 4"/>
          <p:cNvSpPr/>
          <p:nvPr/>
        </p:nvSpPr>
        <p:spPr>
          <a:xfrm>
            <a:off x="2423160" y="1188720"/>
            <a:ext cx="2011680" cy="1097280"/>
          </a:xfrm>
          <a:prstGeom prst="rect">
            <a:avLst/>
          </a:prstGeom>
          <a:solidFill>
            <a:srgbClr val="1E1E38"/>
          </a:solidFill>
          <a:ln w="19050">
            <a:solidFill>
              <a:srgbClr val="BB86F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900" b="0">
                <a:solidFill>
                  <a:srgbClr val="BB86FC"/>
                </a:solidFill>
              </a:defRPr>
            </a:pPr>
            <a:r>
              <a:t>Network NS</a:t>
            </a:r>
            <a:br/>
            <a:br/>
            <a:r>
              <a:t>Separate network stack</a:t>
            </a:r>
            <a:br/>
            <a:r>
              <a:t>veth pairs, own iptables</a:t>
            </a:r>
          </a:p>
        </p:txBody>
      </p:sp>
      <p:sp>
        <p:nvSpPr>
          <p:cNvPr id="6" name="Rectangle 5"/>
          <p:cNvSpPr/>
          <p:nvPr/>
        </p:nvSpPr>
        <p:spPr>
          <a:xfrm>
            <a:off x="4572000" y="1188720"/>
            <a:ext cx="2011680" cy="1097280"/>
          </a:xfrm>
          <a:prstGeom prst="rect">
            <a:avLst/>
          </a:prstGeom>
          <a:solidFill>
            <a:srgbClr val="1E1E38"/>
          </a:solidFill>
          <a:ln w="19050">
            <a:solidFill>
              <a:srgbClr val="00FF8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900" b="0">
                <a:solidFill>
                  <a:srgbClr val="00FF88"/>
                </a:solidFill>
              </a:defRPr>
            </a:pPr>
            <a:r>
              <a:t>Mount NS</a:t>
            </a:r>
            <a:br/>
            <a:br/>
            <a:r>
              <a:t>Isolated filesystem view</a:t>
            </a:r>
            <a:br/>
            <a:r>
              <a:t>pivot_root, bind mounts</a:t>
            </a:r>
          </a:p>
        </p:txBody>
      </p:sp>
      <p:sp>
        <p:nvSpPr>
          <p:cNvPr id="7" name="Rectangle 6"/>
          <p:cNvSpPr/>
          <p:nvPr/>
        </p:nvSpPr>
        <p:spPr>
          <a:xfrm>
            <a:off x="6720840" y="1188720"/>
            <a:ext cx="2011680" cy="1097280"/>
          </a:xfrm>
          <a:prstGeom prst="rect">
            <a:avLst/>
          </a:prstGeom>
          <a:solidFill>
            <a:srgbClr val="1E1E38"/>
          </a:solidFill>
          <a:ln w="19050">
            <a:solidFill>
              <a:srgbClr val="FFD7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900" b="0">
                <a:solidFill>
                  <a:srgbClr val="FFD700"/>
                </a:solidFill>
              </a:defRPr>
            </a:pPr>
            <a:r>
              <a:t>User NS</a:t>
            </a:r>
            <a:br/>
            <a:br/>
            <a:r>
              <a:t>UID/GID mapping</a:t>
            </a:r>
            <a:br/>
            <a:r>
              <a:t>root-in-container = non-root-on-host</a:t>
            </a:r>
          </a:p>
        </p:txBody>
      </p:sp>
      <p:sp>
        <p:nvSpPr>
          <p:cNvPr id="8" name="Rectangle 7"/>
          <p:cNvSpPr/>
          <p:nvPr/>
        </p:nvSpPr>
        <p:spPr>
          <a:xfrm>
            <a:off x="274320" y="2468880"/>
            <a:ext cx="2011680" cy="1097280"/>
          </a:xfrm>
          <a:prstGeom prst="rect">
            <a:avLst/>
          </a:prstGeom>
          <a:solidFill>
            <a:srgbClr val="1E1E38"/>
          </a:solidFill>
          <a:ln w="19050">
            <a:solidFill>
              <a:srgbClr val="FF9F4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900" b="0">
                <a:solidFill>
                  <a:srgbClr val="FF9F43"/>
                </a:solidFill>
              </a:defRPr>
            </a:pPr>
            <a:r>
              <a:t>UTS NS</a:t>
            </a:r>
            <a:br/>
            <a:br/>
            <a:r>
              <a:t>Separate hostname</a:t>
            </a:r>
            <a:br/>
            <a:r>
              <a:t>and NIS domain name</a:t>
            </a:r>
          </a:p>
        </p:txBody>
      </p:sp>
      <p:sp>
        <p:nvSpPr>
          <p:cNvPr id="9" name="Rectangle 8"/>
          <p:cNvSpPr/>
          <p:nvPr/>
        </p:nvSpPr>
        <p:spPr>
          <a:xfrm>
            <a:off x="2423160" y="2468880"/>
            <a:ext cx="2011680" cy="1097280"/>
          </a:xfrm>
          <a:prstGeom prst="rect">
            <a:avLst/>
          </a:prstGeom>
          <a:solidFill>
            <a:srgbClr val="1E1E38"/>
          </a:solidFill>
          <a:ln w="19050">
            <a:solidFill>
              <a:srgbClr val="FF444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900" b="0">
                <a:solidFill>
                  <a:srgbClr val="FF4444"/>
                </a:solidFill>
              </a:defRPr>
            </a:pPr>
            <a:r>
              <a:t>IPC NS</a:t>
            </a:r>
            <a:br/>
            <a:br/>
            <a:r>
              <a:t>Isolated SysV IPC</a:t>
            </a:r>
            <a:br/>
            <a:r>
              <a:t>and POSIX message queues</a:t>
            </a:r>
          </a:p>
        </p:txBody>
      </p:sp>
      <p:sp>
        <p:nvSpPr>
          <p:cNvPr id="10" name="Rectangle 9"/>
          <p:cNvSpPr/>
          <p:nvPr/>
        </p:nvSpPr>
        <p:spPr>
          <a:xfrm>
            <a:off x="4572000" y="2468880"/>
            <a:ext cx="2011680" cy="1097280"/>
          </a:xfrm>
          <a:prstGeom prst="rect">
            <a:avLst/>
          </a:prstGeom>
          <a:solidFill>
            <a:srgbClr val="1E1E38"/>
          </a:solidFill>
          <a:ln w="19050">
            <a:solidFill>
              <a:srgbClr val="BBBBB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900" b="0">
                <a:solidFill>
                  <a:srgbClr val="BBBBBB"/>
                </a:solidFill>
              </a:defRPr>
            </a:pPr>
            <a:r>
              <a:t>Cgroup NS</a:t>
            </a:r>
            <a:br/>
            <a:br/>
            <a:r>
              <a:t>Isolated cgroup hierarchy</a:t>
            </a:r>
            <a:br/>
            <a:r>
              <a:t>view of /proc/self/cgroup</a:t>
            </a:r>
          </a:p>
        </p:txBody>
      </p:sp>
      <p:sp>
        <p:nvSpPr>
          <p:cNvPr id="11" name="Rectangle 10"/>
          <p:cNvSpPr/>
          <p:nvPr/>
        </p:nvSpPr>
        <p:spPr>
          <a:xfrm>
            <a:off x="6720840" y="2468880"/>
            <a:ext cx="2011680" cy="1097280"/>
          </a:xfrm>
          <a:prstGeom prst="rect">
            <a:avLst/>
          </a:prstGeom>
          <a:solidFill>
            <a:srgbClr val="1E1E38"/>
          </a:solidFill>
          <a:ln w="19050">
            <a:solidFill>
              <a:srgbClr val="4444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900" b="0">
                <a:solidFill>
                  <a:srgbClr val="444455"/>
                </a:solidFill>
              </a:defRPr>
            </a:pPr>
            <a:r>
              <a:t>Time NS</a:t>
            </a:r>
            <a:br/>
            <a:br/>
            <a:r>
              <a:t>Per-namespace CLOCK</a:t>
            </a:r>
            <a:br/>
            <a:r>
              <a:t>(Linux 5.6+)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457200" y="5029200"/>
            <a:ext cx="822960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BBBBBB"/>
                </a:solidFill>
                <a:latin typeface="Calibri"/>
              </a:defRPr>
            </a:pPr>
            <a:r>
              <a:t>Containers = namespaces + cgroups + seccomp + capabilities + LSM. unshare(2) and clone(2) with CLONE_NEW* flags create new namespaces. User namespaces are the key enabler for rootless containers (Podman). Escape vectors: host PID namespace access, privileged containers, CVE-2022-0185 (fsconfig heap overflow in user namespace).</a:t>
            </a:r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21224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82296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600" b="1">
                <a:solidFill>
                  <a:srgbClr val="FFFFFF"/>
                </a:solidFill>
                <a:latin typeface="Calibri"/>
              </a:defRPr>
            </a:pPr>
            <a:r>
              <a:t>Linux Security Module (LSM) Architecture</a:t>
            </a:r>
          </a:p>
        </p:txBody>
      </p:sp>
      <p:sp>
        <p:nvSpPr>
          <p:cNvPr id="3" name="Rectangle 2"/>
          <p:cNvSpPr/>
          <p:nvPr/>
        </p:nvSpPr>
        <p:spPr>
          <a:xfrm>
            <a:off x="457200" y="822960"/>
            <a:ext cx="8229600" cy="25400"/>
          </a:xfrm>
          <a:prstGeom prst="rect">
            <a:avLst/>
          </a:prstGeom>
          <a:solidFill>
            <a:srgbClr val="00D4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274320" y="1371600"/>
            <a:ext cx="1371600" cy="731520"/>
          </a:xfrm>
          <a:prstGeom prst="rect">
            <a:avLst/>
          </a:prstGeom>
          <a:solidFill>
            <a:srgbClr val="1E1E38"/>
          </a:solidFill>
          <a:ln w="19050">
            <a:solidFill>
              <a:srgbClr val="00D4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000" b="1">
                <a:solidFill>
                  <a:srgbClr val="FFFFFF"/>
                </a:solidFill>
              </a:defRPr>
            </a:pPr>
            <a:r>
              <a:t>Process</a:t>
            </a:r>
            <a:br/>
            <a:r>
              <a:t>(subject)</a:t>
            </a:r>
          </a:p>
        </p:txBody>
      </p:sp>
      <p:sp>
        <p:nvSpPr>
          <p:cNvPr id="5" name="Rectangle 4"/>
          <p:cNvSpPr/>
          <p:nvPr/>
        </p:nvSpPr>
        <p:spPr>
          <a:xfrm>
            <a:off x="2103120" y="1371600"/>
            <a:ext cx="1371600" cy="731520"/>
          </a:xfrm>
          <a:prstGeom prst="rect">
            <a:avLst/>
          </a:prstGeom>
          <a:solidFill>
            <a:srgbClr val="1E1E38"/>
          </a:solidFill>
          <a:ln w="19050">
            <a:solidFill>
              <a:srgbClr val="BB86F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000" b="1">
                <a:solidFill>
                  <a:srgbClr val="FFFFFF"/>
                </a:solidFill>
              </a:defRPr>
            </a:pPr>
            <a:r>
              <a:t>VFS /</a:t>
            </a:r>
            <a:br/>
            <a:r>
              <a:t>Syscall Layer</a:t>
            </a:r>
          </a:p>
        </p:txBody>
      </p:sp>
      <p:sp>
        <p:nvSpPr>
          <p:cNvPr id="6" name="Rectangle 5"/>
          <p:cNvSpPr/>
          <p:nvPr/>
        </p:nvSpPr>
        <p:spPr>
          <a:xfrm>
            <a:off x="3931920" y="1371600"/>
            <a:ext cx="1371600" cy="731520"/>
          </a:xfrm>
          <a:prstGeom prst="rect">
            <a:avLst/>
          </a:prstGeom>
          <a:solidFill>
            <a:srgbClr val="1E1E38"/>
          </a:solidFill>
          <a:ln w="19050">
            <a:solidFill>
              <a:srgbClr val="FFD7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000" b="1">
                <a:solidFill>
                  <a:srgbClr val="FFFFFF"/>
                </a:solidFill>
              </a:defRPr>
            </a:pPr>
            <a:r>
              <a:t>DAC Check</a:t>
            </a:r>
            <a:br/>
            <a:r>
              <a:t>(uid/gid/mode)</a:t>
            </a:r>
          </a:p>
        </p:txBody>
      </p:sp>
      <p:sp>
        <p:nvSpPr>
          <p:cNvPr id="7" name="Rectangle 6"/>
          <p:cNvSpPr/>
          <p:nvPr/>
        </p:nvSpPr>
        <p:spPr>
          <a:xfrm>
            <a:off x="5760720" y="1371600"/>
            <a:ext cx="1371600" cy="731520"/>
          </a:xfrm>
          <a:prstGeom prst="rect">
            <a:avLst/>
          </a:prstGeom>
          <a:solidFill>
            <a:srgbClr val="1E1E38"/>
          </a:solidFill>
          <a:ln w="19050">
            <a:solidFill>
              <a:srgbClr val="FF444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000" b="1">
                <a:solidFill>
                  <a:srgbClr val="FFFFFF"/>
                </a:solidFill>
              </a:defRPr>
            </a:pPr>
            <a:r>
              <a:t>LSM Hooks</a:t>
            </a:r>
            <a:br/>
            <a:r>
              <a:t>(200+ hook points)</a:t>
            </a:r>
          </a:p>
        </p:txBody>
      </p:sp>
      <p:sp>
        <p:nvSpPr>
          <p:cNvPr id="8" name="Rectangle 7"/>
          <p:cNvSpPr/>
          <p:nvPr/>
        </p:nvSpPr>
        <p:spPr>
          <a:xfrm>
            <a:off x="7589520" y="1371600"/>
            <a:ext cx="1371600" cy="731520"/>
          </a:xfrm>
          <a:prstGeom prst="rect">
            <a:avLst/>
          </a:prstGeom>
          <a:solidFill>
            <a:srgbClr val="1E1E38"/>
          </a:solidFill>
          <a:ln w="19050">
            <a:solidFill>
              <a:srgbClr val="00FF8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000" b="1">
                <a:solidFill>
                  <a:srgbClr val="FFFFFF"/>
                </a:solidFill>
              </a:defRPr>
            </a:pPr>
            <a:r>
              <a:t>Resource</a:t>
            </a:r>
            <a:br/>
            <a:r>
              <a:t>(object)</a:t>
            </a:r>
          </a:p>
        </p:txBody>
      </p:sp>
      <p:sp>
        <p:nvSpPr>
          <p:cNvPr id="9" name="Right Arrow 8"/>
          <p:cNvSpPr/>
          <p:nvPr/>
        </p:nvSpPr>
        <p:spPr>
          <a:xfrm>
            <a:off x="1691640" y="1554480"/>
            <a:ext cx="640080" cy="274320"/>
          </a:xfrm>
          <a:prstGeom prst="rightArrow">
            <a:avLst/>
          </a:prstGeom>
          <a:solidFill>
            <a:srgbClr val="00D4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ight Arrow 9"/>
          <p:cNvSpPr/>
          <p:nvPr/>
        </p:nvSpPr>
        <p:spPr>
          <a:xfrm>
            <a:off x="3520440" y="1554480"/>
            <a:ext cx="640080" cy="274320"/>
          </a:xfrm>
          <a:prstGeom prst="rightArrow">
            <a:avLst/>
          </a:prstGeom>
          <a:solidFill>
            <a:srgbClr val="BB86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ight Arrow 10"/>
          <p:cNvSpPr/>
          <p:nvPr/>
        </p:nvSpPr>
        <p:spPr>
          <a:xfrm>
            <a:off x="5349240" y="1554480"/>
            <a:ext cx="640080" cy="274320"/>
          </a:xfrm>
          <a:prstGeom prst="rightArrow">
            <a:avLst/>
          </a:prstGeom>
          <a:solidFill>
            <a:srgbClr val="FFD7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ight Arrow 11"/>
          <p:cNvSpPr/>
          <p:nvPr/>
        </p:nvSpPr>
        <p:spPr>
          <a:xfrm>
            <a:off x="7178040" y="1554480"/>
            <a:ext cx="640080" cy="274320"/>
          </a:xfrm>
          <a:prstGeom prst="rightArrow">
            <a:avLst/>
          </a:prstGeom>
          <a:solidFill>
            <a:srgbClr val="FF444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457200" y="2743200"/>
            <a:ext cx="2560320" cy="1188720"/>
          </a:xfrm>
          <a:prstGeom prst="rect">
            <a:avLst/>
          </a:prstGeom>
          <a:solidFill>
            <a:srgbClr val="1E1E38"/>
          </a:solidFill>
          <a:ln w="19050">
            <a:solidFill>
              <a:srgbClr val="FF9F4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000" b="0">
                <a:solidFill>
                  <a:srgbClr val="FF9F43"/>
                </a:solidFill>
              </a:defRPr>
            </a:pPr>
            <a:r>
              <a:t>SELinux</a:t>
            </a:r>
            <a:br/>
            <a:br/>
            <a:r>
              <a:t>Type Enforcement (TE)</a:t>
            </a:r>
            <a:br/>
            <a:r>
              <a:t>Mandatory Access Control</a:t>
            </a:r>
            <a:br/>
            <a:r>
              <a:t>Fedora, RHEL, Android</a:t>
            </a:r>
          </a:p>
        </p:txBody>
      </p:sp>
      <p:sp>
        <p:nvSpPr>
          <p:cNvPr id="14" name="Rectangle 13"/>
          <p:cNvSpPr/>
          <p:nvPr/>
        </p:nvSpPr>
        <p:spPr>
          <a:xfrm>
            <a:off x="3291840" y="2743200"/>
            <a:ext cx="2560320" cy="1188720"/>
          </a:xfrm>
          <a:prstGeom prst="rect">
            <a:avLst/>
          </a:prstGeom>
          <a:solidFill>
            <a:srgbClr val="1E1E38"/>
          </a:solidFill>
          <a:ln w="19050">
            <a:solidFill>
              <a:srgbClr val="00FF8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000" b="0">
                <a:solidFill>
                  <a:srgbClr val="00FF88"/>
                </a:solidFill>
              </a:defRPr>
            </a:pPr>
            <a:r>
              <a:t>AppArmor</a:t>
            </a:r>
            <a:br/>
            <a:br/>
            <a:r>
              <a:t>Path-based profiles</a:t>
            </a:r>
            <a:br/>
            <a:r>
              <a:t>Easier to configure</a:t>
            </a:r>
            <a:br/>
            <a:r>
              <a:t>Ubuntu, SUSE, Debian</a:t>
            </a:r>
          </a:p>
        </p:txBody>
      </p:sp>
      <p:sp>
        <p:nvSpPr>
          <p:cNvPr id="15" name="Rectangle 14"/>
          <p:cNvSpPr/>
          <p:nvPr/>
        </p:nvSpPr>
        <p:spPr>
          <a:xfrm>
            <a:off x="6126480" y="2743200"/>
            <a:ext cx="2560320" cy="1188720"/>
          </a:xfrm>
          <a:prstGeom prst="rect">
            <a:avLst/>
          </a:prstGeom>
          <a:solidFill>
            <a:srgbClr val="1E1E38"/>
          </a:solidFill>
          <a:ln w="19050">
            <a:solidFill>
              <a:srgbClr val="00D4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000" b="0">
                <a:solidFill>
                  <a:srgbClr val="00D4FF"/>
                </a:solidFill>
              </a:defRPr>
            </a:pPr>
            <a:r>
              <a:t>Landlock</a:t>
            </a:r>
            <a:br/>
            <a:br/>
            <a:r>
              <a:t>Unprivileged sandboxing</a:t>
            </a:r>
            <a:br/>
            <a:r>
              <a:t>Filesystem restrictions</a:t>
            </a:r>
            <a:br/>
            <a:r>
              <a:t>Linux 5.13+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457200" y="4297680"/>
            <a:ext cx="8229600" cy="1828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BBBBBB"/>
                </a:solidFill>
                <a:latin typeface="Calibri"/>
              </a:defRPr>
            </a:pPr>
            <a:r>
              <a:t>LSM stacking (Linux 5.1+): multiple LSMs can be active simultaneously. Typical production: SELinux + BPF LSM, or AppArmor + Landlock. BPF LSM (Linux 5.7+) allows attaching eBPF programs to LSM hooks — enables dynamic, programmable security policies (used by Cilium Tetragon, Falco). Security decision: LSM hook returns 0 (allow) or -EACCES (deny). DAC check happens first — LSM can only further restrict, never grant.</a:t>
            </a:r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21224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82296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600" b="1">
                <a:solidFill>
                  <a:srgbClr val="FFFFFF"/>
                </a:solidFill>
                <a:latin typeface="Calibri"/>
              </a:defRPr>
            </a:pPr>
            <a:r>
              <a:t>Control Groups (cgroups v2)</a:t>
            </a:r>
          </a:p>
        </p:txBody>
      </p:sp>
      <p:sp>
        <p:nvSpPr>
          <p:cNvPr id="3" name="Rectangle 2"/>
          <p:cNvSpPr/>
          <p:nvPr/>
        </p:nvSpPr>
        <p:spPr>
          <a:xfrm>
            <a:off x="457200" y="914400"/>
            <a:ext cx="8229600" cy="25400"/>
          </a:xfrm>
          <a:prstGeom prst="rect">
            <a:avLst/>
          </a:prstGeom>
          <a:solidFill>
            <a:srgbClr val="00D4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640080" y="1188720"/>
            <a:ext cx="77724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1">
                <a:solidFill>
                  <a:srgbClr val="00D4FF"/>
                </a:solidFill>
                <a:latin typeface="Calibri"/>
              </a:defRPr>
            </a:pPr>
            <a:r>
              <a:t>Resource Limiting</a:t>
            </a:r>
          </a:p>
          <a:p>
            <a:pPr algn="l">
              <a:spcBef>
                <a:spcPts val="600"/>
              </a:spcBef>
              <a:defRPr sz="1200" b="0">
                <a:solidFill>
                  <a:srgbClr val="BBBBBB"/>
                </a:solidFill>
              </a:defRPr>
            </a:pPr>
            <a:r>
              <a:t>cpu.max: CPU time quota/period. memory.max: hard memory limit. io.max: block I/O bandwidth. pids.max: process count cap.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40080" y="1783080"/>
            <a:ext cx="77724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1">
                <a:solidFill>
                  <a:srgbClr val="00D4FF"/>
                </a:solidFill>
                <a:latin typeface="Calibri"/>
              </a:defRPr>
            </a:pPr>
            <a:r>
              <a:t>Hierarchy &amp; Delegation</a:t>
            </a:r>
          </a:p>
          <a:p>
            <a:pPr algn="l">
              <a:spcBef>
                <a:spcPts val="600"/>
              </a:spcBef>
              <a:defRPr sz="1200" b="0">
                <a:solidFill>
                  <a:srgbClr val="BBBBBB"/>
                </a:solidFill>
              </a:defRPr>
            </a:pPr>
            <a:r>
              <a:t>Single unified hierarchy (cgroups v2). Parent can delegate sub-tree to unprivileged processes. systemd manages slice/scope/service cgroup units.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2377440"/>
            <a:ext cx="77724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1">
                <a:solidFill>
                  <a:srgbClr val="00D4FF"/>
                </a:solidFill>
                <a:latin typeface="Calibri"/>
              </a:defRPr>
            </a:pPr>
            <a:r>
              <a:t>Security Implications</a:t>
            </a:r>
          </a:p>
          <a:p>
            <a:pPr algn="l">
              <a:spcBef>
                <a:spcPts val="600"/>
              </a:spcBef>
              <a:defRPr sz="1200" b="0">
                <a:solidFill>
                  <a:srgbClr val="BBBBBB"/>
                </a:solidFill>
              </a:defRPr>
            </a:pPr>
            <a:r>
              <a:t>Memory cgroup prevents fork bombs and OOM attacks against other tenants. CPU cgroup prevents crypto-mining abuse. Device cgroup restricts /dev access.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40080" y="2971800"/>
            <a:ext cx="77724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1">
                <a:solidFill>
                  <a:srgbClr val="00D4FF"/>
                </a:solidFill>
                <a:latin typeface="Calibri"/>
              </a:defRPr>
            </a:pPr>
            <a:r>
              <a:t>Container Integration</a:t>
            </a:r>
          </a:p>
          <a:p>
            <a:pPr algn="l">
              <a:spcBef>
                <a:spcPts val="600"/>
              </a:spcBef>
              <a:defRPr sz="1200" b="0">
                <a:solidFill>
                  <a:srgbClr val="BBBBBB"/>
                </a:solidFill>
              </a:defRPr>
            </a:pPr>
            <a:r>
              <a:t>Each container gets its own cgroup. Docker/containerd set limits via OCI runtime spec. Kubernetes: requests (soft) and limits (hard) map to cgroup settings.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40080" y="3566160"/>
            <a:ext cx="77724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1">
                <a:solidFill>
                  <a:srgbClr val="00D4FF"/>
                </a:solidFill>
                <a:latin typeface="Calibri"/>
              </a:defRPr>
            </a:pPr>
            <a:r>
              <a:t>Monitoring &amp; Detection</a:t>
            </a:r>
          </a:p>
          <a:p>
            <a:pPr algn="l">
              <a:spcBef>
                <a:spcPts val="600"/>
              </a:spcBef>
              <a:defRPr sz="1200" b="0">
                <a:solidFill>
                  <a:srgbClr val="BBBBBB"/>
                </a:solidFill>
              </a:defRPr>
            </a:pPr>
            <a:r>
              <a:t>cgroup.events: populated, frozen state. memory.events: oom_kill counter. PSI (Pressure Stall Information): some/full pressure tracking for CPU, memory, I/O.</a:t>
            </a:r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21224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82296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600" b="1">
                <a:solidFill>
                  <a:srgbClr val="FFFFFF"/>
                </a:solidFill>
                <a:latin typeface="Calibri"/>
              </a:defRPr>
            </a:pPr>
            <a:r>
              <a:t>Key Takeaways &amp; Defense Recommendations</a:t>
            </a:r>
          </a:p>
        </p:txBody>
      </p:sp>
      <p:sp>
        <p:nvSpPr>
          <p:cNvPr id="3" name="Rectangle 2"/>
          <p:cNvSpPr/>
          <p:nvPr/>
        </p:nvSpPr>
        <p:spPr>
          <a:xfrm>
            <a:off x="457200" y="914400"/>
            <a:ext cx="8229600" cy="25400"/>
          </a:xfrm>
          <a:prstGeom prst="rect">
            <a:avLst/>
          </a:prstGeom>
          <a:solidFill>
            <a:srgbClr val="00FF8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457200" y="1280160"/>
            <a:ext cx="8229600" cy="640080"/>
          </a:xfrm>
          <a:prstGeom prst="rect">
            <a:avLst/>
          </a:prstGeom>
          <a:solidFill>
            <a:srgbClr val="1A2A1A"/>
          </a:solidFill>
          <a:ln w="19050">
            <a:solidFill>
              <a:srgbClr val="00FF8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l">
              <a:defRPr sz="1300" b="0">
                <a:solidFill>
                  <a:srgbClr val="FFFFFF"/>
                </a:solidFill>
              </a:defRPr>
            </a:pPr>
            <a:r>
              <a:t>✓  Compile with Full RELRO + PIE + Stack Canaries + NX — layered binary hardening</a:t>
            </a:r>
          </a:p>
        </p:txBody>
      </p:sp>
      <p:sp>
        <p:nvSpPr>
          <p:cNvPr id="5" name="Rectangle 4"/>
          <p:cNvSpPr/>
          <p:nvPr/>
        </p:nvSpPr>
        <p:spPr>
          <a:xfrm>
            <a:off x="457200" y="2011680"/>
            <a:ext cx="8229600" cy="640080"/>
          </a:xfrm>
          <a:prstGeom prst="rect">
            <a:avLst/>
          </a:prstGeom>
          <a:solidFill>
            <a:srgbClr val="1A2A1A"/>
          </a:solidFill>
          <a:ln w="19050">
            <a:solidFill>
              <a:srgbClr val="00FF8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l">
              <a:defRPr sz="1300" b="0">
                <a:solidFill>
                  <a:srgbClr val="FFFFFF"/>
                </a:solidFill>
              </a:defRPr>
            </a:pPr>
            <a:r>
              <a:t>✓  Use seccomp-BPF to restrict syscall surface — default-deny policy where possible</a:t>
            </a:r>
          </a:p>
        </p:txBody>
      </p:sp>
      <p:sp>
        <p:nvSpPr>
          <p:cNvPr id="6" name="Rectangle 5"/>
          <p:cNvSpPr/>
          <p:nvPr/>
        </p:nvSpPr>
        <p:spPr>
          <a:xfrm>
            <a:off x="457200" y="2743200"/>
            <a:ext cx="8229600" cy="640080"/>
          </a:xfrm>
          <a:prstGeom prst="rect">
            <a:avLst/>
          </a:prstGeom>
          <a:solidFill>
            <a:srgbClr val="1A2A1A"/>
          </a:solidFill>
          <a:ln w="19050">
            <a:solidFill>
              <a:srgbClr val="00FF8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l">
              <a:defRPr sz="1300" b="0">
                <a:solidFill>
                  <a:srgbClr val="FFFFFF"/>
                </a:solidFill>
              </a:defRPr>
            </a:pPr>
            <a:r>
              <a:t>✓  Drop unnecessary capabilities — avoid CAP_SYS_ADMIN, use fine-grained caps</a:t>
            </a:r>
          </a:p>
        </p:txBody>
      </p:sp>
      <p:sp>
        <p:nvSpPr>
          <p:cNvPr id="7" name="Rectangle 6"/>
          <p:cNvSpPr/>
          <p:nvPr/>
        </p:nvSpPr>
        <p:spPr>
          <a:xfrm>
            <a:off x="457200" y="3474720"/>
            <a:ext cx="8229600" cy="640080"/>
          </a:xfrm>
          <a:prstGeom prst="rect">
            <a:avLst/>
          </a:prstGeom>
          <a:solidFill>
            <a:srgbClr val="1A2A1A"/>
          </a:solidFill>
          <a:ln w="19050">
            <a:solidFill>
              <a:srgbClr val="00FF8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l">
              <a:defRPr sz="1300" b="0">
                <a:solidFill>
                  <a:srgbClr val="FFFFFF"/>
                </a:solidFill>
              </a:defRPr>
            </a:pPr>
            <a:r>
              <a:t>✓  Leverage namespaces for isolation — user namespaces enable rootless containers</a:t>
            </a:r>
          </a:p>
        </p:txBody>
      </p:sp>
      <p:sp>
        <p:nvSpPr>
          <p:cNvPr id="8" name="Rectangle 7"/>
          <p:cNvSpPr/>
          <p:nvPr/>
        </p:nvSpPr>
        <p:spPr>
          <a:xfrm>
            <a:off x="457200" y="4206240"/>
            <a:ext cx="8229600" cy="640080"/>
          </a:xfrm>
          <a:prstGeom prst="rect">
            <a:avLst/>
          </a:prstGeom>
          <a:solidFill>
            <a:srgbClr val="1A2A1A"/>
          </a:solidFill>
          <a:ln w="19050">
            <a:solidFill>
              <a:srgbClr val="00FF8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l">
              <a:defRPr sz="1300" b="0">
                <a:solidFill>
                  <a:srgbClr val="FFFFFF"/>
                </a:solidFill>
              </a:defRPr>
            </a:pPr>
            <a:r>
              <a:t>✓  Deploy LSM policies (SELinux/AppArmor) — mandatory access control beyond DAC</a:t>
            </a:r>
          </a:p>
        </p:txBody>
      </p:sp>
      <p:sp>
        <p:nvSpPr>
          <p:cNvPr id="9" name="Rectangle 8"/>
          <p:cNvSpPr/>
          <p:nvPr/>
        </p:nvSpPr>
        <p:spPr>
          <a:xfrm>
            <a:off x="457200" y="4937760"/>
            <a:ext cx="8229600" cy="640080"/>
          </a:xfrm>
          <a:prstGeom prst="rect">
            <a:avLst/>
          </a:prstGeom>
          <a:solidFill>
            <a:srgbClr val="1A2A1A"/>
          </a:solidFill>
          <a:ln w="19050">
            <a:solidFill>
              <a:srgbClr val="00FF8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l">
              <a:defRPr sz="1300" b="0">
                <a:solidFill>
                  <a:srgbClr val="FFFFFF"/>
                </a:solidFill>
              </a:defRPr>
            </a:pPr>
            <a:r>
              <a:t>✓  Monitor cgroup events for resource abuse — OOM kills, CPU throttling, fork storms</a:t>
            </a:r>
          </a:p>
        </p:txBody>
      </p:sp>
      <p:sp>
        <p:nvSpPr>
          <p:cNvPr id="10" name="Rectangle 9"/>
          <p:cNvSpPr/>
          <p:nvPr/>
        </p:nvSpPr>
        <p:spPr>
          <a:xfrm>
            <a:off x="457200" y="5669280"/>
            <a:ext cx="8229600" cy="640080"/>
          </a:xfrm>
          <a:prstGeom prst="rect">
            <a:avLst/>
          </a:prstGeom>
          <a:solidFill>
            <a:srgbClr val="1A2A1A"/>
          </a:solidFill>
          <a:ln w="19050">
            <a:solidFill>
              <a:srgbClr val="00FF8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l">
              <a:defRPr sz="1300" b="0">
                <a:solidFill>
                  <a:srgbClr val="FFFFFF"/>
                </a:solidFill>
              </a:defRPr>
            </a:pPr>
            <a:r>
              <a:t>✓  Audit ELF binaries: checksec verifies RELRO, NX, PIE, canaries, FORTIFY</a:t>
            </a:r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21224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82296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600" b="1">
                <a:solidFill>
                  <a:srgbClr val="FFFFFF"/>
                </a:solidFill>
                <a:latin typeface="Calibri"/>
              </a:defRPr>
            </a:pPr>
            <a:r>
              <a:t>Cross-Reference Map</a:t>
            </a:r>
          </a:p>
        </p:txBody>
      </p:sp>
      <p:sp>
        <p:nvSpPr>
          <p:cNvPr id="3" name="Rectangle 2"/>
          <p:cNvSpPr/>
          <p:nvPr/>
        </p:nvSpPr>
        <p:spPr>
          <a:xfrm>
            <a:off x="457200" y="914400"/>
            <a:ext cx="8229600" cy="25400"/>
          </a:xfrm>
          <a:prstGeom prst="rect">
            <a:avLst/>
          </a:prstGeom>
          <a:solidFill>
            <a:srgbClr val="BB86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640080" y="1188720"/>
            <a:ext cx="77724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1">
                <a:solidFill>
                  <a:srgbClr val="BB86FC"/>
                </a:solidFill>
                <a:latin typeface="Calibri"/>
              </a:defRPr>
            </a:pPr>
            <a:r>
              <a:t>Domain 3 — Memory Corruption</a:t>
            </a:r>
          </a:p>
          <a:p>
            <a:pPr algn="l">
              <a:spcBef>
                <a:spcPts val="600"/>
              </a:spcBef>
              <a:defRPr sz="1200" b="0">
                <a:solidFill>
                  <a:srgbClr val="BBBBBB"/>
                </a:solidFill>
              </a:defRPr>
            </a:pPr>
            <a:r>
              <a:t>Stack/heap exploitation relies on understanding virtual memory layout and ELF structure.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40080" y="1783080"/>
            <a:ext cx="77724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1">
                <a:solidFill>
                  <a:srgbClr val="BB86FC"/>
                </a:solidFill>
                <a:latin typeface="Calibri"/>
              </a:defRPr>
            </a:pPr>
            <a:r>
              <a:t>Domain 4 — Code Reuse Attacks</a:t>
            </a:r>
          </a:p>
          <a:p>
            <a:pPr algn="l">
              <a:spcBef>
                <a:spcPts val="600"/>
              </a:spcBef>
              <a:defRPr sz="1200" b="0">
                <a:solidFill>
                  <a:srgbClr val="BBBBBB"/>
                </a:solidFill>
              </a:defRPr>
            </a:pPr>
            <a:r>
              <a:t>ROP/JOP gadgets found in .text; PLT/GOT mechanics enable ret2plt techniques.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2377440"/>
            <a:ext cx="77724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1">
                <a:solidFill>
                  <a:srgbClr val="BB86FC"/>
                </a:solidFill>
                <a:latin typeface="Calibri"/>
              </a:defRPr>
            </a:pPr>
            <a:r>
              <a:t>Domain 5 — Kernel Exploitation</a:t>
            </a:r>
          </a:p>
          <a:p>
            <a:pPr algn="l">
              <a:spcBef>
                <a:spcPts val="600"/>
              </a:spcBef>
              <a:defRPr sz="1200" b="0">
                <a:solidFill>
                  <a:srgbClr val="BBBBBB"/>
                </a:solidFill>
              </a:defRPr>
            </a:pPr>
            <a:r>
              <a:t>Kernel memory layout, page table manipulation, and namespace escapes.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40080" y="2971800"/>
            <a:ext cx="77724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1">
                <a:solidFill>
                  <a:srgbClr val="BB86FC"/>
                </a:solidFill>
                <a:latin typeface="Calibri"/>
              </a:defRPr>
            </a:pPr>
            <a:r>
              <a:t>Domain 6 — Mitigation Bypass</a:t>
            </a:r>
          </a:p>
          <a:p>
            <a:pPr algn="l">
              <a:spcBef>
                <a:spcPts val="600"/>
              </a:spcBef>
              <a:defRPr sz="1200" b="0">
                <a:solidFill>
                  <a:srgbClr val="BBBBBB"/>
                </a:solidFill>
              </a:defRPr>
            </a:pPr>
            <a:r>
              <a:t>ASLR, NX, RELRO bypass techniques depend on binary format internals.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40080" y="3566160"/>
            <a:ext cx="77724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1">
                <a:solidFill>
                  <a:srgbClr val="BB86FC"/>
                </a:solidFill>
                <a:latin typeface="Calibri"/>
              </a:defRPr>
            </a:pPr>
            <a:r>
              <a:t>Domain 10 — Cloud &amp; Containers</a:t>
            </a:r>
          </a:p>
          <a:p>
            <a:pPr algn="l">
              <a:spcBef>
                <a:spcPts val="600"/>
              </a:spcBef>
              <a:defRPr sz="1200" b="0">
                <a:solidFill>
                  <a:srgbClr val="BBBBBB"/>
                </a:solidFill>
              </a:defRPr>
            </a:pPr>
            <a:r>
              <a:t>Container isolation = namespaces + cgroups + seccomp + capabilities.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40080" y="4160520"/>
            <a:ext cx="77724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1">
                <a:solidFill>
                  <a:srgbClr val="BB86FC"/>
                </a:solidFill>
                <a:latin typeface="Calibri"/>
              </a:defRPr>
            </a:pPr>
            <a:r>
              <a:t>Domain 11 — Malware</a:t>
            </a:r>
          </a:p>
          <a:p>
            <a:pPr algn="l">
              <a:spcBef>
                <a:spcPts val="600"/>
              </a:spcBef>
              <a:defRPr sz="1200" b="0">
                <a:solidFill>
                  <a:srgbClr val="BBBBBB"/>
                </a:solidFill>
              </a:defRPr>
            </a:pPr>
            <a:r>
              <a:t>ELF/PE parsing for malware analysis; packing/obfuscation techniques.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