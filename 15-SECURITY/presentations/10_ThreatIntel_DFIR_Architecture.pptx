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Threat Intelligence, DFIR &amp;</a:t>
            </a:r>
            <a:br/>
            <a:r>
              <a:t>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Domains 23-27, 29-31  ·  OSINT  ·  DFIR  ·  ATT&amp;CK  ·  Zero Trust  ·  Detection Engineering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3383280"/>
            <a:ext cx="66751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0584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97280" y="1280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1.  OSINT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2.  Social Engineering Kill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3.  Phishing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4.  DFIR Process (PICERL)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5.  Memory Forensics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6.  Cloud Forensics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023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7.  IR Playbook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8.  Diamond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9.  MITRE ATT&amp;CK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94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10.  TI-to-Detection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52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11.  TLP 2.0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6309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12.  Zero Trust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6766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13.  SIEM/SOAR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7223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14.  Detection Engineering 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7680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15.  SOC Tier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8138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16.  Purple Teaming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8595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17.  Defense Maturity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9052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18.  Cross-Reference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OSINT Methodology — Intelligence Cycle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Planning &amp;</a:t>
            </a:r>
            <a:br/>
            <a:r>
              <a:t>Direction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Collection</a:t>
            </a:r>
            <a:br/>
            <a:r>
              <a:t>(Passive/Active)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Processing &amp;</a:t>
            </a:r>
            <a:br/>
            <a:r>
              <a:t>Correlation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Analysis &amp;</a:t>
            </a:r>
            <a:br/>
            <a:r>
              <a:t>Production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Dissemination</a:t>
            </a:r>
            <a:br/>
            <a:r>
              <a:t>&amp;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Collection sources:</a:t>
            </a:r>
            <a:br/>
            <a:r>
              <a:t>▸ Passive: search engines, social media, public records, breach databases, DNS/WHOIS, CT logs</a:t>
            </a:r>
            <a:br/>
            <a:r>
              <a:t>▸ Semi-passive: web scraping, cached pages, Wayback Machine, Shodan/Censys</a:t>
            </a:r>
            <a:br/>
            <a:r>
              <a:t>▸ Active: port scanning, banner grabbing, social engineering (higher OPSEC risk)</a:t>
            </a:r>
            <a:br/>
            <a:br/>
            <a:r>
              <a:t>Tools: Maltego (link analysis), SpiderFoot (automated recon), theHarvester (email/domain),</a:t>
            </a:r>
            <a:br/>
            <a:r>
              <a:t>Shodan/Censys (internet-facing assets), Recon-ng (framework), Amass (subdomain enum),</a:t>
            </a:r>
            <a:br/>
            <a:r>
              <a:t>FOCA (metadata extraction), Metagoofil (document metadata), Sherlock (username search).</a:t>
            </a:r>
            <a:br/>
            <a:br/>
            <a:r>
              <a:t>OPSEC: use VPN/Tor, burner accounts, separate research infrastructure.</a:t>
            </a:r>
            <a:br/>
            <a:r>
              <a:t>Legal: OSINT is generally legal but jurisdiction-specific. GDPR considerations for EU targets.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Social Engineering Kill 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Target</a:t>
            </a:r>
            <a:br/>
            <a:r>
              <a:t>Reconnaissance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Pretext</a:t>
            </a:r>
            <a:br/>
            <a:r>
              <a:t>Development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Engagement</a:t>
            </a:r>
            <a:br/>
            <a:r>
              <a:t>&amp; Trust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Exploitation</a:t>
            </a:r>
            <a:br/>
            <a:r>
              <a:t>(Action)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Exit &amp;</a:t>
            </a:r>
            <a:br/>
            <a:r>
              <a:t>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Attack types by vector:</a:t>
            </a:r>
            <a:br/>
            <a:r>
              <a:t>▸ Phishing: spear-phishing email → credential harvesting or malware delivery</a:t>
            </a:r>
            <a:br/>
            <a:r>
              <a:t>▸ BEC: impersonate executive → wire transfer redirect ($2.7B losses in 2022 — FBI IC3)</a:t>
            </a:r>
            <a:br/>
            <a:r>
              <a:t>▸ Vishing: phone-based social engineering → IT helpdesk password reset</a:t>
            </a:r>
            <a:br/>
            <a:r>
              <a:t>▸ Smishing: SMS-based lure → malicious link / app install</a:t>
            </a:r>
            <a:br/>
            <a:r>
              <a:t>▸ Physical: tailgating, badge cloning, USB drops, impersonation</a:t>
            </a:r>
            <a:br/>
            <a:br/>
            <a:r>
              <a:t>Advanced techniques:</a:t>
            </a:r>
            <a:br/>
            <a:r>
              <a:t>▸ AiTM (Adversary-in-the-Middle): Evilginx2 → real-time proxy → steal session token post-MFA</a:t>
            </a:r>
            <a:br/>
            <a:r>
              <a:t>▸ QR code phishing (Quishing): bypass email link scanners</a:t>
            </a:r>
            <a:br/>
            <a:r>
              <a:t>▸ Deepfake voice: clone executive voice for vishing (multiple $25M+ incidents in 2023-2024)</a:t>
            </a:r>
            <a:br/>
            <a:r>
              <a:t>▸ Multi-channel: combine email + phone + SMS for higher success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Phishing Infrastructure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Lookalike Domain</a:t>
            </a:r>
            <a:br/>
            <a:r>
              <a:t>(typosquat)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Landing Page</a:t>
            </a:r>
            <a:br/>
            <a:r>
              <a:t>(cloned login)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Credential</a:t>
            </a:r>
            <a:br/>
            <a:r>
              <a:t>Harvesting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Real-Time</a:t>
            </a:r>
            <a:br/>
            <a:r>
              <a:t>Relay (AiTM)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Exfiltration</a:t>
            </a:r>
            <a:br/>
            <a:r>
              <a:t>(Telegram/API)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Modern phishing infrastructure:</a:t>
            </a:r>
            <a:br/>
            <a:r>
              <a:t>▸ Domain: typosquat or homoglyph (Punycode). Bulletproof hosting. Let's Encrypt for HTTPS.</a:t>
            </a:r>
            <a:br/>
            <a:r>
              <a:t>▸ Evilginx2 / Modlishka: reverse proxy → intercepts session cookies → bypasses MFA.</a:t>
            </a:r>
            <a:br/>
            <a:r>
              <a:t>▸ GoPhish: open-source phishing framework for red team campaigns.</a:t>
            </a:r>
            <a:br/>
            <a:r>
              <a:t>▸ Exfil: Telegram bot API, Slack webhook, Google Forms, or custom API endpoint.</a:t>
            </a:r>
            <a:br/>
            <a:br/>
            <a:r>
              <a:t>Detection:</a:t>
            </a:r>
            <a:br/>
            <a:r>
              <a:t>▸ Certificate Transparency monitoring (CT logs for domain lookalikes)</a:t>
            </a:r>
            <a:br/>
            <a:r>
              <a:t>▸ DMARC/DKIM/SPF enforcement (prevents domain spoofing)</a:t>
            </a:r>
            <a:br/>
            <a:r>
              <a:t>▸ URL reputation + sandbox detonation (clicking link in sandbox)</a:t>
            </a:r>
            <a:br/>
            <a:r>
              <a:t>▸ Phishing-resistant MFA (FIDO2/WebAuthn — immune to AiTM proxy)</a:t>
            </a:r>
            <a:br/>
            <a:r>
              <a:t>▸ Conditional Access policies: device compliance, location, risk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Digital Forensics &amp;</a:t>
            </a:r>
            <a:br/>
            <a:r>
              <a:t>Incident Response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DFIR Process — PICERL Framework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IR plan, playbooks, tooling, retainers, tabletop exercises, logging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002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Detect &amp; triage. Alert validation. Scope assessment. Evidence preservation.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Containment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Short-term: isolate host. Long-term: credential reset, firewall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Eradication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06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Remove malware, close access vectors, patch vulnerabilities, rebuild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Restore from clean backups, monitor for re-compromise, phased service restoration.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Lessons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11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Post-incident review within 72h. Update playbooks. Track remediation items.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Critical first 24 hours: preserve volatile evidence (memory, network connections, running processes),</a:t>
            </a:r>
            <a:br/>
            <a:r>
              <a:t>establish timeline, determine initial access vector, assess scope of compromise.</a:t>
            </a:r>
            <a:br/>
            <a:r>
              <a:t>Evidence handling: chain of custody, write-blockers, forensic images (dd/FTK Imager), hashing (SHA-256).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Memory Forensics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Memory</a:t>
            </a:r>
            <a:br/>
            <a:r>
              <a:t>Acquisition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Profile</a:t>
            </a:r>
            <a:br/>
            <a:r>
              <a:t>Identification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Process</a:t>
            </a:r>
            <a:br/>
            <a:r>
              <a:t>Analysis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Network</a:t>
            </a:r>
            <a:br/>
            <a:r>
              <a:t>Artifacts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Malware</a:t>
            </a:r>
            <a:br/>
            <a: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Acquisition: WinPmem, LiME (Linux), AVML (Azure), DumpIt, Magnet RAM Capture.</a:t>
            </a:r>
            <a:br/>
            <a:r>
              <a:t>Cloud: VM memory snapshot (AWS EC2, Azure VM, GCP).</a:t>
            </a:r>
            <a:br/>
            <a:br/>
            <a:r>
              <a:t>Analysis tools:</a:t>
            </a:r>
            <a:br/>
            <a:r>
              <a:t>▸ Volatility 3: process list, DLL analysis, network connections, registry, malware detection</a:t>
            </a:r>
            <a:br/>
            <a:r>
              <a:t>▸ Rekall: alternative framework (now largely archived)</a:t>
            </a:r>
            <a:br/>
            <a:r>
              <a:t>▸ MemProcFS: memory as filesystem — browse with standard tools</a:t>
            </a:r>
            <a:br/>
            <a:br/>
            <a:r>
              <a:t>Key artifacts: injected code (malfind), hidden processes (psxview), API hooks,</a:t>
            </a:r>
            <a:br/>
            <a:r>
              <a:t>network connections (netscan), command history, credential material (hashdump/mimikatz),</a:t>
            </a:r>
            <a:br/>
            <a:r>
              <a:t>encryption keys (aeskeyfind), browser history, clipboard contents.</a:t>
            </a:r>
            <a:br/>
            <a:br/>
            <a:r>
              <a:t>Memory forensics catches what disk forensics misses: fileless malware, injected shellcode,</a:t>
            </a:r>
            <a:br/>
            <a:r>
              <a:t>decrypted payloads, process hollowing, reflective DLL injection.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Cloud Forensics Evidence Sources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13716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CloudTrail (API), VPC Flow Logs, GuardDuty, S3 access logs, EBS snapshots, CloudWatch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3716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00FF88"/>
                </a:solidFill>
              </a:defRPr>
            </a:pPr>
            <a:r>
              <a:t>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Activity Log, NSG Flow Logs, Sentinel, Defender, Disk snapshots, AAD sign-in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13716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GCP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Cloud Audit Logs, VPC Flow Logs, SCC, Chronicle, Disk snapshots, IAM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3716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FF4444"/>
                </a:solidFill>
              </a:defRPr>
            </a:pPr>
            <a:r>
              <a:t>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7432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Audit logs, Falco alerts, pod logs, etcd snapshots, network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13716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BB86FC"/>
                </a:solidFill>
              </a:defRPr>
            </a:pPr>
            <a:r>
              <a:t>SaaS (M365)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918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Unified Audit Log, Purview, Defender, Azure AD sign-ins, Mailbox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Cloud forensics challenges:</a:t>
            </a:r>
            <a:br/>
            <a:r>
              <a:t>▸ Shared responsibility: provider owns infrastructure logs, customer owns application logs</a:t>
            </a:r>
            <a:br/>
            <a:r>
              <a:t>▸ Ephemeral resources: containers, Lambda, spot instances — evidence vanishes</a:t>
            </a:r>
            <a:br/>
            <a:r>
              <a:t>▸ Log retention: default retention varies (CloudTrail: 90 days without S3 delivery)</a:t>
            </a:r>
            <a:br/>
            <a:r>
              <a:t>▸ Multi-region: attacker may pivot across regions; logs must be centralized</a:t>
            </a:r>
            <a:br/>
            <a:r>
              <a:t>▸ Encryption: EBS snapshots encrypted with customer KMS keys — need key access for analysis</a:t>
            </a:r>
            <a:br/>
            <a:br/>
            <a:r>
              <a:t>Best practice: centralize all logs to SIEM, enable all audit logging BEFORE incident.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IR Playbook Types — Response Strategy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Threat Intelligence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Diamond Model of Intrusion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114800" y="1188720"/>
            <a:ext cx="36576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4444"/>
                </a:solidFill>
              </a:defRPr>
            </a:pPr>
            <a:r>
              <a:t>Adversary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743200"/>
            <a:ext cx="32004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297680"/>
            <a:ext cx="36576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Victim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1828800"/>
            <a:ext cx="2743200" cy="109728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1828800"/>
            <a:ext cx="2286000" cy="109728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86000" y="3383280"/>
            <a:ext cx="2743200" cy="109728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58000" y="3383280"/>
            <a:ext cx="2286000" cy="109728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Meta-features: timestamp, phase, result, direction, methodology, resources.</a:t>
            </a:r>
            <a:br/>
            <a:r>
              <a:t>Activity threads: chain events across time. Activity groups: cluster by shared vertices.</a:t>
            </a:r>
            <a:br/>
            <a:r>
              <a:t>Pivot analysis: from IOC (infrastructure) → adversary → capability → other victims.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MITRE ATT&amp;CK Matrix — Simplified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00D4FF"/>
                </a:solidFill>
              </a:defRPr>
            </a:pPr>
            <a:r>
              <a:t>Recon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T1595</a:t>
            </a:r>
            <a:br/>
            <a:r>
              <a:t>Scanning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00FF88"/>
                </a:solidFill>
              </a:defRPr>
            </a:pPr>
            <a:r>
              <a:t>Resource</a:t>
            </a:r>
            <a:br/>
            <a:r>
              <a:t>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T1583</a:t>
            </a:r>
            <a:br/>
            <a:r>
              <a:t>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4444"/>
                </a:solidFill>
              </a:defRPr>
            </a:pPr>
            <a:r>
              <a:t>Initial</a:t>
            </a:r>
            <a:br/>
            <a:r>
              <a:t>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T1566</a:t>
            </a:r>
            <a:br/>
            <a:r>
              <a:t>Phishing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D700"/>
                </a:solidFill>
              </a:defRPr>
            </a:pPr>
            <a:r>
              <a:t>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T1059</a:t>
            </a:r>
            <a:br/>
            <a:r>
              <a:t>Cmd/Script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BB86FC"/>
                </a:solidFill>
              </a:defRPr>
            </a:pPr>
            <a:r>
              <a:t>Persistence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T1053</a:t>
            </a:r>
            <a:br/>
            <a:r>
              <a:t>Scheduled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4444"/>
                </a:solidFill>
              </a:defRPr>
            </a:pPr>
            <a:r>
              <a:t>Priv Esc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T1068</a:t>
            </a:r>
            <a:br/>
            <a:r>
              <a:t>Exploit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00D4FF"/>
                </a:solidFill>
              </a:defRPr>
            </a:pPr>
            <a:r>
              <a:t>Defense</a:t>
            </a:r>
            <a:br/>
            <a:r>
              <a:t>Evasion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T1070</a:t>
            </a:r>
            <a:br/>
            <a:r>
              <a:t>Log Clear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00FF88"/>
                </a:solidFill>
              </a:defRPr>
            </a:pPr>
            <a:r>
              <a:t>Cred</a:t>
            </a:r>
            <a:br/>
            <a:r>
              <a:t>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T1003</a:t>
            </a:r>
            <a:br/>
            <a:r>
              <a:t>Dumping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D700"/>
                </a:solidFill>
              </a:defRPr>
            </a:pPr>
            <a:r>
              <a:t>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T1087</a:t>
            </a:r>
            <a:br/>
            <a:r>
              <a:t>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BB86FC"/>
                </a:solidFill>
              </a:defRPr>
            </a:pPr>
            <a:r>
              <a:t>Lateral</a:t>
            </a:r>
            <a:br/>
            <a:r>
              <a:t>Movement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T1021</a:t>
            </a:r>
            <a:br/>
            <a:r>
              <a:t>Remote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00D4FF"/>
                </a:solidFill>
              </a:defRPr>
            </a:pPr>
            <a:r>
              <a:t>Collection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T1005</a:t>
            </a:r>
            <a:br/>
            <a:r>
              <a:t>Local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4444"/>
                </a:solidFill>
              </a:defRPr>
            </a:pPr>
            <a:r>
              <a:t>Exfil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T1041</a:t>
            </a:r>
            <a:br/>
            <a:r>
              <a:t>C2 Channel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64240" y="1188720"/>
            <a:ext cx="868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4444"/>
                </a:solidFill>
              </a:defRPr>
            </a:pPr>
            <a:r>
              <a:t>Impact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064240" y="1737360"/>
            <a:ext cx="868680" cy="457200"/>
          </a:xfrm>
          <a:prstGeom prst="round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CCCCCC"/>
                </a:solidFill>
              </a:defRPr>
            </a:pPr>
            <a:r>
              <a:t>T1486</a:t>
            </a:r>
            <a:br/>
            <a:r>
              <a:t>Encrypt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ATT&amp;CK usage:</a:t>
            </a:r>
            <a:br/>
            <a:r>
              <a:t>▸ Threat profiling: map adversary TTPs to matrix → understand capabilities</a:t>
            </a:r>
            <a:br/>
            <a:r>
              <a:t>▸ Detection gaps: overlay detections on matrix → identify blind spots</a:t>
            </a:r>
            <a:br/>
            <a:r>
              <a:t>▸ Purple teaming: red team emulates specific techniques → blue team validates detection</a:t>
            </a:r>
            <a:br/>
            <a:r>
              <a:t>▸ CTI reporting: standardized language for describing adversary behavior</a:t>
            </a:r>
            <a:br/>
            <a:br/>
            <a:r>
              <a:t>Matrices: Enterprise (Windows, Linux, macOS, Cloud, Network, SaaS), Mobile, ICS.</a:t>
            </a:r>
            <a:br/>
            <a:r>
              <a:t>14 tactics, 200+ techniques, 400+ sub-techniques (Enterprise v15).</a:t>
            </a:r>
            <a:br/>
            <a:br/>
            <a:r>
              <a:t>Tools: ATT&amp;CK Navigator (heatmap), CALDERA (automated adversary emulation),</a:t>
            </a:r>
            <a:br/>
            <a:r>
              <a:t>Atomic Red Team (unit tests per technique), MITRE D3FEND (defensive countermeasures).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Threat Intelligence to Detection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Raw Intel</a:t>
            </a:r>
            <a:br/>
            <a:r>
              <a:t>(feeds, reports)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Enrichment</a:t>
            </a:r>
            <a:br/>
            <a:r>
              <a:t>(MISP, VirusTotal)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IOC/TTP</a:t>
            </a:r>
            <a:br/>
            <a:r>
              <a:t>Extraction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Detection Rule</a:t>
            </a:r>
            <a:br/>
            <a:r>
              <a:t>(Sigma/YARA)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SIEM Alert</a:t>
            </a:r>
            <a:br/>
            <a:r>
              <a:t>+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Intel feeds: OSINT (abuse.ch, AlienVault OTX), commercial (Recorded Future, Mandiant),</a:t>
            </a:r>
            <a:br/>
            <a:r>
              <a:t>ISAC (sector-specific), government (CISA alerts, FBI Flash).</a:t>
            </a:r>
            <a:br/>
            <a:br/>
            <a:r>
              <a:t>Processing: STIX 2.1 format → TAXII transport → MISP platform → enrich with context.</a:t>
            </a:r>
            <a:br/>
            <a:r>
              <a:t>IOC types: IP, domain, URL, file hash, certificate fingerprint, YARA rule, Sigma rule.</a:t>
            </a:r>
            <a:br/>
            <a:br/>
            <a:r>
              <a:t>Rule languages:</a:t>
            </a:r>
            <a:br/>
            <a:r>
              <a:t>▸ Sigma: vendor-agnostic SIEM detection rules → compile to Splunk/Elastic/Sentinel</a:t>
            </a:r>
            <a:br/>
            <a:r>
              <a:t>▸ YARA: file pattern matching rules for malware detection</a:t>
            </a:r>
            <a:br/>
            <a:r>
              <a:t>▸ Snort/Suricata: network-based detection rules</a:t>
            </a:r>
            <a:br/>
            <a:r>
              <a:t>▸ KQL/SPL: SIEM-specific query languages for complex behavioral detection</a:t>
            </a:r>
            <a:br/>
            <a:br/>
            <a:r>
              <a:t>Maturity: IOC matching (reactive) → TTP detection (proactive) → threat hunting (hypothesis-driven).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TLP 2.0 — Traffic Light Protocol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56032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0000"/>
                </a:solidFill>
              </a:defRPr>
            </a:pPr>
            <a:r>
              <a:t>TLP:RED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887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Named recipients only. No sharing beyond the conversation/meeting.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56032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BF00"/>
                </a:solidFill>
              </a:defRPr>
            </a:pPr>
            <a:r>
              <a:t>TLP:AMBER+STRICT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288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Organization only. No sharing beyond the recipient's org.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256032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BF00"/>
                </a:solidFill>
              </a:defRPr>
            </a:pPr>
            <a:r>
              <a:t>TLP:AMBER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688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Organization + clients/customers who need-to-know.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256032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00FF00"/>
                </a:solidFill>
              </a:defRPr>
            </a:pPr>
            <a:r>
              <a:t>TLP:GREEN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Community sharing. Peers, partner orgs, sector. Not public.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49040"/>
            <a:ext cx="256032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TLP:CLEAR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490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No restrictions. Can be shared publicly.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TLP 2.0 (FIRST, 2022) replaces TLP 1.0. Key change: AMBER+STRICT added.</a:t>
            </a:r>
            <a:br/>
            <a:r>
              <a:t>Used in: CTI sharing, ISAC communications, CERT coordination, vendor advisories.</a:t>
            </a:r>
            <a:br/>
            <a:r>
              <a:t>Violation = loss of trust and future intelligence access. Enforcement is community-based.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Security Architecture &amp;</a:t>
            </a:r>
            <a:br/>
            <a:r>
              <a:t>Detection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Zero Trust Architecture (NIST SP 800-207)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09728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Policy Engine (PE)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Makes access decisions based on policy + context. Trust score computation.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Policy Administrator (PA)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Establishes/shuts down communication paths. Session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0312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Policy Enforcement Point (PEP)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Enables/disables connections. Data plane gateway.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0604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Identity Provider (IdP)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Authenticates subjects. MFA, SSO, certificate-based auth.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10896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Device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MDM compliance, EDR status, patch level, health attestation.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611880"/>
            <a:ext cx="27432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Data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Encryption at rest + transit, DLP, classification, access logging.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Core principle: 'Never trust, always verify.' No implicit trust based on network location.</a:t>
            </a:r>
            <a:br/>
            <a:r>
              <a:t>Every access request evaluated: identity, device, context, risk, data sensitivity.</a:t>
            </a:r>
            <a:br/>
            <a:r>
              <a:t>Implementation: microsegmentation, ZTNA (Zscaler, Cloudflare), identity-aware proxy, mTLS.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SIEM / SOAR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Log Sources</a:t>
            </a:r>
            <a:br/>
            <a:r>
              <a:t>(EDR, firewall, cloud)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Collection</a:t>
            </a:r>
            <a:br/>
            <a:r>
              <a:t>(agents, syslog)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Message Queue</a:t>
            </a:r>
            <a:br/>
            <a:r>
              <a:t>(Kafka)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SIEM</a:t>
            </a:r>
            <a:br/>
            <a:r>
              <a:t>(detection, correlation)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SOAR</a:t>
            </a:r>
            <a:br/>
            <a:r>
              <a:t>(automation, response)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SIEM platforms: Splunk, Microsoft Sentinel, Elastic Security, Chronicle (Google), QRadar.</a:t>
            </a:r>
            <a:br/>
            <a:r>
              <a:t>SOAR platforms: Palo Alto XSOAR, Splunk SOAR, Swimlane, Tines.</a:t>
            </a:r>
            <a:br/>
            <a:br/>
            <a:r>
              <a:t>Scale for conglomerate (thousands of companies):</a:t>
            </a:r>
            <a:br/>
            <a:r>
              <a:t>▸ Ingestion: 10-100 TB/day. Cost optimization: hot/warm/cold tiers.</a:t>
            </a:r>
            <a:br/>
            <a:r>
              <a:t>▸ Architecture: multi-tenant SIEM with per-company workspaces</a:t>
            </a:r>
            <a:br/>
            <a:r>
              <a:t>▸ Detection: centralized detection rules + company-specific custom rules</a:t>
            </a:r>
            <a:br/>
            <a:r>
              <a:t>▸ SOAR playbooks: auto-enrich, auto-contain, analyst handoff for complex cases</a:t>
            </a:r>
            <a:br/>
            <a:br/>
            <a:r>
              <a:t>Critical log sources: EDR telemetry, DNS queries, proxy/firewall, authentication events,</a:t>
            </a:r>
            <a:br/>
            <a:r>
              <a:t>email gateway, cloud API audit logs, identity provider (sign-in, MFA), network flow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Detection Engineering Lifecycle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Hypothesis</a:t>
            </a:r>
            <a:br/>
            <a:r>
              <a:t>(TI-informed)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Rule</a:t>
            </a:r>
            <a:br/>
            <a:r>
              <a:t>Development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Testing</a:t>
            </a:r>
            <a:br/>
            <a:r>
              <a:t>(Atomic RT)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Deployment</a:t>
            </a:r>
            <a:br/>
            <a:r>
              <a:t>(SIEM/EDR)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Tuning &amp;</a:t>
            </a:r>
            <a:br/>
            <a:r>
              <a:t>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Detection-as-Code: detection rules managed in Git, CI/CD pipeline, version controlled.</a:t>
            </a:r>
            <a:br/>
            <a:r>
              <a:t>Testing: Atomic Red Team, CALDERA, or manual emulation → validate detection fires.</a:t>
            </a:r>
            <a:br/>
            <a:r>
              <a:t>Metrics: true positive rate, false positive rate, MTTD (Mean Time to Detect), coverage %.</a:t>
            </a:r>
            <a:br/>
            <a:br/>
            <a:r>
              <a:t>Detection types:</a:t>
            </a:r>
            <a:br/>
            <a:r>
              <a:t>▸ Signature/IOC: exact match (hash, IP, domain). Fast but fragile — adversary changes IOCs.</a:t>
            </a:r>
            <a:br/>
            <a:r>
              <a:t>▸ Behavioral: patterns of activity (process tree, command-line args). More durable.</a:t>
            </a:r>
            <a:br/>
            <a:r>
              <a:t>▸ Anomaly: deviation from baseline (ML-based). High FP rate but catches novel threats.</a:t>
            </a:r>
            <a:br/>
            <a:r>
              <a:t>▸ Threat hunting: proactive, hypothesis-driven. Human-in-the-loop. ATT&amp;CK-mapped.</a:t>
            </a:r>
            <a:br/>
            <a:br/>
            <a:r>
              <a:t>Rule quality: Sigma rules for portability, unit tested, versioned, mapped to ATT&amp;CK technique ID.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SOC Tier 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5603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L1 — Triage 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Alert triage, initial classification, false positive closure.</a:t>
            </a:r>
            <a:br/>
            <a:r>
              <a:t>24/7 coverage. Follow runbooks. Escalate confirmed incidents.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20"/>
            <a:ext cx="25603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L2 —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74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Deep-dive investigation. Timeline reconstruction. IOC extraction.</a:t>
            </a:r>
            <a:br/>
            <a:r>
              <a:t>Correlate across log sources. Determine scope and impact.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5603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L3 — Hunt /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Proactive threat hunting. Detection rule development.</a:t>
            </a:r>
            <a:br/>
            <a:r>
              <a:t>Tool development. Malware analysis. Purple teaming.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25603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IR Lead /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29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Incident coordination. Stakeholder communication.</a:t>
            </a:r>
            <a:br/>
            <a:r>
              <a:t>Escalation to CISO. External coordination (CERT, 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Modern trend: flatten tiers. Automation handles L1 triage → analysts start at investigation level.</a:t>
            </a:r>
            <a:br/>
            <a:r>
              <a:t>SOAR reduces toil: auto-enrich, auto-close known FPs, playbook-driven containment.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Ransomware Kill Chain — Detection Opportunities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" y="1280160"/>
            <a:ext cx="21031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Initial Access</a:t>
            </a:r>
            <a:br/>
            <a:r>
              <a:t>(phishing/RDP/VPN)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</a:defRPr>
            </a:pPr>
            <a:r>
              <a:t>DETECT: email gateway, brute-force alerts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1554480"/>
            <a:ext cx="13716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8880" y="1280160"/>
            <a:ext cx="21031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Persistence</a:t>
            </a:r>
            <a:br/>
            <a:r>
              <a:t>(scheduled task, 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</a:defRPr>
            </a:pPr>
            <a:r>
              <a:t>DETECT: new services, autoruns, registry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63440" y="1554480"/>
            <a:ext cx="13716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280160"/>
            <a:ext cx="21031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Lateral Movement</a:t>
            </a:r>
            <a:br/>
            <a:r>
              <a:t>(RDP, PsExec, WMI)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</a:defRPr>
            </a:pPr>
            <a:r>
              <a:t>DETECT: 4624 type 3, SMB sessions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40880" y="1554480"/>
            <a:ext cx="13716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0" y="1280160"/>
            <a:ext cx="21031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Exfiltration</a:t>
            </a:r>
            <a:br/>
            <a:r>
              <a:t>(rclone, megasync)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</a:defRPr>
            </a:pPr>
            <a:r>
              <a:t>DETECT: unusual egress, DLP, proxy logs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18320" y="1554480"/>
            <a:ext cx="13716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280160"/>
            <a:ext cx="21031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Encryption</a:t>
            </a:r>
            <a:br/>
            <a:r>
              <a:t>(BitLocker, custom)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FF88"/>
                </a:solidFill>
              </a:defRPr>
            </a:pPr>
            <a:r>
              <a:t>DETECT: mass file rename, vssadmin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Average dwell time before encryption: 5-21 days (varies by group).</a:t>
            </a:r>
            <a:br/>
            <a:r>
              <a:t>Every stage is a detection opportunity. Best chance: lateral movement phase (noisiest).</a:t>
            </a:r>
            <a:br/>
            <a:br/>
            <a:r>
              <a:t>Double extortion: exfiltrate data before encrypting. Triple: DDoS victim's customers.</a:t>
            </a:r>
            <a:br/>
            <a:r>
              <a:t>RaaS groups: LockBit, BlackCat/ALPHV, Cl0p, Play, Royal, BianLian, Akira.</a:t>
            </a:r>
            <a:br/>
            <a:br/>
            <a:r>
              <a:t>Critical controls:</a:t>
            </a:r>
            <a:br/>
            <a:r>
              <a:t>▸ Offline immutable backups (3-2-1 rule: 3 copies, 2 media types, 1 offsite)</a:t>
            </a:r>
            <a:br/>
            <a:r>
              <a:t>▸ EDR on all endpoints (not just servers)</a:t>
            </a:r>
            <a:br/>
            <a:r>
              <a:t>▸ MFA on all remote access (RDP, VPN, email, SaaS)</a:t>
            </a:r>
            <a:br/>
            <a:r>
              <a:t>▸ Network segmentation (limit blast radius)</a:t>
            </a:r>
            <a:br/>
            <a:r>
              <a:t>▸ Disable RDP where not needed. If needed: NLA, MFA, jump server only.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Purple Teaming 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Emulation</a:t>
            </a:r>
            <a:br/>
            <a:r>
              <a:t>Plan (ATT&amp;CK)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Red: Execute</a:t>
            </a:r>
            <a:br/>
            <a:r>
              <a:t>Technique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Blue: Detect</a:t>
            </a:r>
            <a:br/>
            <a:r>
              <a:t>&amp; Respond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Gap</a:t>
            </a:r>
            <a:br/>
            <a:r>
              <a:t>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Remediation</a:t>
            </a:r>
            <a:br/>
            <a:r>
              <a:t>&amp; Re-test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Purple team ≠ red team + blue team sitting together. It's a structured feedback loop.</a:t>
            </a:r>
            <a:br/>
            <a:br/>
            <a:r>
              <a:t>Process:</a:t>
            </a:r>
            <a:br/>
            <a:r>
              <a:t>1. Select threat profile (APT29, FIN7, etc.) or specific techniques</a:t>
            </a:r>
            <a:br/>
            <a:r>
              <a:t>2. Red team executes technique in controlled manner (Atomic Red Team / CALDERA)</a:t>
            </a:r>
            <a:br/>
            <a:r>
              <a:t>3. Blue team observes: did detection fire? Was alert actionable? Was response effective?</a:t>
            </a:r>
            <a:br/>
            <a:r>
              <a:t>4. Document gaps: missing log source, no detection rule, alert too noisy, no playbook</a:t>
            </a:r>
            <a:br/>
            <a:r>
              <a:t>5. Build/improve detection → re-execute technique → validate detection</a:t>
            </a:r>
            <a:br/>
            <a:br/>
            <a:r>
              <a:t>Frameworks: MITRE ATT&amp;CK Evaluations, Atomic Red Team, SCYTHE, AttackIQ, SafeBreach.</a:t>
            </a:r>
            <a:br/>
            <a:r>
              <a:t>Output: ATT&amp;CK coverage heatmap, prioritized detection backlog, improved playbooks.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Security Program Maturity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Cross-Reference Map — All 31 Domains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All domains: ATT&amp;CK maps techniques from every domain into unified taxonomy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8-9: Web/network — primary initial access vectors for enterprise compromise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10: Cloud — cloud forensics requires provider-specific knowledge and tooling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11: Malware/tradecraft — detection engineering must understand adversary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13: Cryptography — TI sharing relies on STIX/TAXII, detection uses Sigma/YARA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14: AD/Windows — #1 target for enterprise attacks, richest telemetry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22: Payment — financial fraud detection parallels SOC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Domains 29-31: New domains extend architecture, AI security, and advanced defense topics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