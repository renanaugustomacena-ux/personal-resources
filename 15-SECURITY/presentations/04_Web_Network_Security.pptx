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Web Application &amp;</a:t>
            </a:r>
            <a:br/>
            <a:r>
              <a:t>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8-9  ·  OWASP Top 10  ·  Browser Internals  ·  Protocol Attacks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OWASP Top 10 (2021)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XSS Types &amp; Attack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SQL Injection Mechanics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SSRF Attack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OAuth 2.0 &amp; JWT Attacks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CSP &amp; Browser Security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V8 Engine &amp; Chrome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TCP/IP Attack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DNS Attack Taxonomy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TLS 1.3 Handshake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Wireless &amp; SDN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OWASP Top 10 — 2021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Cross-Site Scripting (XSS) — Type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</a:defRPr>
            </a:pPr>
            <a:r>
              <a:t>Reflected XSS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18872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Attacker crafts</a:t>
            </a:r>
            <a:br/>
            <a:r>
              <a:t>malicious URL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141732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Victim clicks</a:t>
            </a:r>
            <a:br/>
            <a:r>
              <a:t>link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0" y="141732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18872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Server reflects</a:t>
            </a:r>
            <a:br/>
            <a:r>
              <a:t>input in response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26880" y="141732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0" y="118872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Browser executes</a:t>
            </a:r>
            <a:br/>
            <a:r>
              <a:t>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</a:defRPr>
            </a:pPr>
            <a:r>
              <a:t>Stored XSS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01168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Attacker submits</a:t>
            </a:r>
            <a:br/>
            <a:r>
              <a:t>payload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89120" y="224028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201168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Server stores</a:t>
            </a:r>
            <a:br/>
            <a:r>
              <a:t>in database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58000" y="224028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201168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Other users</a:t>
            </a:r>
            <a:br/>
            <a:r>
              <a:t>request page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26880" y="224028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201168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Payload served</a:t>
            </a:r>
            <a:br/>
            <a:r>
              <a:t>to all victims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</a:defRPr>
            </a:pPr>
            <a:r>
              <a:t>DOM-based XSS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283464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Attacker crafts</a:t>
            </a:r>
            <a:br/>
            <a:r>
              <a:t>URL fragment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389120" y="306324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80" y="283464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Client JS reads</a:t>
            </a:r>
            <a:br/>
            <a:r>
              <a:t>location.hash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58000" y="306324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283464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JS writes to</a:t>
            </a:r>
            <a:br/>
            <a:r>
              <a:t>innerHTML/eval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26880" y="306324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834640"/>
            <a:ext cx="201168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Script executes</a:t>
            </a:r>
            <a:br/>
            <a:r>
              <a:t>client-side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Defense: Context-aware output encoding, CSP with nonce, Trusted Types API, DOMPurify for sanitization.</a:t>
            </a:r>
            <a:br/>
            <a:r>
              <a:t>Reflected/Stored: server-side escaping. DOM-based: avoid dangerous sinks (innerHTML, eval, document.write).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SQL Injection — Attack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User Input</a:t>
            </a:r>
            <a:br/>
            <a:r>
              <a:t>' OR 1=1 --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String</a:t>
            </a:r>
            <a:br/>
            <a:r>
              <a:t>Concatenation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Malformed</a:t>
            </a:r>
            <a:br/>
            <a:r>
              <a:t>SQL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1554480"/>
            <a:ext cx="365760" cy="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Database</a:t>
            </a:r>
            <a:br/>
            <a:r>
              <a:t>Exfiltration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03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Union-Based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UNION SELECT to extract data from other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175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Error-Based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Trigger verbose errors that leak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747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Blind Boolean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Infer data from true/false response differences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Blind Time-Based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SLEEP/BENCHMARK to infer data via response timing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Out-of-Band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DNS/HTTP exfiltration via LOAD_FILE, UTL_HTTP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463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Second-Order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Stored payload triggered in different query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Defense: Parameterized queries / prepared statements. NEVER string concatenation. WAF as defense-in-depth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Server-Side Request Forgery (SSRF) Attack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Attacker sends</a:t>
            </a:r>
            <a:br/>
            <a:r>
              <a:t>URL to app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554480"/>
            <a:ext cx="27432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App fetches</a:t>
            </a:r>
            <a:br/>
            <a:r>
              <a:t>attacker URL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40" y="1554480"/>
            <a:ext cx="27432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Target:</a:t>
            </a:r>
            <a:br/>
            <a:r>
              <a:t>169.254.169.254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49440" y="1554480"/>
            <a:ext cx="27432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Cloud metadata</a:t>
            </a:r>
            <a:br/>
            <a:r>
              <a:t>credentials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1554480"/>
            <a:ext cx="27432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Lateral movement</a:t>
            </a:r>
            <a:br/>
            <a:r>
              <a:t>via stolen creds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Capital One breach (2019): SSRF → EC2 metadata → IAM role credentials → S3 bucket access → 106M records.</a:t>
            </a:r>
            <a:br/>
            <a:br/>
            <a:r>
              <a:t>SSRF targets beyond cloud metadata:</a:t>
            </a:r>
            <a:br/>
            <a:r>
              <a:t>▸ Internal services (Redis, Elasticsearch, Consul — often no auth on localhost)</a:t>
            </a:r>
            <a:br/>
            <a:r>
              <a:t>▸ File:// protocol → local file read (e.g., /etc/passwd, /proc/self/environ)</a:t>
            </a:r>
            <a:br/>
            <a:r>
              <a:t>▸ Gopher:// → interact with TCP services (memcached, SMTP)</a:t>
            </a:r>
            <a:br/>
            <a:r>
              <a:t>▸ DNS rebinding → bypass allowlist by resolving to internal IP after check</a:t>
            </a:r>
            <a:br/>
            <a:br/>
            <a:r>
              <a:t>Defense: IMDSv2 (token-required), allowlist outbound URLs, disable unnecessary protocols,</a:t>
            </a:r>
            <a:br/>
            <a:r>
              <a:t>network-level egress filtering, avoid passing raw URLs from user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OAuth 2.0 Authorization Code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188720"/>
            <a:ext cx="22860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Client</a:t>
            </a:r>
            <a:br/>
            <a:r>
              <a:t>(App)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22860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Authorization</a:t>
            </a:r>
            <a:br/>
            <a: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22860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Resource</a:t>
            </a:r>
            <a:br/>
            <a:r>
              <a:t>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</a:defRPr>
            </a:pPr>
            <a:r>
              <a:t>1. Auth request + PKCE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</a:defRPr>
            </a:pPr>
            <a:r>
              <a:t>2. User authenticates + consents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</a:defRPr>
            </a:pPr>
            <a:r>
              <a:t>3. Auth code returned to redirect_uri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</a:defRPr>
            </a:pPr>
            <a:r>
              <a:t>4. Exchange code + PKCE verifier for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</a:defRPr>
            </a:pPr>
            <a:r>
              <a:t>5. Access token + refresh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</a:defRPr>
            </a:pPr>
            <a:r>
              <a:t>6. API request with Bearer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Attacks: authorization code interception, redirect_uri manipulation, token leakage via referrer,</a:t>
            </a:r>
            <a:br/>
            <a:r>
              <a:t>state parameter CSRF, implicit flow token exposure, client_secret compromise.</a:t>
            </a:r>
            <a:br/>
            <a:br/>
            <a:r>
              <a:t>Defense: PKCE (RFC 7636) mandatory, exact redirect_uri match, short-lived access tokens,</a:t>
            </a:r>
            <a:br/>
            <a:r>
              <a:t>token binding, DPoP (RFC 9449), avoid implicit grant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JWT Structure &amp;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188720"/>
            <a:ext cx="3200400" cy="10972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HEADER</a:t>
            </a:r>
            <a:br/>
            <a:r>
              <a:t>{"alg":"RS256",</a:t>
            </a:r>
            <a:br/>
            <a:r>
              <a:t>"typ":"JWT"}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Base64url encoded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200400" cy="10972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PAYLOAD</a:t>
            </a:r>
            <a:br/>
            <a:r>
              <a:t>{"sub":"1234",</a:t>
            </a:r>
            <a:br/>
            <a:r>
              <a:t>"role":"admin"}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Claims (not encrypted!)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200400" cy="10972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SIGNATURE</a:t>
            </a:r>
            <a:br/>
            <a:r>
              <a:t>HMAC/RSA/ECDSA</a:t>
            </a:r>
            <a:br/>
            <a:r>
              <a:t>over header.payload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Integrity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alg: 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Set algorithm to 'none' — server accepts unsigned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2900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Key Confusion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29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RS256→HS256: use RSA public key as HMAC 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JWK Header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Embed attacker's public key in JWK/JKU header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Weak Secret Brute 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34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hashcat -m 16500 → crack HS256 shared 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3776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Claim Tampering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937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Modify 'role', 'sub', or 'exp' claims if signature not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 Security Policy (CSP)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default-src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Fallback for all resource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script-src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JavaScript execution (most critical)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style-src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CSS stylesheets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img-src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connect-src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XHR, WebSocket, fetch()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frame-src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iframe 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object-src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Plugins (Flash, Java — should be 'none')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9768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base-uri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Base URL restriction (prevent base tag injection)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Best practice: nonce-based CSP ('nonce-{random}') over domain allowlists.</a:t>
            </a:r>
            <a:br/>
            <a:r>
              <a:t>Trusted Types API: enforce DOM XSS prevention at the API level (createPolicy).</a:t>
            </a:r>
            <a:br/>
            <a:r>
              <a:t>CSP bypass: JSONP endpoints on allowed domains, angular.js expression injection, base-uri override.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Browser Security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Same-Origin Policy (SOP)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88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scheme + host + port must match for cross-origin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373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Controlled relaxation of SOP via server headers (Access-Control-*)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Process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Site Isolation: each origin in separate renderer process (Spectre mitigation)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Renderer process has no direct filesystem/network/GPU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Permissions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832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Camera, mic, geolocation, notifications — user opt-in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27432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Certificate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319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All TLS certs logged to public CT logs for auditability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SOP exceptions: &lt;script src&gt;, &lt;img src&gt;, &lt;link&gt; — cross-origin embeds allowed by default.</a:t>
            </a:r>
            <a:br/>
            <a:r>
              <a:t>This is why CSP exists: restrict which origins can serve scripts/styles to your page.</a:t>
            </a:r>
            <a:br/>
            <a:r>
              <a:t>Attacks exploiting SOP gaps: DNS rebinding, CORS misconfiguration, postMessage abuse.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V8 Engine &amp; Chrome Sandbox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V8 JIT Compilation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8288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JS Source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1783080"/>
            <a:ext cx="27432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18288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Parser</a:t>
            </a:r>
            <a:br/>
            <a:r>
              <a:t>→ AST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1783080"/>
            <a:ext cx="27432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554480"/>
            <a:ext cx="18288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Ignition</a:t>
            </a:r>
            <a:br/>
            <a:r>
              <a:t>(Bytecode)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1783080"/>
            <a:ext cx="27432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18288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TurboFan</a:t>
            </a:r>
            <a:br/>
            <a:r>
              <a:t>(Optimized)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35440" y="1783080"/>
            <a:ext cx="27432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554480"/>
            <a:ext cx="18288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Maglev</a:t>
            </a:r>
            <a:br/>
            <a:r>
              <a:t>(Mid-tier)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Chrome Multi-Process Sandbox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175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Renderer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Untrusted. Runs JS/HTML. Seccomp-BPF filtered. No direct syscalls.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204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Broker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20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Mediates all IPC. Validates requests from renderer.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233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Browser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Privileged. File I/O, network, GPU. Minimal attack surface.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26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GPU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526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Sandboxed. Validates all GPU commands. Separate from renderer.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</a:defRPr>
            </a:pPr>
            <a:r>
              <a:t>Exploit chain: JIT type confusion → V8 RCE → sandbox escape (Mojo IPC bug) → browser process code exec.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Network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TCP/IP Protocol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SYN Flood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Exhaust server connection table with half-open connections. Defense: SYN cookies.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RST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Send forged RST to tear down active connections. Used by GFW. Defense: TCP-AO.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Session Hijacking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Predict sequence numbers to inject data. Modern: randomized ISN.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IP 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Forge source IP. UDP easy; TCP requires seq prediction. Defense: BCP38/uRPF.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TCP Reset Attack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Off-path attacker sends RST with guessed seq. BGP sessions vulnerable.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Covert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Data in IP ID, TCP timestamp, TTL fields. Detection: statistical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Modern mitigations: TCP-AO (RFC 5925) replaces MD5 for BGP, randomized ISN (RFC 6528),</a:t>
            </a:r>
            <a:br/>
            <a:r>
              <a:t>SYN cookies (RFC 4987), RPKI for BGP origin validation, strict uRPF (BCP 38/84).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DNS Attack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Cache Poisoning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Forge DNS responses to redirect queries. Kaminsky attack (2008): birthday attack on TXID.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DNS Tunneling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Encode data in DNS queries/responses (iodine, dnscat2). Exfil over UDP/53.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DNS Rebinding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Switch DNS response from external to internal IP. Bypass SOP/firewall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DDoS Amplification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Open resolvers + spoofed source IP. 50-70x amplification factor. Defense: RRL.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Domain Hijacking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Compromise registrar account or DNS provider. BGP + DNS hijack combo.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NXDOMAIN 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118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Flood random subdomains to exhaust recursive resolver cache.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DNSSEC: cryptographic signatures on DNS records. Prevents cache poisoning.</a:t>
            </a:r>
            <a:br/>
            <a:r>
              <a:t>DoH/DoT: encrypt DNS queries (privacy). DNS over HTTPS (:443), DNS over TLS (:853).</a:t>
            </a:r>
            <a:br/>
            <a:r>
              <a:t>ECH (Encrypted Client Hello): hides SNI from network observers. Requires DoH.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TLS 1.3 Handshake (1-RTT)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71600" y="1188720"/>
            <a:ext cx="18288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18288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011680"/>
            <a:ext cx="685800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0" y="18288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</a:defRPr>
            </a:pPr>
            <a:r>
              <a:t>→  ClientHello + key_share (ECDHE)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560320"/>
            <a:ext cx="6858000" cy="0"/>
          </a:xfrm>
          <a:prstGeom prst="line">
            <a:avLst/>
          </a:prstGeom>
          <a:ln w="1905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2377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</a:defRPr>
            </a:pPr>
            <a:r>
              <a:t>←  ServerHello + key_share + EncryptedExtensions + Cert + CertVerify + Finished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3108960"/>
            <a:ext cx="685800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9260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</a:defRPr>
            </a:pPr>
            <a:r>
              <a:t>→  Finished (encrypted)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657600"/>
            <a:ext cx="6858000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3474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</a:defRPr>
            </a:pPr>
            <a:r>
              <a:t>↔  Application Data (encrypted)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TLS 1.3 improvements over TLS 1.2:</a:t>
            </a:r>
            <a:br/>
            <a:r>
              <a:t>▸ 1-RTT handshake (vs 2-RTT). 0-RTT for resumption (replay risk).</a:t>
            </a:r>
            <a:br/>
            <a:r>
              <a:t>▸ Removed: RSA key exchange, CBC, RC4, SHA-1, compression, renegotiation.</a:t>
            </a:r>
            <a:br/>
            <a:r>
              <a:t>▸ Only AEAD ciphers: AES-128-GCM, AES-256-GCM, ChaCha20-Poly1305.</a:t>
            </a:r>
            <a:br/>
            <a:r>
              <a:t>▸ Forward secrecy mandatory (ECDHE/DHE only).</a:t>
            </a:r>
            <a:br/>
            <a:r>
              <a:t>▸ Encrypted certificate (server cert hidden from passive observers).</a:t>
            </a:r>
            <a:br/>
            <a:br/>
            <a:r>
              <a:t>Attacks on TLS: RACCOON (DH timing), Bleichenbacher (RSA PKCS#1 v1.5 — TLS 1.2),</a:t>
            </a:r>
            <a:br/>
            <a:r>
              <a:t>certificate misissuance, CT log monitoring for phishing domains.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BGP Hijacking Attack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Attacker AS</a:t>
            </a:r>
            <a:br/>
            <a:r>
              <a:t>announces prefix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More-specific</a:t>
            </a:r>
            <a:br/>
            <a:r>
              <a:t>route propagates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Internet routes</a:t>
            </a:r>
            <a:br/>
            <a:r>
              <a:t>traffic to attacker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1554480"/>
            <a:ext cx="36576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MitM or</a:t>
            </a:r>
            <a:br/>
            <a:r>
              <a:t>black hole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BGP has no built-in authentication — any AS can announce any prefix.</a:t>
            </a:r>
            <a:br/>
            <a:br/>
            <a:r>
              <a:t>Notable incidents:</a:t>
            </a:r>
            <a:br/>
            <a:r>
              <a:t>▸ Pakistan Telecom → YouTube (2008): /24 more-specific hijacked YouTube's /22</a:t>
            </a:r>
            <a:br/>
            <a:r>
              <a:t>▸ Rostelecom → Mastercard/Visa (2017): financial traffic rerouted</a:t>
            </a:r>
            <a:br/>
            <a:r>
              <a:t>▸ China Telecom → US military prefixes (2018-2019): systematic interception</a:t>
            </a:r>
            <a:br/>
            <a:br/>
            <a:r>
              <a:t>Defense: RPKI (Resource Public Key Infrastructure) — cryptographically signed ROAs.</a:t>
            </a:r>
            <a:br/>
            <a:r>
              <a:t>BGPsec (path validation) — not widely deployed. IRR filtering. MANRS initiative.</a:t>
            </a:r>
            <a:br/>
            <a:r>
              <a:t>Monitoring: RIPE RIS, RouteViews, BGPStream, Cisco BGPMon.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Layer 2 Network Attacks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ARP 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Gratuitous ARP → poison ARP cache → MitM. Defense: DAI + DHCP snooping.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VLAN 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Double tagging (802.1Q) or switch spoofing. Defense: native VLAN ≠ user VLAN.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STP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Send superior BPDUs → become root bridge → intercept traffic. Defense: BPDU Guard.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MAC Flooding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Overflow CAM table → switch becomes hub. Defense: port security, MAC limiting.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DHCP Starvation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Exhaust IP pool with spoofed MACs. Defense: DHCP snooping + rate limiting.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802.1X Bypass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Hub between supplicant and switch. EAP relay. Defense: MACsec (802.1AE).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Wireless Protocol Attack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WPA3-SAE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Dragonblood (CVE-2019-9494): side-channel on SAE handshake. Defense: updated implementations.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KRACK (WPA2)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Key Reinstallation Attack: replay handshake msg 3 → reset nonce → decrypt. Patched.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Evil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Rogue AP with same SSID. Captive portal credential harvesting. Defense: 802.1X, EAP-TLS.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PMKID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Capture PMKID from first EAPOL frame — no client needed. Offline crack.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Deauth 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802.11 management frames unprotected → forge deauth. Defense: MFP (802.11w).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Bluetooth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KNOB: negotiate 1-byte entropy → brute-force. BLURtooth: CTKD cross-transport key derivation.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Network Protocol Vulnerability Severity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SS7 / Diameter Telecom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Location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SendRoutingInfo/PSI → get subscriber's serving cell. Track real-time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SMS Interception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RegisterSS/UpdateLocation → redirect SMS to attacker-controlled MSC.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Call Interception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InsertSubscriberData → set call forwarding to attacker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97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CancelLocation/PurgeMS → detach subscriber from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Fraud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Manipulate charging records. Free calls. Premium-rate fraud.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SS7 designed in 1980s — no authentication between operators. Still used for 2G/3G fallback.</a:t>
            </a:r>
            <a:br/>
            <a:r>
              <a:t>Diameter (4G/LTE): similar attacks via S6a/Cx interfaces. IPX interconnect adds complexity.</a:t>
            </a:r>
            <a:br/>
            <a:br/>
            <a:r>
              <a:t>Defense: SS7 firewall (Category 1-3 filtering per GSMA FS.11/FS.19),</a:t>
            </a:r>
            <a:br/>
            <a:r>
              <a:t>Diameter Edge Agent, SEPP (Security Edge Protection Proxy) for 5G roaming.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Software-Defined Networking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Application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SDN apps (firewall, LB, IDS). Risk: malicious app → full network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Northbound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REST/gRPC. Risk: authentication bypass, API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51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SDN Controller (ONOS, ODL). Single point of failure. Risk: controller compromise.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Southbound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OpenFlow, P4, NETCONF. Risk: flow rule injection, MitM.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Data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Switches/routers. Execute flow rules. Risk: flow table overflow 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SDN centralizes control — compromise controller = compromise entire network.</a:t>
            </a:r>
            <a:br/>
            <a:r>
              <a:t>Defense: controller clustering, TLS on southbound, RBAC on northbound, flow rule validation.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3: Memory corruption → feeds directly into web browser exploitation (V8/JIT bugs)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4: Code reuse attacks → ROP used in browser exploit chains after JIT bug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10: Cloud security → SSRF is the bridge from web vuln to cloud compromise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11: C2/malware → web shells, DNS tunneling for C2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13: Cryptography → TLS attacks, JWT crypto, OAuth token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14: Windows/AD → web apps as initial access vector for enterprise compromise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20: RF/SDR → wireless protocol attacks extend the network security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26: Vuln research → browser fuzzing is one of the highest-value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