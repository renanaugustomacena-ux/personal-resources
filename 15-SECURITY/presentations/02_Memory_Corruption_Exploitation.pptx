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Rectangle 1"/>
          <p:cNvSpPr/>
          <p:nvPr/>
        </p:nvSpPr>
        <p:spPr>
          <a:xfrm>
            <a:off x="914400" y="3108960"/>
            <a:ext cx="7315200" cy="381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8229600" cy="1645920"/>
          </a:xfrm>
          <a:prstGeom prst="rect">
            <a:avLst/>
          </a:prstGeom>
          <a:noFill/>
        </p:spPr>
        <p:txBody>
          <a:bodyPr wrap="square">
            <a:spAutoFit/>
          </a:bodyPr>
          <a:lstStyle/>
          <a:p>
            <a:pPr algn="ctr">
              <a:defRPr sz="3800" b="1">
                <a:solidFill>
                  <a:srgbClr val="FFFFFF"/>
                </a:solidFill>
                <a:latin typeface="Calibri"/>
              </a:defRPr>
            </a:pPr>
            <a:r>
              <a:t>Memory Corruption &amp;</a:t>
            </a:r>
            <a:br/>
            <a:r>
              <a:t>Exploitation Techniques</a:t>
            </a:r>
          </a:p>
        </p:txBody>
      </p:sp>
      <p:sp>
        <p:nvSpPr>
          <p:cNvPr id="4" name="TextBox 3"/>
          <p:cNvSpPr txBox="1"/>
          <p:nvPr/>
        </p:nvSpPr>
        <p:spPr>
          <a:xfrm>
            <a:off x="457200" y="3383280"/>
            <a:ext cx="8229600" cy="914400"/>
          </a:xfrm>
          <a:prstGeom prst="rect">
            <a:avLst/>
          </a:prstGeom>
          <a:noFill/>
        </p:spPr>
        <p:txBody>
          <a:bodyPr wrap="square">
            <a:spAutoFit/>
          </a:bodyPr>
          <a:lstStyle/>
          <a:p>
            <a:pPr algn="ctr">
              <a:defRPr sz="1800" b="0">
                <a:solidFill>
                  <a:srgbClr val="FF4444"/>
                </a:solidFill>
                <a:latin typeface="Calibri"/>
              </a:defRPr>
            </a:pPr>
            <a:r>
              <a:t>Domains 3–5: Stack, Heap, Format Strings, Kernel Exploitation</a:t>
            </a:r>
          </a:p>
        </p:txBody>
      </p:sp>
      <p:sp>
        <p:nvSpPr>
          <p:cNvPr id="5" name="TextBox 4"/>
          <p:cNvSpPr txBox="1"/>
          <p:nvPr/>
        </p:nvSpPr>
        <p:spPr>
          <a:xfrm>
            <a:off x="457200" y="5943600"/>
            <a:ext cx="8229600" cy="457200"/>
          </a:xfrm>
          <a:prstGeom prst="rect">
            <a:avLst/>
          </a:prstGeom>
          <a:noFill/>
        </p:spPr>
        <p:txBody>
          <a:bodyPr wrap="square">
            <a:spAutoFit/>
          </a:bodyPr>
          <a:lstStyle/>
          <a:p>
            <a:pPr algn="ctr">
              <a:defRPr sz="1100" b="0">
                <a:solidFill>
                  <a:srgbClr val="444455"/>
                </a:solidFill>
                <a:latin typeface="Calibri"/>
              </a:defRPr>
            </a:pPr>
            <a:r>
              <a:t>Enterprise Security Reference Library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l">
              <a:defRPr sz="2800" b="1">
                <a:solidFill>
                  <a:srgbClr val="FFFFFF"/>
                </a:solidFill>
                <a:latin typeface="Calibri"/>
              </a:defRPr>
            </a:pPr>
            <a:r>
              <a:t>Agenda</a:t>
            </a:r>
          </a:p>
        </p:txBody>
      </p:sp>
      <p:sp>
        <p:nvSpPr>
          <p:cNvPr id="3" name="Rectangle 2"/>
          <p:cNvSpPr/>
          <p:nvPr/>
        </p:nvSpPr>
        <p:spPr>
          <a:xfrm>
            <a:off x="457200" y="91440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1</a:t>
            </a:r>
          </a:p>
        </p:txBody>
      </p:sp>
      <p:sp>
        <p:nvSpPr>
          <p:cNvPr id="5" name="TextBox 4"/>
          <p:cNvSpPr txBox="1"/>
          <p:nvPr/>
        </p:nvSpPr>
        <p:spPr>
          <a:xfrm>
            <a:off x="1097280" y="1188720"/>
            <a:ext cx="7315200" cy="365760"/>
          </a:xfrm>
          <a:prstGeom prst="rect">
            <a:avLst/>
          </a:prstGeom>
          <a:noFill/>
        </p:spPr>
        <p:txBody>
          <a:bodyPr wrap="square">
            <a:spAutoFit/>
          </a:bodyPr>
          <a:lstStyle/>
          <a:p>
            <a:pPr algn="l">
              <a:defRPr sz="1400" b="0">
                <a:solidFill>
                  <a:srgbClr val="FFFFFF"/>
                </a:solidFill>
                <a:latin typeface="Calibri"/>
              </a:defRPr>
            </a:pPr>
            <a:r>
              <a:t>Stack Buffer Overflow — Anatomy of an Attack</a:t>
            </a:r>
          </a:p>
        </p:txBody>
      </p:sp>
      <p:sp>
        <p:nvSpPr>
          <p:cNvPr id="6" name="Rectangle 5"/>
          <p:cNvSpPr/>
          <p:nvPr/>
        </p:nvSpPr>
        <p:spPr>
          <a:xfrm>
            <a:off x="457200" y="16459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2</a:t>
            </a:r>
          </a:p>
        </p:txBody>
      </p:sp>
      <p:sp>
        <p:nvSpPr>
          <p:cNvPr id="7" name="TextBox 6"/>
          <p:cNvSpPr txBox="1"/>
          <p:nvPr/>
        </p:nvSpPr>
        <p:spPr>
          <a:xfrm>
            <a:off x="1097280" y="1645920"/>
            <a:ext cx="7315200" cy="365760"/>
          </a:xfrm>
          <a:prstGeom prst="rect">
            <a:avLst/>
          </a:prstGeom>
          <a:noFill/>
        </p:spPr>
        <p:txBody>
          <a:bodyPr wrap="square">
            <a:spAutoFit/>
          </a:bodyPr>
          <a:lstStyle/>
          <a:p>
            <a:pPr algn="l">
              <a:defRPr sz="1400" b="0">
                <a:solidFill>
                  <a:srgbClr val="FFFFFF"/>
                </a:solidFill>
                <a:latin typeface="Calibri"/>
              </a:defRPr>
            </a:pPr>
            <a:r>
              <a:t>Format String Vulnerabilities</a:t>
            </a:r>
          </a:p>
        </p:txBody>
      </p:sp>
      <p:sp>
        <p:nvSpPr>
          <p:cNvPr id="8" name="Rectangle 7"/>
          <p:cNvSpPr/>
          <p:nvPr/>
        </p:nvSpPr>
        <p:spPr>
          <a:xfrm>
            <a:off x="457200" y="21031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3</a:t>
            </a:r>
          </a:p>
        </p:txBody>
      </p:sp>
      <p:sp>
        <p:nvSpPr>
          <p:cNvPr id="9" name="TextBox 8"/>
          <p:cNvSpPr txBox="1"/>
          <p:nvPr/>
        </p:nvSpPr>
        <p:spPr>
          <a:xfrm>
            <a:off x="1097280" y="2103120"/>
            <a:ext cx="7315200" cy="365760"/>
          </a:xfrm>
          <a:prstGeom prst="rect">
            <a:avLst/>
          </a:prstGeom>
          <a:noFill/>
        </p:spPr>
        <p:txBody>
          <a:bodyPr wrap="square">
            <a:spAutoFit/>
          </a:bodyPr>
          <a:lstStyle/>
          <a:p>
            <a:pPr algn="l">
              <a:defRPr sz="1400" b="0">
                <a:solidFill>
                  <a:srgbClr val="FFFFFF"/>
                </a:solidFill>
                <a:latin typeface="Calibri"/>
              </a:defRPr>
            </a:pPr>
            <a:r>
              <a:t>Integer Overflow / Underflow</a:t>
            </a:r>
          </a:p>
        </p:txBody>
      </p:sp>
      <p:sp>
        <p:nvSpPr>
          <p:cNvPr id="10" name="Rectangle 9"/>
          <p:cNvSpPr/>
          <p:nvPr/>
        </p:nvSpPr>
        <p:spPr>
          <a:xfrm>
            <a:off x="457200" y="25603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4</a:t>
            </a:r>
          </a:p>
        </p:txBody>
      </p:sp>
      <p:sp>
        <p:nvSpPr>
          <p:cNvPr id="11" name="TextBox 10"/>
          <p:cNvSpPr txBox="1"/>
          <p:nvPr/>
        </p:nvSpPr>
        <p:spPr>
          <a:xfrm>
            <a:off x="1097280" y="2560320"/>
            <a:ext cx="7315200" cy="365760"/>
          </a:xfrm>
          <a:prstGeom prst="rect">
            <a:avLst/>
          </a:prstGeom>
          <a:noFill/>
        </p:spPr>
        <p:txBody>
          <a:bodyPr wrap="square">
            <a:spAutoFit/>
          </a:bodyPr>
          <a:lstStyle/>
          <a:p>
            <a:pPr algn="l">
              <a:defRPr sz="1400" b="0">
                <a:solidFill>
                  <a:srgbClr val="FFFFFF"/>
                </a:solidFill>
                <a:latin typeface="Calibri"/>
              </a:defRPr>
            </a:pPr>
            <a:r>
              <a:t>Heap Internals — glibc malloc / tcache</a:t>
            </a:r>
          </a:p>
        </p:txBody>
      </p:sp>
      <p:sp>
        <p:nvSpPr>
          <p:cNvPr id="12" name="Rectangle 11"/>
          <p:cNvSpPr/>
          <p:nvPr/>
        </p:nvSpPr>
        <p:spPr>
          <a:xfrm>
            <a:off x="457200" y="30175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5</a:t>
            </a:r>
          </a:p>
        </p:txBody>
      </p:sp>
      <p:sp>
        <p:nvSpPr>
          <p:cNvPr id="13" name="TextBox 12"/>
          <p:cNvSpPr txBox="1"/>
          <p:nvPr/>
        </p:nvSpPr>
        <p:spPr>
          <a:xfrm>
            <a:off x="1097280" y="3017520"/>
            <a:ext cx="7315200" cy="365760"/>
          </a:xfrm>
          <a:prstGeom prst="rect">
            <a:avLst/>
          </a:prstGeom>
          <a:noFill/>
        </p:spPr>
        <p:txBody>
          <a:bodyPr wrap="square">
            <a:spAutoFit/>
          </a:bodyPr>
          <a:lstStyle/>
          <a:p>
            <a:pPr algn="l">
              <a:defRPr sz="1400" b="0">
                <a:solidFill>
                  <a:srgbClr val="FFFFFF"/>
                </a:solidFill>
                <a:latin typeface="Calibri"/>
              </a:defRPr>
            </a:pPr>
            <a:r>
              <a:t>Heap Exploitation Techniques</a:t>
            </a:r>
          </a:p>
        </p:txBody>
      </p:sp>
      <p:sp>
        <p:nvSpPr>
          <p:cNvPr id="14" name="Rectangle 13"/>
          <p:cNvSpPr/>
          <p:nvPr/>
        </p:nvSpPr>
        <p:spPr>
          <a:xfrm>
            <a:off x="457200" y="34747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6</a:t>
            </a:r>
          </a:p>
        </p:txBody>
      </p:sp>
      <p:sp>
        <p:nvSpPr>
          <p:cNvPr id="15" name="TextBox 14"/>
          <p:cNvSpPr txBox="1"/>
          <p:nvPr/>
        </p:nvSpPr>
        <p:spPr>
          <a:xfrm>
            <a:off x="1097280" y="3474720"/>
            <a:ext cx="7315200" cy="365760"/>
          </a:xfrm>
          <a:prstGeom prst="rect">
            <a:avLst/>
          </a:prstGeom>
          <a:noFill/>
        </p:spPr>
        <p:txBody>
          <a:bodyPr wrap="square">
            <a:spAutoFit/>
          </a:bodyPr>
          <a:lstStyle/>
          <a:p>
            <a:pPr algn="l">
              <a:defRPr sz="1400" b="0">
                <a:solidFill>
                  <a:srgbClr val="FFFFFF"/>
                </a:solidFill>
                <a:latin typeface="Calibri"/>
              </a:defRPr>
            </a:pPr>
            <a:r>
              <a:t>Use-After-Free Exploitation</a:t>
            </a:r>
          </a:p>
        </p:txBody>
      </p:sp>
      <p:sp>
        <p:nvSpPr>
          <p:cNvPr id="16" name="Rectangle 15"/>
          <p:cNvSpPr/>
          <p:nvPr/>
        </p:nvSpPr>
        <p:spPr>
          <a:xfrm>
            <a:off x="457200" y="39319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7</a:t>
            </a:r>
          </a:p>
        </p:txBody>
      </p:sp>
      <p:sp>
        <p:nvSpPr>
          <p:cNvPr id="17" name="TextBox 16"/>
          <p:cNvSpPr txBox="1"/>
          <p:nvPr/>
        </p:nvSpPr>
        <p:spPr>
          <a:xfrm>
            <a:off x="1097280" y="3931920"/>
            <a:ext cx="7315200" cy="365760"/>
          </a:xfrm>
          <a:prstGeom prst="rect">
            <a:avLst/>
          </a:prstGeom>
          <a:noFill/>
        </p:spPr>
        <p:txBody>
          <a:bodyPr wrap="square">
            <a:spAutoFit/>
          </a:bodyPr>
          <a:lstStyle/>
          <a:p>
            <a:pPr algn="l">
              <a:defRPr sz="1400" b="0">
                <a:solidFill>
                  <a:srgbClr val="FFFFFF"/>
                </a:solidFill>
                <a:latin typeface="Calibri"/>
              </a:defRPr>
            </a:pPr>
            <a:r>
              <a:t>Heap Spray Techniques</a:t>
            </a:r>
          </a:p>
        </p:txBody>
      </p:sp>
      <p:sp>
        <p:nvSpPr>
          <p:cNvPr id="18" name="Rectangle 17"/>
          <p:cNvSpPr/>
          <p:nvPr/>
        </p:nvSpPr>
        <p:spPr>
          <a:xfrm>
            <a:off x="457200" y="43891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8</a:t>
            </a:r>
          </a:p>
        </p:txBody>
      </p:sp>
      <p:sp>
        <p:nvSpPr>
          <p:cNvPr id="19" name="TextBox 18"/>
          <p:cNvSpPr txBox="1"/>
          <p:nvPr/>
        </p:nvSpPr>
        <p:spPr>
          <a:xfrm>
            <a:off x="1097280" y="4389120"/>
            <a:ext cx="7315200" cy="365760"/>
          </a:xfrm>
          <a:prstGeom prst="rect">
            <a:avLst/>
          </a:prstGeom>
          <a:noFill/>
        </p:spPr>
        <p:txBody>
          <a:bodyPr wrap="square">
            <a:spAutoFit/>
          </a:bodyPr>
          <a:lstStyle/>
          <a:p>
            <a:pPr algn="l">
              <a:defRPr sz="1400" b="0">
                <a:solidFill>
                  <a:srgbClr val="FFFFFF"/>
                </a:solidFill>
                <a:latin typeface="Calibri"/>
              </a:defRPr>
            </a:pPr>
            <a:r>
              <a:t>Kernel Exploitation Primitives</a:t>
            </a:r>
          </a:p>
        </p:txBody>
      </p:sp>
      <p:sp>
        <p:nvSpPr>
          <p:cNvPr id="20" name="Rectangle 19"/>
          <p:cNvSpPr/>
          <p:nvPr/>
        </p:nvSpPr>
        <p:spPr>
          <a:xfrm>
            <a:off x="457200" y="48463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9</a:t>
            </a:r>
          </a:p>
        </p:txBody>
      </p:sp>
      <p:sp>
        <p:nvSpPr>
          <p:cNvPr id="21" name="TextBox 20"/>
          <p:cNvSpPr txBox="1"/>
          <p:nvPr/>
        </p:nvSpPr>
        <p:spPr>
          <a:xfrm>
            <a:off x="1097280" y="4846320"/>
            <a:ext cx="7315200" cy="365760"/>
          </a:xfrm>
          <a:prstGeom prst="rect">
            <a:avLst/>
          </a:prstGeom>
          <a:noFill/>
        </p:spPr>
        <p:txBody>
          <a:bodyPr wrap="square">
            <a:spAutoFit/>
          </a:bodyPr>
          <a:lstStyle/>
          <a:p>
            <a:pPr algn="l">
              <a:defRPr sz="1400" b="0">
                <a:solidFill>
                  <a:srgbClr val="FFFFFF"/>
                </a:solidFill>
                <a:latin typeface="Calibri"/>
              </a:defRPr>
            </a:pPr>
            <a:r>
              <a:t>SLUB Allocator Internals</a:t>
            </a:r>
          </a:p>
        </p:txBody>
      </p:sp>
      <p:sp>
        <p:nvSpPr>
          <p:cNvPr id="22" name="Rectangle 21"/>
          <p:cNvSpPr/>
          <p:nvPr/>
        </p:nvSpPr>
        <p:spPr>
          <a:xfrm>
            <a:off x="457200" y="53035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10</a:t>
            </a:r>
          </a:p>
        </p:txBody>
      </p:sp>
      <p:sp>
        <p:nvSpPr>
          <p:cNvPr id="23" name="TextBox 22"/>
          <p:cNvSpPr txBox="1"/>
          <p:nvPr/>
        </p:nvSpPr>
        <p:spPr>
          <a:xfrm>
            <a:off x="1097280" y="5303520"/>
            <a:ext cx="7315200" cy="365760"/>
          </a:xfrm>
          <a:prstGeom prst="rect">
            <a:avLst/>
          </a:prstGeom>
          <a:noFill/>
        </p:spPr>
        <p:txBody>
          <a:bodyPr wrap="square">
            <a:spAutoFit/>
          </a:bodyPr>
          <a:lstStyle/>
          <a:p>
            <a:pPr algn="l">
              <a:defRPr sz="1400" b="0">
                <a:solidFill>
                  <a:srgbClr val="FFFFFF"/>
                </a:solidFill>
                <a:latin typeface="Calibri"/>
              </a:defRPr>
            </a:pPr>
            <a:r>
              <a:t>Cross-Cache Attacks &amp; Elastic Objects</a:t>
            </a:r>
          </a:p>
        </p:txBody>
      </p:sp>
      <p:sp>
        <p:nvSpPr>
          <p:cNvPr id="24" name="Rectangle 23"/>
          <p:cNvSpPr/>
          <p:nvPr/>
        </p:nvSpPr>
        <p:spPr>
          <a:xfrm>
            <a:off x="457200" y="57607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11</a:t>
            </a:r>
          </a:p>
        </p:txBody>
      </p:sp>
      <p:sp>
        <p:nvSpPr>
          <p:cNvPr id="25" name="TextBox 24"/>
          <p:cNvSpPr txBox="1"/>
          <p:nvPr/>
        </p:nvSpPr>
        <p:spPr>
          <a:xfrm>
            <a:off x="1097280" y="5760720"/>
            <a:ext cx="7315200" cy="365760"/>
          </a:xfrm>
          <a:prstGeom prst="rect">
            <a:avLst/>
          </a:prstGeom>
          <a:noFill/>
        </p:spPr>
        <p:txBody>
          <a:bodyPr wrap="square">
            <a:spAutoFit/>
          </a:bodyPr>
          <a:lstStyle/>
          <a:p>
            <a:pPr algn="l">
              <a:defRPr sz="1400" b="0">
                <a:solidFill>
                  <a:srgbClr val="FFFFFF"/>
                </a:solidFill>
                <a:latin typeface="Calibri"/>
              </a:defRPr>
            </a:pPr>
            <a:r>
              <a:t>Kernel Attack Surface Analysis</a:t>
            </a:r>
          </a:p>
        </p:txBody>
      </p:sp>
      <p:sp>
        <p:nvSpPr>
          <p:cNvPr id="26" name="Rectangle 25"/>
          <p:cNvSpPr/>
          <p:nvPr/>
        </p:nvSpPr>
        <p:spPr>
          <a:xfrm>
            <a:off x="457200" y="6217920"/>
            <a:ext cx="457200" cy="36576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12</a:t>
            </a:r>
          </a:p>
        </p:txBody>
      </p:sp>
      <p:sp>
        <p:nvSpPr>
          <p:cNvPr id="27" name="TextBox 26"/>
          <p:cNvSpPr txBox="1"/>
          <p:nvPr/>
        </p:nvSpPr>
        <p:spPr>
          <a:xfrm>
            <a:off x="1097280" y="6217920"/>
            <a:ext cx="7315200" cy="365760"/>
          </a:xfrm>
          <a:prstGeom prst="rect">
            <a:avLst/>
          </a:prstGeom>
          <a:noFill/>
        </p:spPr>
        <p:txBody>
          <a:bodyPr wrap="square">
            <a:spAutoFit/>
          </a:bodyPr>
          <a:lstStyle/>
          <a:p>
            <a:pPr algn="l">
              <a:defRPr sz="1400" b="0">
                <a:solidFill>
                  <a:srgbClr val="FFFFFF"/>
                </a:solidFill>
                <a:latin typeface="Calibri"/>
              </a:defRPr>
            </a:pPr>
            <a:r>
              <a:t>Defense &amp; Mitigations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Stack Buffer Overflow — Attack Anatomy</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3200400" cy="274320"/>
          </a:xfrm>
          <a:prstGeom prst="rect">
            <a:avLst/>
          </a:prstGeom>
          <a:noFill/>
        </p:spPr>
        <p:txBody>
          <a:bodyPr wrap="square">
            <a:spAutoFit/>
          </a:bodyPr>
          <a:lstStyle/>
          <a:p>
            <a:pPr algn="ctr">
              <a:defRPr sz="1400" b="1">
                <a:solidFill>
                  <a:srgbClr val="00FF88"/>
                </a:solidFill>
                <a:latin typeface="Calibri"/>
              </a:defRPr>
            </a:pPr>
            <a:r>
              <a:t>Normal Stack Frame</a:t>
            </a:r>
          </a:p>
        </p:txBody>
      </p:sp>
      <p:sp>
        <p:nvSpPr>
          <p:cNvPr id="5" name="Rectangle 4"/>
          <p:cNvSpPr/>
          <p:nvPr/>
        </p:nvSpPr>
        <p:spPr>
          <a:xfrm>
            <a:off x="731520" y="1371600"/>
            <a:ext cx="3200400" cy="384048"/>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00FF88"/>
                </a:solidFill>
              </a:defRPr>
            </a:pPr>
            <a:r>
              <a:t>Return Address (RIP)</a:t>
            </a:r>
          </a:p>
        </p:txBody>
      </p:sp>
      <p:sp>
        <p:nvSpPr>
          <p:cNvPr id="6" name="Rectangle 5"/>
          <p:cNvSpPr/>
          <p:nvPr/>
        </p:nvSpPr>
        <p:spPr>
          <a:xfrm>
            <a:off x="731520" y="1810512"/>
            <a:ext cx="3200400" cy="384048"/>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00FF88"/>
                </a:solidFill>
              </a:defRPr>
            </a:pPr>
            <a:r>
              <a:t>Saved RBP</a:t>
            </a:r>
          </a:p>
        </p:txBody>
      </p:sp>
      <p:sp>
        <p:nvSpPr>
          <p:cNvPr id="7" name="Rectangle 6"/>
          <p:cNvSpPr/>
          <p:nvPr/>
        </p:nvSpPr>
        <p:spPr>
          <a:xfrm>
            <a:off x="731520" y="2249424"/>
            <a:ext cx="3200400" cy="384048"/>
          </a:xfrm>
          <a:prstGeom prst="rect">
            <a:avLst/>
          </a:prstGeom>
          <a:solidFill>
            <a:srgbClr val="1E1E3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D700"/>
                </a:solidFill>
              </a:defRPr>
            </a:pPr>
            <a:r>
              <a:t>Stack Canary</a:t>
            </a:r>
          </a:p>
        </p:txBody>
      </p:sp>
      <p:sp>
        <p:nvSpPr>
          <p:cNvPr id="8" name="Rectangle 7"/>
          <p:cNvSpPr/>
          <p:nvPr/>
        </p:nvSpPr>
        <p:spPr>
          <a:xfrm>
            <a:off x="731520" y="2688336"/>
            <a:ext cx="3200400" cy="384048"/>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00D4FF"/>
                </a:solidFill>
              </a:defRPr>
            </a:pPr>
            <a:r>
              <a:t>local_var_2</a:t>
            </a:r>
          </a:p>
        </p:txBody>
      </p:sp>
      <p:sp>
        <p:nvSpPr>
          <p:cNvPr id="9" name="Rectangle 8"/>
          <p:cNvSpPr/>
          <p:nvPr/>
        </p:nvSpPr>
        <p:spPr>
          <a:xfrm>
            <a:off x="731520" y="3127248"/>
            <a:ext cx="3200400" cy="384048"/>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00D4FF"/>
                </a:solidFill>
              </a:defRPr>
            </a:pPr>
            <a:r>
              <a:t>local_var_1</a:t>
            </a:r>
          </a:p>
        </p:txBody>
      </p:sp>
      <p:sp>
        <p:nvSpPr>
          <p:cNvPr id="10" name="Rectangle 9"/>
          <p:cNvSpPr/>
          <p:nvPr/>
        </p:nvSpPr>
        <p:spPr>
          <a:xfrm>
            <a:off x="731520" y="3566160"/>
            <a:ext cx="3200400" cy="384048"/>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00D4FF"/>
                </a:solidFill>
              </a:defRPr>
            </a:pPr>
            <a:r>
              <a:t>char buf[64]</a:t>
            </a:r>
          </a:p>
        </p:txBody>
      </p:sp>
      <p:sp>
        <p:nvSpPr>
          <p:cNvPr id="11" name="TextBox 10"/>
          <p:cNvSpPr txBox="1"/>
          <p:nvPr/>
        </p:nvSpPr>
        <p:spPr>
          <a:xfrm>
            <a:off x="274320" y="1371600"/>
            <a:ext cx="457200" cy="2743200"/>
          </a:xfrm>
          <a:prstGeom prst="rect">
            <a:avLst/>
          </a:prstGeom>
          <a:noFill/>
        </p:spPr>
        <p:txBody>
          <a:bodyPr wrap="square">
            <a:spAutoFit/>
          </a:bodyPr>
          <a:lstStyle/>
          <a:p>
            <a:pPr algn="ctr">
              <a:defRPr sz="800" b="0">
                <a:solidFill>
                  <a:srgbClr val="444455"/>
                </a:solidFill>
                <a:latin typeface="Calibri"/>
              </a:defRPr>
            </a:pPr>
            <a:r>
              <a:t>High</a:t>
            </a:r>
            <a:br/>
            <a:r>
              <a:t>Addr</a:t>
            </a:r>
            <a:br/>
            <a:br/>
            <a:br/>
            <a:br/>
            <a:br/>
            <a:br/>
            <a:br/>
            <a:r>
              <a:t>Low</a:t>
            </a:r>
            <a:br/>
            <a:r>
              <a:t>Addr</a:t>
            </a:r>
          </a:p>
        </p:txBody>
      </p:sp>
      <p:sp>
        <p:nvSpPr>
          <p:cNvPr id="12" name="TextBox 11"/>
          <p:cNvSpPr txBox="1"/>
          <p:nvPr/>
        </p:nvSpPr>
        <p:spPr>
          <a:xfrm>
            <a:off x="5029200" y="1005840"/>
            <a:ext cx="3200400" cy="274320"/>
          </a:xfrm>
          <a:prstGeom prst="rect">
            <a:avLst/>
          </a:prstGeom>
          <a:noFill/>
        </p:spPr>
        <p:txBody>
          <a:bodyPr wrap="square">
            <a:spAutoFit/>
          </a:bodyPr>
          <a:lstStyle/>
          <a:p>
            <a:pPr algn="ctr">
              <a:defRPr sz="1400" b="1">
                <a:solidFill>
                  <a:srgbClr val="FF4444"/>
                </a:solidFill>
                <a:latin typeface="Calibri"/>
              </a:defRPr>
            </a:pPr>
            <a:r>
              <a:t>After Overflow</a:t>
            </a:r>
          </a:p>
        </p:txBody>
      </p:sp>
      <p:sp>
        <p:nvSpPr>
          <p:cNvPr id="13" name="Rectangle 12"/>
          <p:cNvSpPr/>
          <p:nvPr/>
        </p:nvSpPr>
        <p:spPr>
          <a:xfrm>
            <a:off x="5029200" y="1371600"/>
            <a:ext cx="3200400" cy="384048"/>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4444"/>
                </a:solidFill>
              </a:defRPr>
            </a:pPr>
            <a:r>
              <a:t>0xdeadbeef (hijacked RIP)</a:t>
            </a:r>
          </a:p>
        </p:txBody>
      </p:sp>
      <p:sp>
        <p:nvSpPr>
          <p:cNvPr id="14" name="Rectangle 13"/>
          <p:cNvSpPr/>
          <p:nvPr/>
        </p:nvSpPr>
        <p:spPr>
          <a:xfrm>
            <a:off x="5029200" y="1810512"/>
            <a:ext cx="3200400" cy="384048"/>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4444"/>
                </a:solidFill>
              </a:defRPr>
            </a:pPr>
            <a:r>
              <a:t>AAAA AAAA (overwritten RBP)</a:t>
            </a:r>
          </a:p>
        </p:txBody>
      </p:sp>
      <p:sp>
        <p:nvSpPr>
          <p:cNvPr id="15" name="Rectangle 14"/>
          <p:cNvSpPr/>
          <p:nvPr/>
        </p:nvSpPr>
        <p:spPr>
          <a:xfrm>
            <a:off x="5029200" y="2249424"/>
            <a:ext cx="3200400" cy="384048"/>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4444"/>
                </a:solidFill>
              </a:defRPr>
            </a:pPr>
            <a:r>
              <a:t>AAAA AAAA (smashed canary)</a:t>
            </a:r>
          </a:p>
        </p:txBody>
      </p:sp>
      <p:sp>
        <p:nvSpPr>
          <p:cNvPr id="16" name="Rectangle 15"/>
          <p:cNvSpPr/>
          <p:nvPr/>
        </p:nvSpPr>
        <p:spPr>
          <a:xfrm>
            <a:off x="5029200" y="2688336"/>
            <a:ext cx="3200400" cy="384048"/>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4444"/>
                </a:solidFill>
              </a:defRPr>
            </a:pPr>
            <a:r>
              <a:t>AAAA AAAA (overwritten)</a:t>
            </a:r>
          </a:p>
        </p:txBody>
      </p:sp>
      <p:sp>
        <p:nvSpPr>
          <p:cNvPr id="17" name="Rectangle 16"/>
          <p:cNvSpPr/>
          <p:nvPr/>
        </p:nvSpPr>
        <p:spPr>
          <a:xfrm>
            <a:off x="5029200" y="3127248"/>
            <a:ext cx="3200400" cy="384048"/>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4444"/>
                </a:solidFill>
              </a:defRPr>
            </a:pPr>
            <a:r>
              <a:t>AAAA AAAA (overwritten)</a:t>
            </a:r>
          </a:p>
        </p:txBody>
      </p:sp>
      <p:sp>
        <p:nvSpPr>
          <p:cNvPr id="18" name="Rectangle 17"/>
          <p:cNvSpPr/>
          <p:nvPr/>
        </p:nvSpPr>
        <p:spPr>
          <a:xfrm>
            <a:off x="5029200" y="3566160"/>
            <a:ext cx="3200400" cy="384048"/>
          </a:xfrm>
          <a:prstGeom prst="rect">
            <a:avLst/>
          </a:prstGeom>
          <a:solidFill>
            <a:srgbClr val="3A0A0A"/>
          </a:solidFill>
          <a:ln w="1905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9F43"/>
                </a:solidFill>
              </a:defRPr>
            </a:pPr>
            <a:r>
              <a:t>AAAA... user input overflow ↑</a:t>
            </a:r>
          </a:p>
        </p:txBody>
      </p:sp>
      <p:sp>
        <p:nvSpPr>
          <p:cNvPr id="19" name="Right Arrow 18"/>
          <p:cNvSpPr/>
          <p:nvPr/>
        </p:nvSpPr>
        <p:spPr>
          <a:xfrm>
            <a:off x="4114800" y="2286000"/>
            <a:ext cx="731520" cy="27432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572000"/>
            <a:ext cx="8229600" cy="1828800"/>
          </a:xfrm>
          <a:prstGeom prst="rect">
            <a:avLst/>
          </a:prstGeom>
          <a:noFill/>
        </p:spPr>
        <p:txBody>
          <a:bodyPr wrap="square">
            <a:spAutoFit/>
          </a:bodyPr>
          <a:lstStyle/>
          <a:p>
            <a:pPr algn="l">
              <a:defRPr sz="1200" b="0">
                <a:solidFill>
                  <a:srgbClr val="BBBBBB"/>
                </a:solidFill>
                <a:latin typeface="Calibri"/>
              </a:defRPr>
            </a:pPr>
            <a:r>
              <a:t>Attack: user input exceeds buf[64] boundary → overwrites canary, saved RBP, and return address. Attacker controls RIP upon function return.</a:t>
            </a:r>
            <a:br/>
            <a:br/>
            <a:r>
              <a:t>Defenses: Stack canaries (detect overwrite before return), NX/DEP (prevent shellcode execution on stack), ASLR (randomize stack address), SafeStack (separate unsafe stack), Shadow Stack (CET — hardware return address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Format String Vulnerability Exploitation</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2286000" cy="6400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D4FF"/>
                </a:solidFill>
              </a:defRPr>
            </a:pPr>
            <a:r>
              <a:t>printf(user_input)</a:t>
            </a:r>
            <a:br/>
            <a:r>
              <a:t>(no format string)</a:t>
            </a:r>
          </a:p>
        </p:txBody>
      </p:sp>
      <p:sp>
        <p:nvSpPr>
          <p:cNvPr id="5" name="Right Arrow 4"/>
          <p:cNvSpPr/>
          <p:nvPr/>
        </p:nvSpPr>
        <p:spPr>
          <a:xfrm>
            <a:off x="2834640" y="1554480"/>
            <a:ext cx="365760" cy="27432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91840" y="1188720"/>
            <a:ext cx="2743200" cy="1005840"/>
          </a:xfrm>
          <a:prstGeom prst="rect">
            <a:avLst/>
          </a:prstGeom>
          <a:solidFill>
            <a:srgbClr val="1E1E3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D700"/>
                </a:solidFill>
              </a:defRPr>
            </a:pPr>
            <a:r>
              <a:t>Attacker sends:</a:t>
            </a:r>
            <a:br/>
            <a:r>
              <a:t>%x %x %x %x — leak stack</a:t>
            </a:r>
            <a:br/>
            <a:r>
              <a:t>%s — read memory</a:t>
            </a:r>
            <a:br/>
            <a:r>
              <a:t>%n — WRITE to memory</a:t>
            </a:r>
          </a:p>
        </p:txBody>
      </p:sp>
      <p:sp>
        <p:nvSpPr>
          <p:cNvPr id="7" name="Right Arrow 6"/>
          <p:cNvSpPr/>
          <p:nvPr/>
        </p:nvSpPr>
        <p:spPr>
          <a:xfrm>
            <a:off x="6126480" y="1554480"/>
            <a:ext cx="365760" cy="27432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0" y="1371600"/>
            <a:ext cx="2286000" cy="64008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Arbitrary R/W</a:t>
            </a:r>
            <a:br/>
            <a:r>
              <a:t>Primitive!</a:t>
            </a:r>
          </a:p>
        </p:txBody>
      </p:sp>
      <p:sp>
        <p:nvSpPr>
          <p:cNvPr id="9" name="TextBox 8"/>
          <p:cNvSpPr txBox="1"/>
          <p:nvPr/>
        </p:nvSpPr>
        <p:spPr>
          <a:xfrm>
            <a:off x="457200" y="2743200"/>
            <a:ext cx="8229600" cy="3657600"/>
          </a:xfrm>
          <a:prstGeom prst="rect">
            <a:avLst/>
          </a:prstGeom>
          <a:noFill/>
        </p:spPr>
        <p:txBody>
          <a:bodyPr wrap="square">
            <a:spAutoFit/>
          </a:bodyPr>
          <a:lstStyle/>
          <a:p>
            <a:pPr algn="l">
              <a:defRPr sz="1100" b="0">
                <a:solidFill>
                  <a:srgbClr val="BBBBBB"/>
                </a:solidFill>
                <a:latin typeface="Calibri"/>
              </a:defRPr>
            </a:pPr>
            <a:r>
              <a:t>Exploitation primitives:</a:t>
            </a:r>
            <a:br/>
            <a:br/>
            <a:r>
              <a:t>%p / %x — leak stack values (pointers, canaries, return addresses)</a:t>
            </a:r>
            <a:br/>
            <a:r>
              <a:t>%s — dereference pointer on stack and print as string (arbitrary read)</a:t>
            </a:r>
            <a:br/>
            <a:r>
              <a:t>%n — write number of bytes printed so far to address on stack (arbitrary write)</a:t>
            </a:r>
            <a:br/>
            <a:r>
              <a:t>%&lt;offset&gt;$n — direct parameter access for precise targeting</a:t>
            </a:r>
            <a:br/>
            <a:br/>
            <a:r>
              <a:t>Classic attack chain:</a:t>
            </a:r>
            <a:br/>
            <a:r>
              <a:t>1. Leak stack canary with %&lt;offset&gt;$p</a:t>
            </a:r>
            <a:br/>
            <a:r>
              <a:t>2. Leak libc base address (defeat ASLR) from stack return addresses</a:t>
            </a:r>
            <a:br/>
            <a:r>
              <a:t>3. Overwrite GOT entry or return address with %n (write system() address)</a:t>
            </a:r>
            <a:br/>
            <a:r>
              <a:t>4. Trigger control flow hijack on next function call</a:t>
            </a:r>
            <a:br/>
            <a:br/>
            <a:r>
              <a:t>Modern mitigations: FORTIFY_SOURCE replaces printf with __printf_chk (rejects %n when format string is in writable memory). gcc -Wformat -Werror catches at compile time. Still found in embedded systems, legacy code, and C++ iostream misuse.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Integer Overflow / Underflow</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457200" y="1097280"/>
            <a:ext cx="8229600" cy="3474720"/>
          </a:xfrm>
          <a:prstGeom prst="rect">
            <a:avLst/>
          </a:prstGeom>
        </p:spPr>
      </p:pic>
      <p:sp>
        <p:nvSpPr>
          <p:cNvPr id="5" name="TextBox 4"/>
          <p:cNvSpPr txBox="1"/>
          <p:nvPr/>
        </p:nvSpPr>
        <p:spPr>
          <a:xfrm>
            <a:off x="457200" y="4846320"/>
            <a:ext cx="8229600" cy="1645920"/>
          </a:xfrm>
          <a:prstGeom prst="rect">
            <a:avLst/>
          </a:prstGeom>
          <a:noFill/>
        </p:spPr>
        <p:txBody>
          <a:bodyPr wrap="square">
            <a:spAutoFit/>
          </a:bodyPr>
          <a:lstStyle/>
          <a:p>
            <a:pPr algn="l">
              <a:defRPr sz="1100" b="0">
                <a:solidFill>
                  <a:srgbClr val="BBBBBB"/>
                </a:solidFill>
                <a:latin typeface="Calibri"/>
              </a:defRPr>
            </a:pPr>
            <a:r>
              <a:t>Security impact: size_t overflow → undersized allocation → heap overflow. Signed/unsigned comparison → negative size passes check, wraps to huge value. CVE-2021-22555 (Netfilter): integer underflow → heap OOB write → privilege escalation. Defense: -ftrapv (trap on signed overflow), UBSan, safe integer arithmetic wrappers.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glibc Heap — malloc_chunk Structure</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05840"/>
            <a:ext cx="3657600" cy="274320"/>
          </a:xfrm>
          <a:prstGeom prst="rect">
            <a:avLst/>
          </a:prstGeom>
          <a:noFill/>
        </p:spPr>
        <p:txBody>
          <a:bodyPr wrap="square">
            <a:spAutoFit/>
          </a:bodyPr>
          <a:lstStyle/>
          <a:p>
            <a:pPr algn="ctr">
              <a:defRPr sz="1400" b="1">
                <a:solidFill>
                  <a:srgbClr val="00D4FF"/>
                </a:solidFill>
                <a:latin typeface="Calibri"/>
              </a:defRPr>
            </a:pPr>
            <a:r>
              <a:t>Allocated Chunk</a:t>
            </a:r>
          </a:p>
        </p:txBody>
      </p:sp>
      <p:sp>
        <p:nvSpPr>
          <p:cNvPr id="5" name="Rectangle 4"/>
          <p:cNvSpPr/>
          <p:nvPr/>
        </p:nvSpPr>
        <p:spPr>
          <a:xfrm>
            <a:off x="457200" y="1371600"/>
            <a:ext cx="3657600" cy="384048"/>
          </a:xfrm>
          <a:prstGeom prst="rect">
            <a:avLst/>
          </a:prstGeom>
          <a:solidFill>
            <a:srgbClr val="1E1E38"/>
          </a:solidFill>
          <a:ln w="19050">
            <a:solidFill>
              <a:srgbClr val="4444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444455"/>
                </a:solidFill>
              </a:defRPr>
            </a:pPr>
            <a:r>
              <a:t>prev_size (if prev free) | user data</a:t>
            </a:r>
          </a:p>
        </p:txBody>
      </p:sp>
      <p:sp>
        <p:nvSpPr>
          <p:cNvPr id="6" name="Rectangle 5"/>
          <p:cNvSpPr/>
          <p:nvPr/>
        </p:nvSpPr>
        <p:spPr>
          <a:xfrm>
            <a:off x="457200" y="1810512"/>
            <a:ext cx="3657600" cy="384048"/>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D4FF"/>
                </a:solidFill>
              </a:defRPr>
            </a:pPr>
            <a:r>
              <a:t>size | A M P flags (3 LSBs)</a:t>
            </a:r>
          </a:p>
        </p:txBody>
      </p:sp>
      <p:sp>
        <p:nvSpPr>
          <p:cNvPr id="7" name="Rectangle 6"/>
          <p:cNvSpPr/>
          <p:nvPr/>
        </p:nvSpPr>
        <p:spPr>
          <a:xfrm>
            <a:off x="457200" y="2249424"/>
            <a:ext cx="3657600" cy="384048"/>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FF88"/>
                </a:solidFill>
              </a:defRPr>
            </a:pPr>
            <a:r>
              <a:t>User Data</a:t>
            </a:r>
          </a:p>
        </p:txBody>
      </p:sp>
      <p:sp>
        <p:nvSpPr>
          <p:cNvPr id="8" name="Rectangle 7"/>
          <p:cNvSpPr/>
          <p:nvPr/>
        </p:nvSpPr>
        <p:spPr>
          <a:xfrm>
            <a:off x="457200" y="2688336"/>
            <a:ext cx="3657600" cy="384048"/>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FF88"/>
                </a:solidFill>
              </a:defRPr>
            </a:pPr>
            <a:r>
              <a:t>... (user data continues)</a:t>
            </a:r>
          </a:p>
        </p:txBody>
      </p:sp>
      <p:sp>
        <p:nvSpPr>
          <p:cNvPr id="9" name="Rectangle 8"/>
          <p:cNvSpPr/>
          <p:nvPr/>
        </p:nvSpPr>
        <p:spPr>
          <a:xfrm>
            <a:off x="457200" y="3127248"/>
            <a:ext cx="3657600" cy="384048"/>
          </a:xfrm>
          <a:prstGeom prst="rect">
            <a:avLst/>
          </a:prstGeom>
          <a:solidFill>
            <a:srgbClr val="1E1E38"/>
          </a:solidFill>
          <a:ln w="19050">
            <a:solidFill>
              <a:srgbClr val="4444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444455"/>
                </a:solidFill>
              </a:defRPr>
            </a:pPr>
            <a:r>
              <a:t>(next chunk's prev_size reused)</a:t>
            </a:r>
          </a:p>
        </p:txBody>
      </p:sp>
      <p:sp>
        <p:nvSpPr>
          <p:cNvPr id="10" name="TextBox 9"/>
          <p:cNvSpPr txBox="1"/>
          <p:nvPr/>
        </p:nvSpPr>
        <p:spPr>
          <a:xfrm>
            <a:off x="5029200" y="1005840"/>
            <a:ext cx="3657600" cy="274320"/>
          </a:xfrm>
          <a:prstGeom prst="rect">
            <a:avLst/>
          </a:prstGeom>
          <a:noFill/>
        </p:spPr>
        <p:txBody>
          <a:bodyPr wrap="square">
            <a:spAutoFit/>
          </a:bodyPr>
          <a:lstStyle/>
          <a:p>
            <a:pPr algn="ctr">
              <a:defRPr sz="1400" b="1">
                <a:solidFill>
                  <a:srgbClr val="FF4444"/>
                </a:solidFill>
                <a:latin typeface="Calibri"/>
              </a:defRPr>
            </a:pPr>
            <a:r>
              <a:t>Freed Chunk</a:t>
            </a:r>
          </a:p>
        </p:txBody>
      </p:sp>
      <p:sp>
        <p:nvSpPr>
          <p:cNvPr id="11" name="Rectangle 10"/>
          <p:cNvSpPr/>
          <p:nvPr/>
        </p:nvSpPr>
        <p:spPr>
          <a:xfrm>
            <a:off x="5029200" y="1371600"/>
            <a:ext cx="3657600" cy="384048"/>
          </a:xfrm>
          <a:prstGeom prst="rect">
            <a:avLst/>
          </a:prstGeom>
          <a:solidFill>
            <a:srgbClr val="1E1E38"/>
          </a:solidFill>
          <a:ln w="19050">
            <a:solidFill>
              <a:srgbClr val="4444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444455"/>
                </a:solidFill>
              </a:defRPr>
            </a:pPr>
            <a:r>
              <a:t>prev_size</a:t>
            </a:r>
          </a:p>
        </p:txBody>
      </p:sp>
      <p:sp>
        <p:nvSpPr>
          <p:cNvPr id="12" name="Rectangle 11"/>
          <p:cNvSpPr/>
          <p:nvPr/>
        </p:nvSpPr>
        <p:spPr>
          <a:xfrm>
            <a:off x="5029200" y="1810512"/>
            <a:ext cx="3657600" cy="384048"/>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00D4FF"/>
                </a:solidFill>
              </a:defRPr>
            </a:pPr>
            <a:r>
              <a:t>size | A M P flags</a:t>
            </a:r>
          </a:p>
        </p:txBody>
      </p:sp>
      <p:sp>
        <p:nvSpPr>
          <p:cNvPr id="13" name="Rectangle 12"/>
          <p:cNvSpPr/>
          <p:nvPr/>
        </p:nvSpPr>
        <p:spPr>
          <a:xfrm>
            <a:off x="5029200" y="2249424"/>
            <a:ext cx="3657600" cy="384048"/>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4444"/>
                </a:solidFill>
              </a:defRPr>
            </a:pPr>
            <a:r>
              <a:t>fd → (next free chunk)</a:t>
            </a:r>
          </a:p>
        </p:txBody>
      </p:sp>
      <p:sp>
        <p:nvSpPr>
          <p:cNvPr id="14" name="Rectangle 13"/>
          <p:cNvSpPr/>
          <p:nvPr/>
        </p:nvSpPr>
        <p:spPr>
          <a:xfrm>
            <a:off x="5029200" y="2688336"/>
            <a:ext cx="3657600" cy="384048"/>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4444"/>
                </a:solidFill>
              </a:defRPr>
            </a:pPr>
            <a:r>
              <a:t>bk ← (prev free chunk)</a:t>
            </a:r>
          </a:p>
        </p:txBody>
      </p:sp>
      <p:sp>
        <p:nvSpPr>
          <p:cNvPr id="15" name="Rectangle 14"/>
          <p:cNvSpPr/>
          <p:nvPr/>
        </p:nvSpPr>
        <p:spPr>
          <a:xfrm>
            <a:off x="5029200" y="3127248"/>
            <a:ext cx="3657600" cy="384048"/>
          </a:xfrm>
          <a:prstGeom prst="rect">
            <a:avLst/>
          </a:prstGeom>
          <a:solidFill>
            <a:srgbClr val="1E1E38"/>
          </a:solidFill>
          <a:ln w="1905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9F43"/>
                </a:solidFill>
              </a:defRPr>
            </a:pPr>
            <a:r>
              <a:t>fd_nextsize / bk_nextsize (large)</a:t>
            </a:r>
          </a:p>
        </p:txBody>
      </p:sp>
      <p:sp>
        <p:nvSpPr>
          <p:cNvPr id="16" name="TextBox 15"/>
          <p:cNvSpPr txBox="1"/>
          <p:nvPr/>
        </p:nvSpPr>
        <p:spPr>
          <a:xfrm>
            <a:off x="457200" y="3840480"/>
            <a:ext cx="8229600" cy="2560320"/>
          </a:xfrm>
          <a:prstGeom prst="rect">
            <a:avLst/>
          </a:prstGeom>
          <a:noFill/>
        </p:spPr>
        <p:txBody>
          <a:bodyPr wrap="square">
            <a:spAutoFit/>
          </a:bodyPr>
          <a:lstStyle/>
          <a:p>
            <a:pPr algn="l">
              <a:defRPr sz="1100" b="0">
                <a:solidFill>
                  <a:srgbClr val="BBBBBB"/>
                </a:solidFill>
                <a:latin typeface="Calibri"/>
              </a:defRPr>
            </a:pPr>
            <a:r>
              <a:t>Size flags (3 least significant bits):</a:t>
            </a:r>
            <a:br/>
            <a:r>
              <a:t>  P (PREV_INUSE) — previous chunk is allocated (0 = free → prev_size valid)</a:t>
            </a:r>
            <a:br/>
            <a:r>
              <a:t>  M (IS_MMAPPED) — chunk obtained via mmap, not sbrk</a:t>
            </a:r>
            <a:br/>
            <a:r>
              <a:t>  A (NON_MAIN_ARENA) — chunk belongs to a thread arena</a:t>
            </a:r>
            <a:br/>
            <a:br/>
            <a:r>
              <a:t>Bin organization: tcache (per-thread, LIFO, 7 entries/size), fastbins (LIFO, no coalescing), unsorted bin (recently freed), small bins (exact size), large bins (size ranges).</a:t>
            </a:r>
            <a:br/>
            <a:br/>
            <a:r>
              <a:t>glibc 2.32+ security: Safe-Linking — XOR fd pointer with (address &gt;&gt; 12) to prevent tcache/fastbin poisoning. glibc 2.29+ tcache key field detects double-free.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Heap Exploitation: Tcache Poisoning</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0"/>
            <a:ext cx="1828800" cy="274320"/>
          </a:xfrm>
          <a:prstGeom prst="rect">
            <a:avLst/>
          </a:prstGeom>
          <a:noFill/>
        </p:spPr>
        <p:txBody>
          <a:bodyPr wrap="square">
            <a:spAutoFit/>
          </a:bodyPr>
          <a:lstStyle/>
          <a:p>
            <a:pPr algn="l">
              <a:defRPr sz="1200" b="1">
                <a:solidFill>
                  <a:srgbClr val="00FF88"/>
                </a:solidFill>
                <a:latin typeface="Calibri"/>
              </a:defRPr>
            </a:pPr>
            <a:r>
              <a:t>1. Normal tcache</a:t>
            </a:r>
          </a:p>
        </p:txBody>
      </p:sp>
      <p:sp>
        <p:nvSpPr>
          <p:cNvPr id="5" name="Rectangle 4"/>
          <p:cNvSpPr/>
          <p:nvPr/>
        </p:nvSpPr>
        <p:spPr>
          <a:xfrm>
            <a:off x="274320" y="1463040"/>
            <a:ext cx="1097280" cy="457200"/>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00FF88"/>
                </a:solidFill>
              </a:defRPr>
            </a:pPr>
            <a:r>
              <a:t>tcache</a:t>
            </a:r>
            <a:br/>
            <a:r>
              <a:t>head</a:t>
            </a:r>
          </a:p>
        </p:txBody>
      </p:sp>
      <p:sp>
        <p:nvSpPr>
          <p:cNvPr id="6" name="Right Arrow 5"/>
          <p:cNvSpPr/>
          <p:nvPr/>
        </p:nvSpPr>
        <p:spPr>
          <a:xfrm>
            <a:off x="1417320" y="1554480"/>
            <a:ext cx="274320" cy="27432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37360" y="1463040"/>
            <a:ext cx="914400" cy="45720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00D4FF"/>
                </a:solidFill>
              </a:defRPr>
            </a:pPr>
            <a:r>
              <a:t>chunk A</a:t>
            </a:r>
            <a:br/>
            <a:r>
              <a:t>fd→B</a:t>
            </a:r>
          </a:p>
        </p:txBody>
      </p:sp>
      <p:sp>
        <p:nvSpPr>
          <p:cNvPr id="8" name="Right Arrow 7"/>
          <p:cNvSpPr/>
          <p:nvPr/>
        </p:nvSpPr>
        <p:spPr>
          <a:xfrm>
            <a:off x="2697480" y="1554480"/>
            <a:ext cx="182880" cy="27432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0" y="1463040"/>
            <a:ext cx="914400" cy="45720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00D4FF"/>
                </a:solidFill>
              </a:defRPr>
            </a:pPr>
            <a:r>
              <a:t>chunk B</a:t>
            </a:r>
            <a:br/>
            <a:r>
              <a:t>fd→NULL</a:t>
            </a:r>
          </a:p>
        </p:txBody>
      </p:sp>
      <p:sp>
        <p:nvSpPr>
          <p:cNvPr id="10" name="TextBox 9"/>
          <p:cNvSpPr txBox="1"/>
          <p:nvPr/>
        </p:nvSpPr>
        <p:spPr>
          <a:xfrm>
            <a:off x="274320" y="2286000"/>
            <a:ext cx="1828800" cy="274320"/>
          </a:xfrm>
          <a:prstGeom prst="rect">
            <a:avLst/>
          </a:prstGeom>
          <a:noFill/>
        </p:spPr>
        <p:txBody>
          <a:bodyPr wrap="square">
            <a:spAutoFit/>
          </a:bodyPr>
          <a:lstStyle/>
          <a:p>
            <a:pPr algn="l">
              <a:defRPr sz="1200" b="1">
                <a:solidFill>
                  <a:srgbClr val="FF4444"/>
                </a:solidFill>
                <a:latin typeface="Calibri"/>
              </a:defRPr>
            </a:pPr>
            <a:r>
              <a:t>2. Corrupt A→fd</a:t>
            </a:r>
          </a:p>
        </p:txBody>
      </p:sp>
      <p:sp>
        <p:nvSpPr>
          <p:cNvPr id="11" name="Rectangle 10"/>
          <p:cNvSpPr/>
          <p:nvPr/>
        </p:nvSpPr>
        <p:spPr>
          <a:xfrm>
            <a:off x="274320" y="2651760"/>
            <a:ext cx="1097280" cy="457200"/>
          </a:xfrm>
          <a:prstGeom prst="rect">
            <a:avLst/>
          </a:prstGeom>
          <a:solidFill>
            <a:srgbClr val="1E1E3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00FF88"/>
                </a:solidFill>
              </a:defRPr>
            </a:pPr>
            <a:r>
              <a:t>tcache</a:t>
            </a:r>
            <a:br/>
            <a:r>
              <a:t>head</a:t>
            </a:r>
          </a:p>
        </p:txBody>
      </p:sp>
      <p:sp>
        <p:nvSpPr>
          <p:cNvPr id="12" name="Right Arrow 11"/>
          <p:cNvSpPr/>
          <p:nvPr/>
        </p:nvSpPr>
        <p:spPr>
          <a:xfrm>
            <a:off x="1417320" y="2743200"/>
            <a:ext cx="274320" cy="27432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37360" y="2651760"/>
            <a:ext cx="914400" cy="457200"/>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FF4444"/>
                </a:solidFill>
              </a:defRPr>
            </a:pPr>
            <a:r>
              <a:t>chunk A</a:t>
            </a:r>
            <a:br/>
            <a:r>
              <a:t>fd→TARGET</a:t>
            </a:r>
          </a:p>
        </p:txBody>
      </p:sp>
      <p:sp>
        <p:nvSpPr>
          <p:cNvPr id="14" name="Right Arrow 13"/>
          <p:cNvSpPr/>
          <p:nvPr/>
        </p:nvSpPr>
        <p:spPr>
          <a:xfrm>
            <a:off x="2697480" y="2743200"/>
            <a:ext cx="182880" cy="27432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2651760"/>
            <a:ext cx="1097280" cy="457200"/>
          </a:xfrm>
          <a:prstGeom prst="rect">
            <a:avLst/>
          </a:prstGeom>
          <a:solidFill>
            <a:srgbClr val="3A0A0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FF4444"/>
                </a:solidFill>
              </a:defRPr>
            </a:pPr>
            <a:r>
              <a:t>TARGET</a:t>
            </a:r>
            <a:br/>
            <a:r>
              <a:t>(arbitrary addr)</a:t>
            </a:r>
          </a:p>
        </p:txBody>
      </p:sp>
      <p:sp>
        <p:nvSpPr>
          <p:cNvPr id="16" name="TextBox 15"/>
          <p:cNvSpPr txBox="1"/>
          <p:nvPr/>
        </p:nvSpPr>
        <p:spPr>
          <a:xfrm>
            <a:off x="274320" y="3474720"/>
            <a:ext cx="2743200" cy="274320"/>
          </a:xfrm>
          <a:prstGeom prst="rect">
            <a:avLst/>
          </a:prstGeom>
          <a:noFill/>
        </p:spPr>
        <p:txBody>
          <a:bodyPr wrap="square">
            <a:spAutoFit/>
          </a:bodyPr>
          <a:lstStyle/>
          <a:p>
            <a:pPr algn="l">
              <a:defRPr sz="1200" b="1">
                <a:solidFill>
                  <a:srgbClr val="FFD700"/>
                </a:solidFill>
                <a:latin typeface="Calibri"/>
              </a:defRPr>
            </a:pPr>
            <a:r>
              <a:t>3. malloc() → A, malloc() → TARGET</a:t>
            </a:r>
          </a:p>
        </p:txBody>
      </p:sp>
      <p:sp>
        <p:nvSpPr>
          <p:cNvPr id="17" name="Rectangle 16"/>
          <p:cNvSpPr/>
          <p:nvPr/>
        </p:nvSpPr>
        <p:spPr>
          <a:xfrm>
            <a:off x="274320" y="3840480"/>
            <a:ext cx="3657600" cy="457200"/>
          </a:xfrm>
          <a:prstGeom prst="rect">
            <a:avLst/>
          </a:prstGeom>
          <a:solidFill>
            <a:srgbClr val="1E1E3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D700"/>
                </a:solidFill>
              </a:defRPr>
            </a:pPr>
            <a:r>
              <a:t>Second malloc() returns pointer to TARGET → arbitrary write!</a:t>
            </a:r>
          </a:p>
        </p:txBody>
      </p:sp>
      <p:sp>
        <p:nvSpPr>
          <p:cNvPr id="18" name="TextBox 17"/>
          <p:cNvSpPr txBox="1"/>
          <p:nvPr/>
        </p:nvSpPr>
        <p:spPr>
          <a:xfrm>
            <a:off x="4572000" y="1097280"/>
            <a:ext cx="4389120" cy="4572000"/>
          </a:xfrm>
          <a:prstGeom prst="rect">
            <a:avLst/>
          </a:prstGeom>
          <a:noFill/>
        </p:spPr>
        <p:txBody>
          <a:bodyPr wrap="square">
            <a:spAutoFit/>
          </a:bodyPr>
          <a:lstStyle/>
          <a:p>
            <a:pPr algn="l">
              <a:defRPr sz="1000" b="0">
                <a:solidFill>
                  <a:srgbClr val="BBBBBB"/>
                </a:solidFill>
                <a:latin typeface="Calibri"/>
              </a:defRPr>
            </a:pPr>
            <a:r>
              <a:t>Tcache poisoning exploits:</a:t>
            </a:r>
            <a:br/>
            <a:br/>
            <a:r>
              <a:t>1. Heap overflow or UAF corrupts</a:t>
            </a:r>
            <a:br/>
            <a:r>
              <a:t>   the fd pointer of a freed chunk</a:t>
            </a:r>
            <a:br/>
            <a:r>
              <a:t>   in the tcache linked list</a:t>
            </a:r>
            <a:br/>
            <a:br/>
            <a:r>
              <a:t>2. Attacker points fd to an arbitrary</a:t>
            </a:r>
            <a:br/>
            <a:r>
              <a:t>   target address (e.g., __free_hook,</a:t>
            </a:r>
            <a:br/>
            <a:r>
              <a:t>   return address on stack, etc.)</a:t>
            </a:r>
            <a:br/>
            <a:br/>
            <a:r>
              <a:t>3. Next malloc() of that size class</a:t>
            </a:r>
            <a:br/>
            <a:r>
              <a:t>   returns the target address</a:t>
            </a:r>
            <a:br/>
            <a:br/>
            <a:r>
              <a:t>4. Writing to that allocation gives</a:t>
            </a:r>
            <a:br/>
            <a:r>
              <a:t>   arbitrary write primitive</a:t>
            </a:r>
            <a:br/>
            <a:br/>
            <a:r>
              <a:t>Safe-Linking (glibc 2.32+):</a:t>
            </a:r>
            <a:br/>
            <a:r>
              <a:t>fd = real_fd XOR (&amp;chunk &gt;&gt; 12)</a:t>
            </a:r>
            <a:br/>
            <a:r>
              <a:t>Attacker needs heap leak to compute</a:t>
            </a:r>
            <a:br/>
            <a:r>
              <a:t>the XOR key before poisoning.</a:t>
            </a:r>
            <a:br/>
            <a:br/>
            <a:r>
              <a:t>tcache key (glibc 2.29+):</a:t>
            </a:r>
            <a:br/>
            <a:r>
              <a:t>Detects double-free by checking</a:t>
            </a:r>
            <a:br/>
            <a:r>
              <a:t>if chunk's key == tcache_perthread.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Use-After-Free (UAF) Exploitation</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 y="1371600"/>
            <a:ext cx="2011680" cy="457200"/>
          </a:xfrm>
          <a:prstGeom prst="rect">
            <a:avLst/>
          </a:prstGeom>
          <a:solidFill>
            <a:srgbClr val="00FF8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1. ALLOCATE</a:t>
            </a:r>
          </a:p>
        </p:txBody>
      </p:sp>
      <p:sp>
        <p:nvSpPr>
          <p:cNvPr id="5" name="TextBox 4"/>
          <p:cNvSpPr txBox="1"/>
          <p:nvPr/>
        </p:nvSpPr>
        <p:spPr>
          <a:xfrm>
            <a:off x="182880" y="2011680"/>
            <a:ext cx="2011680" cy="1097280"/>
          </a:xfrm>
          <a:prstGeom prst="rect">
            <a:avLst/>
          </a:prstGeom>
          <a:noFill/>
        </p:spPr>
        <p:txBody>
          <a:bodyPr wrap="square">
            <a:spAutoFit/>
          </a:bodyPr>
          <a:lstStyle/>
          <a:p>
            <a:pPr algn="ctr">
              <a:defRPr sz="1000" b="0">
                <a:solidFill>
                  <a:srgbClr val="BBBBBB"/>
                </a:solidFill>
                <a:latin typeface="Calibri"/>
              </a:defRPr>
            </a:pPr>
            <a:r>
              <a:t>obj = malloc(sz)</a:t>
            </a:r>
            <a:br/>
            <a:r>
              <a:t>obj→vtable = VTable</a:t>
            </a:r>
            <a:br/>
            <a:r>
              <a:t>obj→data = ...</a:t>
            </a:r>
          </a:p>
        </p:txBody>
      </p:sp>
      <p:sp>
        <p:nvSpPr>
          <p:cNvPr id="6" name="Right Arrow 5"/>
          <p:cNvSpPr/>
          <p:nvPr/>
        </p:nvSpPr>
        <p:spPr>
          <a:xfrm>
            <a:off x="2240280" y="1463040"/>
            <a:ext cx="182880" cy="27432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7440" y="1371600"/>
            <a:ext cx="2011680" cy="457200"/>
          </a:xfrm>
          <a:prstGeom prst="rect">
            <a:avLst/>
          </a:prstGeom>
          <a:solidFill>
            <a:srgbClr val="FFD700"/>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2. FREE</a:t>
            </a:r>
          </a:p>
        </p:txBody>
      </p:sp>
      <p:sp>
        <p:nvSpPr>
          <p:cNvPr id="8" name="TextBox 7"/>
          <p:cNvSpPr txBox="1"/>
          <p:nvPr/>
        </p:nvSpPr>
        <p:spPr>
          <a:xfrm>
            <a:off x="2377440" y="2011680"/>
            <a:ext cx="2011680" cy="1097280"/>
          </a:xfrm>
          <a:prstGeom prst="rect">
            <a:avLst/>
          </a:prstGeom>
          <a:noFill/>
        </p:spPr>
        <p:txBody>
          <a:bodyPr wrap="square">
            <a:spAutoFit/>
          </a:bodyPr>
          <a:lstStyle/>
          <a:p>
            <a:pPr algn="ctr">
              <a:defRPr sz="1000" b="0">
                <a:solidFill>
                  <a:srgbClr val="BBBBBB"/>
                </a:solidFill>
                <a:latin typeface="Calibri"/>
              </a:defRPr>
            </a:pPr>
            <a:r>
              <a:t>free(obj)</a:t>
            </a:r>
            <a:br/>
            <a:r>
              <a:t>obj → freelist</a:t>
            </a:r>
            <a:br/>
            <a:r>
              <a:t>(dangling ptr remains)</a:t>
            </a:r>
          </a:p>
        </p:txBody>
      </p:sp>
      <p:sp>
        <p:nvSpPr>
          <p:cNvPr id="9" name="Right Arrow 8"/>
          <p:cNvSpPr/>
          <p:nvPr/>
        </p:nvSpPr>
        <p:spPr>
          <a:xfrm>
            <a:off x="4434840" y="1463040"/>
            <a:ext cx="182880" cy="27432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0" y="1371600"/>
            <a:ext cx="2011680" cy="457200"/>
          </a:xfrm>
          <a:prstGeom prst="rect">
            <a:avLst/>
          </a:prstGeom>
          <a:solidFill>
            <a:srgbClr val="BB86FC"/>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3. REUSE</a:t>
            </a:r>
          </a:p>
        </p:txBody>
      </p:sp>
      <p:sp>
        <p:nvSpPr>
          <p:cNvPr id="11" name="TextBox 10"/>
          <p:cNvSpPr txBox="1"/>
          <p:nvPr/>
        </p:nvSpPr>
        <p:spPr>
          <a:xfrm>
            <a:off x="4572000" y="2011680"/>
            <a:ext cx="2011680" cy="1097280"/>
          </a:xfrm>
          <a:prstGeom prst="rect">
            <a:avLst/>
          </a:prstGeom>
          <a:noFill/>
        </p:spPr>
        <p:txBody>
          <a:bodyPr wrap="square">
            <a:spAutoFit/>
          </a:bodyPr>
          <a:lstStyle/>
          <a:p>
            <a:pPr algn="ctr">
              <a:defRPr sz="1000" b="0">
                <a:solidFill>
                  <a:srgbClr val="BBBBBB"/>
                </a:solidFill>
                <a:latin typeface="Calibri"/>
              </a:defRPr>
            </a:pPr>
            <a:r>
              <a:t>evil = malloc(sz)</a:t>
            </a:r>
            <a:br/>
            <a:r>
              <a:t>(reclaims same memory)</a:t>
            </a:r>
            <a:br/>
            <a:r>
              <a:t>evil→vtable = ATTACKER</a:t>
            </a:r>
          </a:p>
        </p:txBody>
      </p:sp>
      <p:sp>
        <p:nvSpPr>
          <p:cNvPr id="12" name="Right Arrow 11"/>
          <p:cNvSpPr/>
          <p:nvPr/>
        </p:nvSpPr>
        <p:spPr>
          <a:xfrm>
            <a:off x="6629400" y="1463040"/>
            <a:ext cx="182880" cy="274320"/>
          </a:xfrm>
          <a:prstGeom prst="right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66560" y="1371600"/>
            <a:ext cx="2011680" cy="45720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4. TRIGGER</a:t>
            </a:r>
          </a:p>
        </p:txBody>
      </p:sp>
      <p:sp>
        <p:nvSpPr>
          <p:cNvPr id="14" name="TextBox 13"/>
          <p:cNvSpPr txBox="1"/>
          <p:nvPr/>
        </p:nvSpPr>
        <p:spPr>
          <a:xfrm>
            <a:off x="6766560" y="2011680"/>
            <a:ext cx="2011680" cy="1097280"/>
          </a:xfrm>
          <a:prstGeom prst="rect">
            <a:avLst/>
          </a:prstGeom>
          <a:noFill/>
        </p:spPr>
        <p:txBody>
          <a:bodyPr wrap="square">
            <a:spAutoFit/>
          </a:bodyPr>
          <a:lstStyle/>
          <a:p>
            <a:pPr algn="ctr">
              <a:defRPr sz="1000" b="0">
                <a:solidFill>
                  <a:srgbClr val="BBBBBB"/>
                </a:solidFill>
                <a:latin typeface="Calibri"/>
              </a:defRPr>
            </a:pPr>
            <a:r>
              <a:t>obj→vtable→method()</a:t>
            </a:r>
            <a:br/>
            <a:r>
              <a:t>(uses stale pointer)</a:t>
            </a:r>
            <a:br/>
            <a:r>
              <a:t>ATTACKER controls RIP</a:t>
            </a:r>
          </a:p>
        </p:txBody>
      </p:sp>
      <p:sp>
        <p:nvSpPr>
          <p:cNvPr id="15" name="TextBox 14"/>
          <p:cNvSpPr txBox="1"/>
          <p:nvPr/>
        </p:nvSpPr>
        <p:spPr>
          <a:xfrm>
            <a:off x="457200" y="3474720"/>
            <a:ext cx="8229600" cy="2743200"/>
          </a:xfrm>
          <a:prstGeom prst="rect">
            <a:avLst/>
          </a:prstGeom>
          <a:noFill/>
        </p:spPr>
        <p:txBody>
          <a:bodyPr wrap="square">
            <a:spAutoFit/>
          </a:bodyPr>
          <a:lstStyle/>
          <a:p>
            <a:pPr algn="l">
              <a:defRPr sz="1100" b="0">
                <a:solidFill>
                  <a:srgbClr val="BBBBBB"/>
                </a:solidFill>
                <a:latin typeface="Calibri"/>
              </a:defRPr>
            </a:pPr>
            <a:r>
              <a:t>UAF is the most common vulnerability class in browsers (V8, WebKit, Blink) and the Linux kernel. The key is that the freed object's memory is returned to the allocator but the pointer to it is not invalidated (dangling pointer).</a:t>
            </a:r>
            <a:br/>
            <a:br/>
            <a:r>
              <a:t>Exploitation requires: same-size allocation to reclaim the freed slot, control over the replacement object's content, and a way to trigger the dangling pointer dereference.</a:t>
            </a:r>
            <a:br/>
            <a:br/>
            <a:r>
              <a:t>Real-world examples:</a:t>
            </a:r>
            <a:br/>
            <a:r>
              <a:t>• CVE-2022-42856 (WebKit): type confusion via UAF in JavaScript engine → iOS jailbreak</a:t>
            </a:r>
            <a:br/>
            <a:r>
              <a:t>• CVE-2024-1086 (nf_tables): double-free in netfilter → kernel UAF → privilege escalation</a:t>
            </a:r>
            <a:br/>
            <a:r>
              <a:t>• CVE-2023-2008 (io_uring): UAF in fixed file management → container escape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Heap Spray Visualization</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457200" y="1097280"/>
            <a:ext cx="8229600" cy="3474720"/>
          </a:xfrm>
          <a:prstGeom prst="rect">
            <a:avLst/>
          </a:prstGeom>
        </p:spPr>
      </p:pic>
      <p:sp>
        <p:nvSpPr>
          <p:cNvPr id="5" name="TextBox 4"/>
          <p:cNvSpPr txBox="1"/>
          <p:nvPr/>
        </p:nvSpPr>
        <p:spPr>
          <a:xfrm>
            <a:off x="457200" y="4846320"/>
            <a:ext cx="8229600" cy="1645920"/>
          </a:xfrm>
          <a:prstGeom prst="rect">
            <a:avLst/>
          </a:prstGeom>
          <a:noFill/>
        </p:spPr>
        <p:txBody>
          <a:bodyPr wrap="square">
            <a:spAutoFit/>
          </a:bodyPr>
          <a:lstStyle/>
          <a:p>
            <a:pPr algn="l">
              <a:defRPr sz="1100" b="0">
                <a:solidFill>
                  <a:srgbClr val="BBBBBB"/>
                </a:solidFill>
                <a:latin typeface="Calibri"/>
              </a:defRPr>
            </a:pPr>
            <a:r>
              <a:t>Heap spraying fills the heap with attacker-controlled data to increase exploit reliability. When exploiting a UAF or corrupted pointer, the spray ensures that the dangling reference lands on attacker data. Browser heap sprays use JavaScript ArrayBuffers, TypedArrays, or String objects. Kernel heap sprays use msg_msg, setxattr, or add_key. Effectiveness depends on allocator determinism — SLUB is more predictable than glibc malloc.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Rectangle 1"/>
          <p:cNvSpPr/>
          <p:nvPr/>
        </p:nvSpPr>
        <p:spPr>
          <a:xfrm>
            <a:off x="365760" y="2011680"/>
            <a:ext cx="1097280" cy="109728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21224"/>
                </a:solidFill>
              </a:defRPr>
            </a:pPr>
            <a:r>
              <a:t>II</a:t>
            </a:r>
          </a:p>
        </p:txBody>
      </p:sp>
      <p:sp>
        <p:nvSpPr>
          <p:cNvPr id="3" name="TextBox 2"/>
          <p:cNvSpPr txBox="1"/>
          <p:nvPr/>
        </p:nvSpPr>
        <p:spPr>
          <a:xfrm>
            <a:off x="1828800" y="2011680"/>
            <a:ext cx="6858000" cy="731520"/>
          </a:xfrm>
          <a:prstGeom prst="rect">
            <a:avLst/>
          </a:prstGeom>
          <a:noFill/>
        </p:spPr>
        <p:txBody>
          <a:bodyPr wrap="square">
            <a:spAutoFit/>
          </a:bodyPr>
          <a:lstStyle/>
          <a:p>
            <a:pPr algn="l">
              <a:defRPr sz="3200" b="1">
                <a:solidFill>
                  <a:srgbClr val="FFFFFF"/>
                </a:solidFill>
                <a:latin typeface="Calibri"/>
              </a:defRPr>
            </a:pPr>
            <a:r>
              <a:t>Kernel Exploitation</a:t>
            </a:r>
          </a:p>
        </p:txBody>
      </p:sp>
      <p:sp>
        <p:nvSpPr>
          <p:cNvPr id="4" name="TextBox 3"/>
          <p:cNvSpPr txBox="1"/>
          <p:nvPr/>
        </p:nvSpPr>
        <p:spPr>
          <a:xfrm>
            <a:off x="1828800" y="2926080"/>
            <a:ext cx="6858000" cy="1371600"/>
          </a:xfrm>
          <a:prstGeom prst="rect">
            <a:avLst/>
          </a:prstGeom>
          <a:noFill/>
        </p:spPr>
        <p:txBody>
          <a:bodyPr wrap="square">
            <a:spAutoFit/>
          </a:bodyPr>
          <a:lstStyle/>
          <a:p>
            <a:pPr algn="l">
              <a:defRPr sz="1600" b="0">
                <a:solidFill>
                  <a:srgbClr val="BBBBBB"/>
                </a:solidFill>
                <a:latin typeface="Calibri"/>
              </a:defRPr>
            </a:pPr>
            <a:r>
              <a:t>SLUB allocator, cross-cache attacks, privilege escalation primitives, and kernel subsystem attack surfaces</a:t>
            </a:r>
          </a:p>
        </p:txBody>
      </p:sp>
      <p:sp>
        <p:nvSpPr>
          <p:cNvPr id="5" name="Rectangle 4"/>
          <p:cNvSpPr/>
          <p:nvPr/>
        </p:nvSpPr>
        <p:spPr>
          <a:xfrm>
            <a:off x="1828800" y="2743200"/>
            <a:ext cx="64008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SLUB Allocator Internals</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1828800" cy="73152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FF"/>
                </a:solidFill>
              </a:defRPr>
            </a:pPr>
            <a:r>
              <a:t>kmem_cache</a:t>
            </a:r>
            <a:br/>
            <a:r>
              <a:t>(e.g., 'filp')</a:t>
            </a:r>
          </a:p>
        </p:txBody>
      </p:sp>
      <p:sp>
        <p:nvSpPr>
          <p:cNvPr id="5" name="Right Arrow 4"/>
          <p:cNvSpPr/>
          <p:nvPr/>
        </p:nvSpPr>
        <p:spPr>
          <a:xfrm>
            <a:off x="2377440" y="1554480"/>
            <a:ext cx="365760" cy="27432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4640" y="1188720"/>
            <a:ext cx="2743200" cy="1097280"/>
          </a:xfrm>
          <a:prstGeom prst="rect">
            <a:avLst/>
          </a:prstGeom>
          <a:solidFill>
            <a:srgbClr val="1E1E3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FFD700"/>
                </a:solidFill>
              </a:defRPr>
            </a:pPr>
            <a:r>
              <a:t>CPU Slab (per-cpu)</a:t>
            </a:r>
            <a:br/>
            <a:r>
              <a:t>┌────┬────┬────┬────┐</a:t>
            </a:r>
            <a:br/>
            <a:r>
              <a:t>│ obj │ obj │FREE│FREE│</a:t>
            </a:r>
            <a:br/>
            <a:r>
              <a:t>└────┴────┴────┴────┘</a:t>
            </a:r>
            <a:br/>
            <a:r>
              <a:t>    freelist →</a:t>
            </a:r>
          </a:p>
        </p:txBody>
      </p:sp>
      <p:sp>
        <p:nvSpPr>
          <p:cNvPr id="7" name="Right Arrow 6"/>
          <p:cNvSpPr/>
          <p:nvPr/>
        </p:nvSpPr>
        <p:spPr>
          <a:xfrm>
            <a:off x="5669280" y="1554480"/>
            <a:ext cx="274320" cy="274320"/>
          </a:xfrm>
          <a:prstGeom prst="right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35040" y="1188720"/>
            <a:ext cx="2743200" cy="1097280"/>
          </a:xfrm>
          <a:prstGeom prst="rect">
            <a:avLst/>
          </a:prstGeom>
          <a:solidFill>
            <a:srgbClr val="1E1E38"/>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BB86FC"/>
                </a:solidFill>
              </a:defRPr>
            </a:pPr>
            <a:r>
              <a:t>Partial Slabs (node list)</a:t>
            </a:r>
            <a:br/>
            <a:r>
              <a:t>┌────┬────┬FREE┬FREE┐</a:t>
            </a:r>
            <a:br/>
            <a:r>
              <a:t>│ obj │FREE│    │    │</a:t>
            </a:r>
            <a:br/>
            <a:r>
              <a:t>└────┴────┴────┴────┘</a:t>
            </a:r>
          </a:p>
        </p:txBody>
      </p:sp>
      <p:sp>
        <p:nvSpPr>
          <p:cNvPr id="9" name="TextBox 8"/>
          <p:cNvSpPr txBox="1"/>
          <p:nvPr/>
        </p:nvSpPr>
        <p:spPr>
          <a:xfrm>
            <a:off x="457200" y="2743200"/>
            <a:ext cx="8229600" cy="3657600"/>
          </a:xfrm>
          <a:prstGeom prst="rect">
            <a:avLst/>
          </a:prstGeom>
          <a:noFill/>
        </p:spPr>
        <p:txBody>
          <a:bodyPr wrap="square">
            <a:spAutoFit/>
          </a:bodyPr>
          <a:lstStyle/>
          <a:p>
            <a:pPr algn="l">
              <a:defRPr sz="1100" b="0">
                <a:solidFill>
                  <a:srgbClr val="BBBBBB"/>
                </a:solidFill>
                <a:latin typeface="Calibri"/>
              </a:defRPr>
            </a:pPr>
            <a:r>
              <a:t>SLUB allocation path:</a:t>
            </a:r>
            <a:br/>
            <a:r>
              <a:t>1. Fast path: take object from CPU slab freelist (no locking)</a:t>
            </a:r>
            <a:br/>
            <a:r>
              <a:t>2. If CPU slab exhausted: promote partial slab to CPU slab</a:t>
            </a:r>
            <a:br/>
            <a:r>
              <a:t>3. If no partial slabs: allocate new page(s) from page allocator</a:t>
            </a:r>
            <a:br/>
            <a:br/>
            <a:r>
              <a:t>Key properties for exploitation:</a:t>
            </a:r>
            <a:br/>
            <a:r>
              <a:t>• Objects of the same kmem_cache share slab pages → same-cache spray</a:t>
            </a:r>
            <a:br/>
            <a:r>
              <a:t>• Dedicated caches isolate sensitive structures (cred, file, inode)</a:t>
            </a:r>
            <a:br/>
            <a:r>
              <a:t>• kmalloc-N caches (kmalloc-64, kmalloc-128, ...) are shared by many types</a:t>
            </a:r>
            <a:br/>
            <a:r>
              <a:t>• SLUB is more deterministic than SLAB — freelist order is predictable</a:t>
            </a:r>
            <a:br/>
            <a:r>
              <a:t>• CONFIG_SLAB_FREELIST_RANDOM: shuffles initial freelist order</a:t>
            </a:r>
            <a:br/>
            <a:r>
              <a:t>• CONFIG_SLAB_FREELIST_HARDENED: XOR freelist pointer (like glibc Safe-Linking)</a:t>
            </a:r>
            <a:br/>
            <a:br/>
            <a:r>
              <a:t>Exploit strategy: free vulnerable object, spray kmalloc-N with controlled data (msg_msg, setxattr, add_key), reclaim slot to overlap with controlled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Kernel Heap Spray Techniques</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457200" y="1097280"/>
            <a:ext cx="8229600" cy="4114800"/>
          </a:xfrm>
          <a:prstGeom prst="rect">
            <a:avLst/>
          </a:prstGeom>
        </p:spPr>
      </p:pic>
      <p:sp>
        <p:nvSpPr>
          <p:cNvPr id="5" name="TextBox 4"/>
          <p:cNvSpPr txBox="1"/>
          <p:nvPr/>
        </p:nvSpPr>
        <p:spPr>
          <a:xfrm>
            <a:off x="457200" y="5486400"/>
            <a:ext cx="8229600" cy="914400"/>
          </a:xfrm>
          <a:prstGeom prst="rect">
            <a:avLst/>
          </a:prstGeom>
          <a:noFill/>
        </p:spPr>
        <p:txBody>
          <a:bodyPr wrap="square">
            <a:spAutoFit/>
          </a:bodyPr>
          <a:lstStyle/>
          <a:p>
            <a:pPr algn="l">
              <a:defRPr sz="1000" b="0">
                <a:solidFill>
                  <a:srgbClr val="BBBBBB"/>
                </a:solidFill>
                <a:latin typeface="Calibri"/>
              </a:defRPr>
            </a:pPr>
            <a:r>
              <a:t>msg_msg: most versatile — controllable size via msgsnd, data inline after header. setxattr: copies user buffer to kmalloc slab, frees on error path (spray+free primitive). userfaultfd: pauses page fault → stabilizes race conditions for cross-cache attacks.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Cross-Cache Attack Flow</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 y="1188720"/>
            <a:ext cx="1554480" cy="548640"/>
          </a:xfrm>
          <a:prstGeom prst="rect">
            <a:avLst/>
          </a:prstGeom>
          <a:solidFill>
            <a:srgbClr val="00D4FF"/>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Drain</a:t>
            </a:r>
            <a:br/>
            <a:r>
              <a:t>Target Cache</a:t>
            </a:r>
          </a:p>
        </p:txBody>
      </p:sp>
      <p:sp>
        <p:nvSpPr>
          <p:cNvPr id="5" name="TextBox 4"/>
          <p:cNvSpPr txBox="1"/>
          <p:nvPr/>
        </p:nvSpPr>
        <p:spPr>
          <a:xfrm>
            <a:off x="91440" y="1920240"/>
            <a:ext cx="1554480" cy="1097280"/>
          </a:xfrm>
          <a:prstGeom prst="rect">
            <a:avLst/>
          </a:prstGeom>
          <a:noFill/>
        </p:spPr>
        <p:txBody>
          <a:bodyPr wrap="square">
            <a:spAutoFit/>
          </a:bodyPr>
          <a:lstStyle/>
          <a:p>
            <a:pPr algn="ctr">
              <a:defRPr sz="900" b="0">
                <a:solidFill>
                  <a:srgbClr val="BBBBBB"/>
                </a:solidFill>
                <a:latin typeface="Calibri"/>
              </a:defRPr>
            </a:pPr>
            <a:r>
              <a:t>Exhaust all objects</a:t>
            </a:r>
            <a:br/>
            <a:r>
              <a:t>in victim slab</a:t>
            </a:r>
            <a:br/>
            <a:r>
              <a:t>→ force page return</a:t>
            </a:r>
          </a:p>
        </p:txBody>
      </p:sp>
      <p:sp>
        <p:nvSpPr>
          <p:cNvPr id="6" name="Right Arrow 5"/>
          <p:cNvSpPr/>
          <p:nvPr/>
        </p:nvSpPr>
        <p:spPr>
          <a:xfrm>
            <a:off x="1691640" y="1371600"/>
            <a:ext cx="182880" cy="27432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74520" y="1188720"/>
            <a:ext cx="1554480" cy="548640"/>
          </a:xfrm>
          <a:prstGeom prst="rect">
            <a:avLst/>
          </a:prstGeom>
          <a:solidFill>
            <a:srgbClr val="FFD700"/>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Free</a:t>
            </a:r>
            <a:br/>
            <a:r>
              <a:t>Slab Page</a:t>
            </a:r>
          </a:p>
        </p:txBody>
      </p:sp>
      <p:sp>
        <p:nvSpPr>
          <p:cNvPr id="8" name="TextBox 7"/>
          <p:cNvSpPr txBox="1"/>
          <p:nvPr/>
        </p:nvSpPr>
        <p:spPr>
          <a:xfrm>
            <a:off x="1874520" y="1920240"/>
            <a:ext cx="1554480" cy="1097280"/>
          </a:xfrm>
          <a:prstGeom prst="rect">
            <a:avLst/>
          </a:prstGeom>
          <a:noFill/>
        </p:spPr>
        <p:txBody>
          <a:bodyPr wrap="square">
            <a:spAutoFit/>
          </a:bodyPr>
          <a:lstStyle/>
          <a:p>
            <a:pPr algn="ctr">
              <a:defRPr sz="900" b="0">
                <a:solidFill>
                  <a:srgbClr val="BBBBBB"/>
                </a:solidFill>
                <a:latin typeface="Calibri"/>
              </a:defRPr>
            </a:pPr>
            <a:r>
              <a:t>Slab page returned</a:t>
            </a:r>
            <a:br/>
            <a:r>
              <a:t>to page allocator</a:t>
            </a:r>
            <a:br/>
            <a:r>
              <a:t>(buddy system)</a:t>
            </a:r>
          </a:p>
        </p:txBody>
      </p:sp>
      <p:sp>
        <p:nvSpPr>
          <p:cNvPr id="9" name="Right Arrow 8"/>
          <p:cNvSpPr/>
          <p:nvPr/>
        </p:nvSpPr>
        <p:spPr>
          <a:xfrm>
            <a:off x="3474720" y="1371600"/>
            <a:ext cx="182880" cy="27432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0" y="1188720"/>
            <a:ext cx="1554480" cy="54864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Reclaim</a:t>
            </a:r>
            <a:br/>
            <a:r>
              <a:t>Page</a:t>
            </a:r>
          </a:p>
        </p:txBody>
      </p:sp>
      <p:sp>
        <p:nvSpPr>
          <p:cNvPr id="11" name="TextBox 10"/>
          <p:cNvSpPr txBox="1"/>
          <p:nvPr/>
        </p:nvSpPr>
        <p:spPr>
          <a:xfrm>
            <a:off x="3657600" y="1920240"/>
            <a:ext cx="1554480" cy="1097280"/>
          </a:xfrm>
          <a:prstGeom prst="rect">
            <a:avLst/>
          </a:prstGeom>
          <a:noFill/>
        </p:spPr>
        <p:txBody>
          <a:bodyPr wrap="square">
            <a:spAutoFit/>
          </a:bodyPr>
          <a:lstStyle/>
          <a:p>
            <a:pPr algn="ctr">
              <a:defRPr sz="900" b="0">
                <a:solidFill>
                  <a:srgbClr val="BBBBBB"/>
                </a:solidFill>
                <a:latin typeface="Calibri"/>
              </a:defRPr>
            </a:pPr>
            <a:r>
              <a:t>Allocate from</a:t>
            </a:r>
            <a:br/>
            <a:r>
              <a:t>different cache</a:t>
            </a:r>
            <a:br/>
            <a:r>
              <a:t>→ same physical page</a:t>
            </a:r>
          </a:p>
        </p:txBody>
      </p:sp>
      <p:sp>
        <p:nvSpPr>
          <p:cNvPr id="12" name="Right Arrow 11"/>
          <p:cNvSpPr/>
          <p:nvPr/>
        </p:nvSpPr>
        <p:spPr>
          <a:xfrm>
            <a:off x="5257800" y="1371600"/>
            <a:ext cx="182880" cy="27432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188720"/>
            <a:ext cx="1554480" cy="548640"/>
          </a:xfrm>
          <a:prstGeom prst="rect">
            <a:avLst/>
          </a:prstGeom>
          <a:solidFill>
            <a:srgbClr val="BB86FC"/>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Overlap</a:t>
            </a:r>
            <a:br/>
            <a:r>
              <a:t>Objects</a:t>
            </a:r>
          </a:p>
        </p:txBody>
      </p:sp>
      <p:sp>
        <p:nvSpPr>
          <p:cNvPr id="14" name="TextBox 13"/>
          <p:cNvSpPr txBox="1"/>
          <p:nvPr/>
        </p:nvSpPr>
        <p:spPr>
          <a:xfrm>
            <a:off x="5440680" y="1920240"/>
            <a:ext cx="1554480" cy="1097280"/>
          </a:xfrm>
          <a:prstGeom prst="rect">
            <a:avLst/>
          </a:prstGeom>
          <a:noFill/>
        </p:spPr>
        <p:txBody>
          <a:bodyPr wrap="square">
            <a:spAutoFit/>
          </a:bodyPr>
          <a:lstStyle/>
          <a:p>
            <a:pPr algn="ctr">
              <a:defRPr sz="900" b="0">
                <a:solidFill>
                  <a:srgbClr val="BBBBBB"/>
                </a:solidFill>
                <a:latin typeface="Calibri"/>
              </a:defRPr>
            </a:pPr>
            <a:r>
              <a:t>Two different types</a:t>
            </a:r>
            <a:br/>
            <a:r>
              <a:t>overlap in memory</a:t>
            </a:r>
            <a:br/>
            <a:r>
              <a:t>→ type confusion</a:t>
            </a:r>
          </a:p>
        </p:txBody>
      </p:sp>
      <p:sp>
        <p:nvSpPr>
          <p:cNvPr id="15" name="Right Arrow 14"/>
          <p:cNvSpPr/>
          <p:nvPr/>
        </p:nvSpPr>
        <p:spPr>
          <a:xfrm>
            <a:off x="7040880" y="1371600"/>
            <a:ext cx="182880" cy="274320"/>
          </a:xfrm>
          <a:prstGeom prst="rightArrow">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188720"/>
            <a:ext cx="1554480" cy="548640"/>
          </a:xfrm>
          <a:prstGeom prst="rect">
            <a:avLst/>
          </a:prstGeom>
          <a:solidFill>
            <a:srgbClr val="00FF8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Exploit</a:t>
            </a:r>
            <a:br/>
            <a:r>
              <a:t>Overlap</a:t>
            </a:r>
          </a:p>
        </p:txBody>
      </p:sp>
      <p:sp>
        <p:nvSpPr>
          <p:cNvPr id="17" name="TextBox 16"/>
          <p:cNvSpPr txBox="1"/>
          <p:nvPr/>
        </p:nvSpPr>
        <p:spPr>
          <a:xfrm>
            <a:off x="7223760" y="1920240"/>
            <a:ext cx="1554480" cy="1097280"/>
          </a:xfrm>
          <a:prstGeom prst="rect">
            <a:avLst/>
          </a:prstGeom>
          <a:noFill/>
        </p:spPr>
        <p:txBody>
          <a:bodyPr wrap="square">
            <a:spAutoFit/>
          </a:bodyPr>
          <a:lstStyle/>
          <a:p>
            <a:pPr algn="ctr">
              <a:defRPr sz="900" b="0">
                <a:solidFill>
                  <a:srgbClr val="BBBBBB"/>
                </a:solidFill>
                <a:latin typeface="Calibri"/>
              </a:defRPr>
            </a:pPr>
            <a:r>
              <a:t>Modify one object</a:t>
            </a:r>
            <a:br/>
            <a:r>
              <a:t>through the other</a:t>
            </a:r>
            <a:br/>
            <a:r>
              <a:t>→ arbitrary R/W</a:t>
            </a:r>
          </a:p>
        </p:txBody>
      </p:sp>
      <p:sp>
        <p:nvSpPr>
          <p:cNvPr id="18" name="TextBox 17"/>
          <p:cNvSpPr txBox="1"/>
          <p:nvPr/>
        </p:nvSpPr>
        <p:spPr>
          <a:xfrm>
            <a:off x="457200" y="3474720"/>
            <a:ext cx="8229600" cy="2926080"/>
          </a:xfrm>
          <a:prstGeom prst="rect">
            <a:avLst/>
          </a:prstGeom>
          <a:noFill/>
        </p:spPr>
        <p:txBody>
          <a:bodyPr wrap="square">
            <a:spAutoFit/>
          </a:bodyPr>
          <a:lstStyle/>
          <a:p>
            <a:pPr algn="l">
              <a:defRPr sz="1100" b="0">
                <a:solidFill>
                  <a:srgbClr val="BBBBBB"/>
                </a:solidFill>
                <a:latin typeface="Calibri"/>
              </a:defRPr>
            </a:pPr>
            <a:r>
              <a:t>Cross-cache attacks bypass dedicated cache isolation by exploiting the underlying page allocator. When a slab is completely freed, its pages return to the buddy allocator and can be reclaimed by a different kmem_cache.</a:t>
            </a:r>
            <a:br/>
            <a:br/>
            <a:r>
              <a:t>Requirements:</a:t>
            </a:r>
            <a:br/>
            <a:r>
              <a:t>1. Ability to force target slab pages to be completely freed (drain all objects)</a:t>
            </a:r>
            <a:br/>
            <a:r>
              <a:t>2. Ability to allocate from attacker-controlled cache to reclaim the page</a:t>
            </a:r>
            <a:br/>
            <a:r>
              <a:t>3. Timing control (userfaultfd, FUSE, io_uring) to stabilize the race</a:t>
            </a:r>
            <a:br/>
            <a:br/>
            <a:r>
              <a:t>Defense: CONFIG_RANDOM_KMALLOC_CACHES (Linux 6.6+) — 16 copies of each kmalloc-N cache, randomly selected per allocation. Makes cross-cache reclamation probabilistic (~6% per attempt).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Kernel Exploit Primitive Chain</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188720"/>
            <a:ext cx="1920240" cy="548640"/>
          </a:xfrm>
          <a:prstGeom prst="rect">
            <a:avLst/>
          </a:prstGeom>
          <a:solidFill>
            <a:srgbClr val="00D4FF"/>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INFO LEAK</a:t>
            </a:r>
          </a:p>
        </p:txBody>
      </p:sp>
      <p:sp>
        <p:nvSpPr>
          <p:cNvPr id="5" name="TextBox 4"/>
          <p:cNvSpPr txBox="1"/>
          <p:nvPr/>
        </p:nvSpPr>
        <p:spPr>
          <a:xfrm>
            <a:off x="274320" y="1920240"/>
            <a:ext cx="1920240" cy="2743200"/>
          </a:xfrm>
          <a:prstGeom prst="rect">
            <a:avLst/>
          </a:prstGeom>
          <a:noFill/>
        </p:spPr>
        <p:txBody>
          <a:bodyPr wrap="square">
            <a:spAutoFit/>
          </a:bodyPr>
          <a:lstStyle/>
          <a:p>
            <a:pPr algn="ctr">
              <a:defRPr sz="900" b="0">
                <a:solidFill>
                  <a:srgbClr val="BBBBBB"/>
                </a:solidFill>
                <a:latin typeface="Calibri"/>
              </a:defRPr>
            </a:pPr>
            <a:r>
              <a:t>Defeat KASLR</a:t>
            </a:r>
            <a:br/>
            <a:r>
              <a:t>(kernel base addr)</a:t>
            </a:r>
            <a:br/>
            <a:br/>
            <a:r>
              <a:t>Techniques:</a:t>
            </a:r>
            <a:br/>
            <a:r>
              <a:t>/proc leaks</a:t>
            </a:r>
            <a:br/>
            <a:r>
              <a:t>side-channel</a:t>
            </a:r>
            <a:br/>
            <a:r>
              <a:t>heap OOB read</a:t>
            </a:r>
          </a:p>
        </p:txBody>
      </p:sp>
      <p:sp>
        <p:nvSpPr>
          <p:cNvPr id="6" name="Right Arrow 5"/>
          <p:cNvSpPr/>
          <p:nvPr/>
        </p:nvSpPr>
        <p:spPr>
          <a:xfrm>
            <a:off x="2240280" y="1371600"/>
            <a:ext cx="182880" cy="274320"/>
          </a:xfrm>
          <a:prstGeom prst="rightArrow">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3160" y="1188720"/>
            <a:ext cx="1920240" cy="548640"/>
          </a:xfrm>
          <a:prstGeom prst="rect">
            <a:avLst/>
          </a:prstGeom>
          <a:solidFill>
            <a:srgbClr val="FFD700"/>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ARBITRARY</a:t>
            </a:r>
            <a:br/>
            <a:r>
              <a:t>READ</a:t>
            </a:r>
          </a:p>
        </p:txBody>
      </p:sp>
      <p:sp>
        <p:nvSpPr>
          <p:cNvPr id="8" name="TextBox 7"/>
          <p:cNvSpPr txBox="1"/>
          <p:nvPr/>
        </p:nvSpPr>
        <p:spPr>
          <a:xfrm>
            <a:off x="2423160" y="1920240"/>
            <a:ext cx="1920240" cy="2743200"/>
          </a:xfrm>
          <a:prstGeom prst="rect">
            <a:avLst/>
          </a:prstGeom>
          <a:noFill/>
        </p:spPr>
        <p:txBody>
          <a:bodyPr wrap="square">
            <a:spAutoFit/>
          </a:bodyPr>
          <a:lstStyle/>
          <a:p>
            <a:pPr algn="ctr">
              <a:defRPr sz="900" b="0">
                <a:solidFill>
                  <a:srgbClr val="BBBBBB"/>
                </a:solidFill>
                <a:latin typeface="Calibri"/>
              </a:defRPr>
            </a:pPr>
            <a:r>
              <a:t>Read kernel memory</a:t>
            </a:r>
            <a:br/>
            <a:r>
              <a:t>at chosen address</a:t>
            </a:r>
            <a:br/>
            <a:br/>
            <a:r>
              <a:t>Techniques:</a:t>
            </a:r>
            <a:br/>
            <a:r>
              <a:t>OOB read primitive</a:t>
            </a:r>
            <a:br/>
            <a:r>
              <a:t>msg_msg leak</a:t>
            </a:r>
            <a:br/>
            <a:r>
              <a:t>pipe_buffer read</a:t>
            </a:r>
          </a:p>
        </p:txBody>
      </p:sp>
      <p:sp>
        <p:nvSpPr>
          <p:cNvPr id="9" name="Right Arrow 8"/>
          <p:cNvSpPr/>
          <p:nvPr/>
        </p:nvSpPr>
        <p:spPr>
          <a:xfrm>
            <a:off x="4389120" y="1371600"/>
            <a:ext cx="182880" cy="27432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0" y="1188720"/>
            <a:ext cx="1920240" cy="548640"/>
          </a:xfrm>
          <a:prstGeom prst="rect">
            <a:avLst/>
          </a:prstGeom>
          <a:solidFill>
            <a:srgbClr val="FF4444"/>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ARBITRARY</a:t>
            </a:r>
            <a:br/>
            <a:r>
              <a:t>WRITE</a:t>
            </a:r>
          </a:p>
        </p:txBody>
      </p:sp>
      <p:sp>
        <p:nvSpPr>
          <p:cNvPr id="11" name="TextBox 10"/>
          <p:cNvSpPr txBox="1"/>
          <p:nvPr/>
        </p:nvSpPr>
        <p:spPr>
          <a:xfrm>
            <a:off x="4572000" y="1920240"/>
            <a:ext cx="1920240" cy="2743200"/>
          </a:xfrm>
          <a:prstGeom prst="rect">
            <a:avLst/>
          </a:prstGeom>
          <a:noFill/>
        </p:spPr>
        <p:txBody>
          <a:bodyPr wrap="square">
            <a:spAutoFit/>
          </a:bodyPr>
          <a:lstStyle/>
          <a:p>
            <a:pPr algn="ctr">
              <a:defRPr sz="900" b="0">
                <a:solidFill>
                  <a:srgbClr val="BBBBBB"/>
                </a:solidFill>
                <a:latin typeface="Calibri"/>
              </a:defRPr>
            </a:pPr>
            <a:r>
              <a:t>Write to kernel</a:t>
            </a:r>
            <a:br/>
            <a:r>
              <a:t>memory</a:t>
            </a:r>
            <a:br/>
            <a:br/>
            <a:r>
              <a:t>Techniques:</a:t>
            </a:r>
            <a:br/>
            <a:r>
              <a:t>heap overflow</a:t>
            </a:r>
            <a:br/>
            <a:r>
              <a:t>UAF overlap</a:t>
            </a:r>
            <a:br/>
            <a:r>
              <a:t>setxattr + UAF</a:t>
            </a:r>
          </a:p>
        </p:txBody>
      </p:sp>
      <p:sp>
        <p:nvSpPr>
          <p:cNvPr id="12" name="Right Arrow 11"/>
          <p:cNvSpPr/>
          <p:nvPr/>
        </p:nvSpPr>
        <p:spPr>
          <a:xfrm>
            <a:off x="6537960" y="1371600"/>
            <a:ext cx="182880" cy="274320"/>
          </a:xfrm>
          <a:prstGeom prst="rightArrow">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188720"/>
            <a:ext cx="1920240" cy="548640"/>
          </a:xfrm>
          <a:prstGeom prst="rect">
            <a:avLst/>
          </a:prstGeom>
          <a:solidFill>
            <a:srgbClr val="00FF8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21224"/>
                </a:solidFill>
              </a:defRPr>
            </a:pPr>
            <a:r>
              <a:t>PRIV ESC</a:t>
            </a:r>
          </a:p>
        </p:txBody>
      </p:sp>
      <p:sp>
        <p:nvSpPr>
          <p:cNvPr id="14" name="TextBox 13"/>
          <p:cNvSpPr txBox="1"/>
          <p:nvPr/>
        </p:nvSpPr>
        <p:spPr>
          <a:xfrm>
            <a:off x="6720840" y="1920240"/>
            <a:ext cx="1920240" cy="2743200"/>
          </a:xfrm>
          <a:prstGeom prst="rect">
            <a:avLst/>
          </a:prstGeom>
          <a:noFill/>
        </p:spPr>
        <p:txBody>
          <a:bodyPr wrap="square">
            <a:spAutoFit/>
          </a:bodyPr>
          <a:lstStyle/>
          <a:p>
            <a:pPr algn="ctr">
              <a:defRPr sz="900" b="0">
                <a:solidFill>
                  <a:srgbClr val="BBBBBB"/>
                </a:solidFill>
                <a:latin typeface="Calibri"/>
              </a:defRPr>
            </a:pPr>
            <a:r>
              <a:t>Root shell!</a:t>
            </a:r>
            <a:br/>
            <a:br/>
            <a:r>
              <a:t>Targets:</a:t>
            </a:r>
            <a:br/>
            <a:r>
              <a:t>task→cred overwrite</a:t>
            </a:r>
            <a:br/>
            <a:r>
              <a:t>modprobe_path</a:t>
            </a:r>
            <a:br/>
            <a:r>
              <a:t>core_pattern</a:t>
            </a:r>
            <a:br/>
            <a:r>
              <a:t>powerful_fds</a:t>
            </a:r>
          </a:p>
        </p:txBody>
      </p:sp>
      <p:sp>
        <p:nvSpPr>
          <p:cNvPr id="15" name="TextBox 14"/>
          <p:cNvSpPr txBox="1"/>
          <p:nvPr/>
        </p:nvSpPr>
        <p:spPr>
          <a:xfrm>
            <a:off x="457200" y="5029200"/>
            <a:ext cx="8229600" cy="1371600"/>
          </a:xfrm>
          <a:prstGeom prst="rect">
            <a:avLst/>
          </a:prstGeom>
          <a:noFill/>
        </p:spPr>
        <p:txBody>
          <a:bodyPr wrap="square">
            <a:spAutoFit/>
          </a:bodyPr>
          <a:lstStyle/>
          <a:p>
            <a:pPr algn="l">
              <a:defRPr sz="1100" b="0">
                <a:solidFill>
                  <a:srgbClr val="BBBBBB"/>
                </a:solidFill>
                <a:latin typeface="Calibri"/>
              </a:defRPr>
            </a:pPr>
            <a:r>
              <a:t>The canonical Linux kernel privilege escalation:</a:t>
            </a:r>
            <a:br/>
            <a:r>
              <a:t>commit_creds(prepare_kernel_cred(NULL)) — creates root credential struct and applies it. Modern exploits prefer data-only attacks: overwrite modprobe_path to point to attacker script, trigger unknown binfmt execution → script runs as root. No ROP needed, bypasses CFI.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Kernel Subsystem Attack Surfaces</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457200" y="1097280"/>
            <a:ext cx="4572000" cy="5029200"/>
          </a:xfrm>
          <a:prstGeom prst="rect">
            <a:avLst/>
          </a:prstGeom>
        </p:spPr>
      </p:pic>
      <p:sp>
        <p:nvSpPr>
          <p:cNvPr id="5" name="TextBox 4"/>
          <p:cNvSpPr txBox="1"/>
          <p:nvPr/>
        </p:nvSpPr>
        <p:spPr>
          <a:xfrm>
            <a:off x="5029200" y="1371600"/>
            <a:ext cx="3840480" cy="5029200"/>
          </a:xfrm>
          <a:prstGeom prst="rect">
            <a:avLst/>
          </a:prstGeom>
          <a:noFill/>
        </p:spPr>
        <p:txBody>
          <a:bodyPr wrap="square">
            <a:spAutoFit/>
          </a:bodyPr>
          <a:lstStyle/>
          <a:p>
            <a:pPr algn="l">
              <a:defRPr sz="1000" b="0">
                <a:solidFill>
                  <a:srgbClr val="BBBBBB"/>
                </a:solidFill>
                <a:latin typeface="Calibri"/>
              </a:defRPr>
            </a:pPr>
            <a:r>
              <a:t>High-value targets:</a:t>
            </a:r>
            <a:br/>
            <a:br/>
            <a:r>
              <a:t>Networking (28%):</a:t>
            </a:r>
            <a:br/>
            <a:r>
              <a:t>nf_tables, netfilter, TCP/IP</a:t>
            </a:r>
            <a:br/>
            <a:r>
              <a:t>Most kernel CVEs. Complex</a:t>
            </a:r>
            <a:br/>
            <a:r>
              <a:t>state machines, many protocols.</a:t>
            </a:r>
            <a:br/>
            <a:br/>
            <a:r>
              <a:t>io_uring (12%):</a:t>
            </a:r>
            <a:br/>
            <a:r>
              <a:t>Rapidly growing attack surface.</a:t>
            </a:r>
            <a:br/>
            <a:r>
              <a:t>Complex async I/O subsystem.</a:t>
            </a:r>
            <a:br/>
            <a:r>
              <a:t>Disabled in many containers.</a:t>
            </a:r>
            <a:br/>
            <a:br/>
            <a:r>
              <a:t>BPF/eBPF (8%):</a:t>
            </a:r>
            <a:br/>
            <a:r>
              <a:t>JIT compiler bugs, verifier</a:t>
            </a:r>
            <a:br/>
            <a:r>
              <a:t>bypasses, type confusion.</a:t>
            </a:r>
            <a:br/>
            <a:r>
              <a:t>Unprivileged eBPF disabled</a:t>
            </a:r>
            <a:br/>
            <a:r>
              <a:t>in most hardened distros.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Kernel CVE Severity Distribution (2020–2024)</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457200" y="1097280"/>
            <a:ext cx="8229600" cy="4114800"/>
          </a:xfrm>
          <a:prstGeom prst="rect">
            <a:avLst/>
          </a:prstGeom>
        </p:spPr>
      </p:pic>
      <p:sp>
        <p:nvSpPr>
          <p:cNvPr id="5" name="TextBox 4"/>
          <p:cNvSpPr txBox="1"/>
          <p:nvPr/>
        </p:nvSpPr>
        <p:spPr>
          <a:xfrm>
            <a:off x="457200" y="5394960"/>
            <a:ext cx="8229600" cy="1097280"/>
          </a:xfrm>
          <a:prstGeom prst="rect">
            <a:avLst/>
          </a:prstGeom>
          <a:noFill/>
        </p:spPr>
        <p:txBody>
          <a:bodyPr wrap="square">
            <a:spAutoFit/>
          </a:bodyPr>
          <a:lstStyle/>
          <a:p>
            <a:pPr algn="l">
              <a:defRPr sz="1100" b="0">
                <a:solidFill>
                  <a:srgbClr val="BBBBBB"/>
                </a:solidFill>
                <a:latin typeface="Calibri"/>
              </a:defRPr>
            </a:pPr>
            <a:r>
              <a:t>Trend: increasing CVE volume driven by expanded fuzzing (syzkaller) and broader subsystem auditing. Critical/High CVEs concentrate in networking, io_uring, and BPF. Many kernel CVEs require local access (not remotely exploitable) but enable container escapes.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commit_creds(prepare_kernel_cred(0)) Primitive</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2286000" cy="91440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00D4FF"/>
                </a:solidFill>
              </a:defRPr>
            </a:pPr>
            <a:r>
              <a:t>prepare_kernel_cred(0)</a:t>
            </a:r>
            <a:br/>
            <a:br/>
            <a:r>
              <a:t>Allocates new cred struct</a:t>
            </a:r>
            <a:br/>
            <a:r>
              <a:t>with uid=0, gid=0,</a:t>
            </a:r>
            <a:br/>
            <a:r>
              <a:t>all capabilities set</a:t>
            </a:r>
          </a:p>
        </p:txBody>
      </p:sp>
      <p:sp>
        <p:nvSpPr>
          <p:cNvPr id="5" name="Right Arrow 4"/>
          <p:cNvSpPr/>
          <p:nvPr/>
        </p:nvSpPr>
        <p:spPr>
          <a:xfrm>
            <a:off x="2834640" y="1645920"/>
            <a:ext cx="457200" cy="274320"/>
          </a:xfrm>
          <a:prstGeom prst="righ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83280" y="1371600"/>
            <a:ext cx="2286000" cy="914400"/>
          </a:xfrm>
          <a:prstGeom prst="rect">
            <a:avLst/>
          </a:prstGeom>
          <a:solidFill>
            <a:srgbClr val="1E1E3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0">
                <a:solidFill>
                  <a:srgbClr val="FFD700"/>
                </a:solidFill>
              </a:defRPr>
            </a:pPr>
            <a:r>
              <a:t>commit_creds(new_cred)</a:t>
            </a:r>
            <a:br/>
            <a:br/>
            <a:r>
              <a:t>Replaces current→cred</a:t>
            </a:r>
            <a:br/>
            <a:r>
              <a:t>with the new root cred</a:t>
            </a:r>
            <a:br/>
            <a:r>
              <a:t>for calling process</a:t>
            </a:r>
          </a:p>
        </p:txBody>
      </p:sp>
      <p:sp>
        <p:nvSpPr>
          <p:cNvPr id="7" name="Right Arrow 6"/>
          <p:cNvSpPr/>
          <p:nvPr/>
        </p:nvSpPr>
        <p:spPr>
          <a:xfrm>
            <a:off x="5760720" y="1645920"/>
            <a:ext cx="457200" cy="274320"/>
          </a:xfrm>
          <a:prstGeom prst="rightArrow">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0" y="1371600"/>
            <a:ext cx="2286000" cy="914400"/>
          </a:xfrm>
          <a:prstGeom prst="rect">
            <a:avLst/>
          </a:prstGeom>
          <a:solidFill>
            <a:srgbClr val="00FF8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21224"/>
                </a:solidFill>
              </a:defRPr>
            </a:pPr>
            <a:r>
              <a:t>Process is now</a:t>
            </a:r>
            <a:br/>
            <a:r>
              <a:t>UID 0 / root</a:t>
            </a:r>
            <a:br/>
            <a:r>
              <a:t>with all capabilities</a:t>
            </a:r>
          </a:p>
        </p:txBody>
      </p:sp>
      <p:sp>
        <p:nvSpPr>
          <p:cNvPr id="9" name="TextBox 8"/>
          <p:cNvSpPr txBox="1"/>
          <p:nvPr/>
        </p:nvSpPr>
        <p:spPr>
          <a:xfrm>
            <a:off x="457200" y="2743200"/>
            <a:ext cx="8229600" cy="3657600"/>
          </a:xfrm>
          <a:prstGeom prst="rect">
            <a:avLst/>
          </a:prstGeom>
          <a:noFill/>
        </p:spPr>
        <p:txBody>
          <a:bodyPr wrap="square">
            <a:spAutoFit/>
          </a:bodyPr>
          <a:lstStyle/>
          <a:p>
            <a:pPr algn="l">
              <a:defRPr sz="1100" b="0">
                <a:solidFill>
                  <a:srgbClr val="BBBBBB"/>
                </a:solidFill>
                <a:latin typeface="Calibri"/>
              </a:defRPr>
            </a:pPr>
            <a:r>
              <a:t>This is the classic kernel privilege escalation payload. The attacker needs to:</a:t>
            </a:r>
            <a:br/>
            <a:r>
              <a:t>1. Control kernel RIP (via ROP, corrupted function pointer, or JOP)</a:t>
            </a:r>
            <a:br/>
            <a:r>
              <a:t>2. Call prepare_kernel_cred(NULL) — returns new cred with root privileges</a:t>
            </a:r>
            <a:br/>
            <a:r>
              <a:t>3. Call commit_creds(returned_cred) — installs it on current task</a:t>
            </a:r>
            <a:br/>
            <a:r>
              <a:t>4. Return to userspace — process now runs as root</a:t>
            </a:r>
            <a:br/>
            <a:br/>
            <a:r>
              <a:t>Modern alternatives (data-only, no ROP needed):</a:t>
            </a:r>
            <a:br/>
            <a:r>
              <a:t>• Overwrite modprobe_path: trigger unknown binfmt → script runs as root</a:t>
            </a:r>
            <a:br/>
            <a:r>
              <a:t>• Overwrite core_pattern: crash process → core dump handler runs as root</a:t>
            </a:r>
            <a:br/>
            <a:r>
              <a:t>• Overwrite task→cred pointer directly: point to init_cred (always root)</a:t>
            </a:r>
            <a:br/>
            <a:r>
              <a:t>• Overwrite task→cred→uid field: change UID 1000 → UID 0 directly</a:t>
            </a:r>
            <a:br/>
            <a:br/>
            <a:r>
              <a:t>Data-only attacks bypass: kCFI, Shadow Call Stack, SMEP, SMAP (no code execution needed). Defense requires: Kernel Data Protection (KDP), Hypervisor-enforced integrity (VBS/HVCI), or hardware-backed attestation of credential structures.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l">
              <a:defRPr sz="2600" b="1">
                <a:solidFill>
                  <a:srgbClr val="FFFFFF"/>
                </a:solidFill>
                <a:latin typeface="Calibri"/>
              </a:defRPr>
            </a:pPr>
            <a:r>
              <a:t>Elastic Objects Exploitation</a:t>
            </a:r>
          </a:p>
        </p:txBody>
      </p:sp>
      <p:sp>
        <p:nvSpPr>
          <p:cNvPr id="3" name="Rectangle 2"/>
          <p:cNvSpPr/>
          <p:nvPr/>
        </p:nvSpPr>
        <p:spPr>
          <a:xfrm>
            <a:off x="457200" y="91440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772400" cy="320040"/>
          </a:xfrm>
          <a:prstGeom prst="rect">
            <a:avLst/>
          </a:prstGeom>
          <a:noFill/>
        </p:spPr>
        <p:txBody>
          <a:bodyPr wrap="square">
            <a:spAutoFit/>
          </a:bodyPr>
          <a:lstStyle/>
          <a:p>
            <a:pPr algn="l">
              <a:defRPr sz="1400" b="1">
                <a:solidFill>
                  <a:srgbClr val="FF4444"/>
                </a:solidFill>
                <a:latin typeface="Calibri"/>
              </a:defRPr>
            </a:pPr>
            <a:r>
              <a:t>What are elastic objects?</a:t>
            </a:r>
          </a:p>
          <a:p>
            <a:pPr algn="l">
              <a:spcBef>
                <a:spcPts val="600"/>
              </a:spcBef>
              <a:defRPr sz="1200" b="0">
                <a:solidFill>
                  <a:srgbClr val="BBBBBB"/>
                </a:solidFill>
              </a:defRPr>
            </a:pPr>
            <a:r>
              <a:t>Kernel structures with variable-length inline data (msg_msg, xattr, sk_buff). Their size can be controlled by userspace, allowing precise cache targeting.</a:t>
            </a:r>
          </a:p>
        </p:txBody>
      </p:sp>
      <p:sp>
        <p:nvSpPr>
          <p:cNvPr id="5" name="TextBox 4"/>
          <p:cNvSpPr txBox="1"/>
          <p:nvPr/>
        </p:nvSpPr>
        <p:spPr>
          <a:xfrm>
            <a:off x="640080" y="1783080"/>
            <a:ext cx="7772400" cy="320040"/>
          </a:xfrm>
          <a:prstGeom prst="rect">
            <a:avLst/>
          </a:prstGeom>
          <a:noFill/>
        </p:spPr>
        <p:txBody>
          <a:bodyPr wrap="square">
            <a:spAutoFit/>
          </a:bodyPr>
          <a:lstStyle/>
          <a:p>
            <a:pPr algn="l">
              <a:defRPr sz="1400" b="1">
                <a:solidFill>
                  <a:srgbClr val="FF4444"/>
                </a:solidFill>
                <a:latin typeface="Calibri"/>
              </a:defRPr>
            </a:pPr>
            <a:r>
              <a:t>msg_msg — the exploit workhorse</a:t>
            </a:r>
          </a:p>
          <a:p>
            <a:pPr algn="l">
              <a:spcBef>
                <a:spcPts val="600"/>
              </a:spcBef>
              <a:defRPr sz="1200" b="0">
                <a:solidFill>
                  <a:srgbClr val="BBBBBB"/>
                </a:solidFill>
              </a:defRPr>
            </a:pPr>
            <a:r>
              <a:t>msgsnd() allocates msg_msg header (48 bytes) + user data inline. Size 49–4096 → kmalloc-64 through kmalloc-4k. Larger messages use msg_msgseg chain.</a:t>
            </a:r>
          </a:p>
        </p:txBody>
      </p:sp>
      <p:sp>
        <p:nvSpPr>
          <p:cNvPr id="6" name="TextBox 5"/>
          <p:cNvSpPr txBox="1"/>
          <p:nvPr/>
        </p:nvSpPr>
        <p:spPr>
          <a:xfrm>
            <a:off x="640080" y="2377440"/>
            <a:ext cx="7772400" cy="320040"/>
          </a:xfrm>
          <a:prstGeom prst="rect">
            <a:avLst/>
          </a:prstGeom>
          <a:noFill/>
        </p:spPr>
        <p:txBody>
          <a:bodyPr wrap="square">
            <a:spAutoFit/>
          </a:bodyPr>
          <a:lstStyle/>
          <a:p>
            <a:pPr algn="l">
              <a:defRPr sz="1400" b="1">
                <a:solidFill>
                  <a:srgbClr val="FF4444"/>
                </a:solidFill>
                <a:latin typeface="Calibri"/>
              </a:defRPr>
            </a:pPr>
            <a:r>
              <a:t>Exploitation pattern</a:t>
            </a:r>
          </a:p>
          <a:p>
            <a:pPr algn="l">
              <a:spcBef>
                <a:spcPts val="600"/>
              </a:spcBef>
              <a:defRPr sz="1200" b="0">
                <a:solidFill>
                  <a:srgbClr val="BBBBBB"/>
                </a:solidFill>
              </a:defRPr>
            </a:pPr>
            <a:r>
              <a:t>1. Free vulnerable object → leaves hole in kmalloc-N</a:t>
            </a:r>
            <a:br/>
            <a:r>
              <a:t>2. Spray msg_msg of same size → reclaim the slot</a:t>
            </a:r>
            <a:br/>
            <a:r>
              <a:t>3. Read msg via msgrcv() → leak kernel pointers (arbitrary read)</a:t>
            </a:r>
            <a:br/>
            <a:r>
              <a:t>4. Modify msg_msg→m_ts or →next to expand read/write range</a:t>
            </a:r>
          </a:p>
        </p:txBody>
      </p:sp>
      <p:sp>
        <p:nvSpPr>
          <p:cNvPr id="7" name="TextBox 6"/>
          <p:cNvSpPr txBox="1"/>
          <p:nvPr/>
        </p:nvSpPr>
        <p:spPr>
          <a:xfrm>
            <a:off x="640080" y="2971800"/>
            <a:ext cx="7772400" cy="320040"/>
          </a:xfrm>
          <a:prstGeom prst="rect">
            <a:avLst/>
          </a:prstGeom>
          <a:noFill/>
        </p:spPr>
        <p:txBody>
          <a:bodyPr wrap="square">
            <a:spAutoFit/>
          </a:bodyPr>
          <a:lstStyle/>
          <a:p>
            <a:pPr algn="l">
              <a:defRPr sz="1400" b="1">
                <a:solidFill>
                  <a:srgbClr val="FF4444"/>
                </a:solidFill>
                <a:latin typeface="Calibri"/>
              </a:defRPr>
            </a:pPr>
            <a:r>
              <a:t>pipe_buffer — another elastic primitive</a:t>
            </a:r>
          </a:p>
          <a:p>
            <a:pPr algn="l">
              <a:spcBef>
                <a:spcPts val="600"/>
              </a:spcBef>
              <a:defRPr sz="1200" b="0">
                <a:solidFill>
                  <a:srgbClr val="BBBBBB"/>
                </a:solidFill>
              </a:defRPr>
            </a:pPr>
            <a:r>
              <a:t>pipe() + fcntl(F_SETPIPE_SZ) → allocates pipe_buffer array in kmalloc-N. splice() writes controlled data. CVE-2022-0847 (Dirty Pipe) exploited this.</a:t>
            </a:r>
          </a:p>
        </p:txBody>
      </p:sp>
      <p:sp>
        <p:nvSpPr>
          <p:cNvPr id="8" name="TextBox 7"/>
          <p:cNvSpPr txBox="1"/>
          <p:nvPr/>
        </p:nvSpPr>
        <p:spPr>
          <a:xfrm>
            <a:off x="640080" y="3566160"/>
            <a:ext cx="7772400" cy="320040"/>
          </a:xfrm>
          <a:prstGeom prst="rect">
            <a:avLst/>
          </a:prstGeom>
          <a:noFill/>
        </p:spPr>
        <p:txBody>
          <a:bodyPr wrap="square">
            <a:spAutoFit/>
          </a:bodyPr>
          <a:lstStyle/>
          <a:p>
            <a:pPr algn="l">
              <a:defRPr sz="1400" b="1">
                <a:solidFill>
                  <a:srgbClr val="FF4444"/>
                </a:solidFill>
                <a:latin typeface="Calibri"/>
              </a:defRPr>
            </a:pPr>
            <a:r>
              <a:t>Defense: CONFIG_RANDOM_KMALLOC_CACHES</a:t>
            </a:r>
          </a:p>
          <a:p>
            <a:pPr algn="l">
              <a:spcBef>
                <a:spcPts val="600"/>
              </a:spcBef>
              <a:defRPr sz="1200" b="0">
                <a:solidFill>
                  <a:srgbClr val="BBBBBB"/>
                </a:solidFill>
              </a:defRPr>
            </a:pPr>
            <a:r>
              <a:t>Linux 6.6+: 16 random copies of each kmalloc-N cache. Spray success probability drops to ~6% per attempt. Combined with SLAB_VIRTUAL = strong heap isolation.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l">
              <a:defRPr sz="2600" b="1">
                <a:solidFill>
                  <a:srgbClr val="FFFFFF"/>
                </a:solidFill>
                <a:latin typeface="Calibri"/>
              </a:defRPr>
            </a:pPr>
            <a:r>
              <a:t>Seccomp Filter Bypass from Kernel Context</a:t>
            </a:r>
          </a:p>
        </p:txBody>
      </p:sp>
      <p:sp>
        <p:nvSpPr>
          <p:cNvPr id="3" name="Rectangle 2"/>
          <p:cNvSpPr/>
          <p:nvPr/>
        </p:nvSpPr>
        <p:spPr>
          <a:xfrm>
            <a:off x="457200" y="91440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772400" cy="320040"/>
          </a:xfrm>
          <a:prstGeom prst="rect">
            <a:avLst/>
          </a:prstGeom>
          <a:noFill/>
        </p:spPr>
        <p:txBody>
          <a:bodyPr wrap="square">
            <a:spAutoFit/>
          </a:bodyPr>
          <a:lstStyle/>
          <a:p>
            <a:pPr algn="l">
              <a:defRPr sz="1400" b="1">
                <a:solidFill>
                  <a:srgbClr val="FF4444"/>
                </a:solidFill>
                <a:latin typeface="Calibri"/>
              </a:defRPr>
            </a:pPr>
            <a:r>
              <a:t>Why seccomp doesn't protect against kernel exploits</a:t>
            </a:r>
          </a:p>
          <a:p>
            <a:pPr algn="l">
              <a:spcBef>
                <a:spcPts val="600"/>
              </a:spcBef>
              <a:defRPr sz="1200" b="0">
                <a:solidFill>
                  <a:srgbClr val="BBBBBB"/>
                </a:solidFill>
              </a:defRPr>
            </a:pPr>
            <a:r>
              <a:t>Seccomp filters run in the syscall entry path. A kernel exploit that gains arbitrary write can modify thread_info→flags to clear TIF_SECCOMP, disabling the filter entirely.</a:t>
            </a:r>
          </a:p>
        </p:txBody>
      </p:sp>
      <p:sp>
        <p:nvSpPr>
          <p:cNvPr id="5" name="TextBox 4"/>
          <p:cNvSpPr txBox="1"/>
          <p:nvPr/>
        </p:nvSpPr>
        <p:spPr>
          <a:xfrm>
            <a:off x="640080" y="1783080"/>
            <a:ext cx="7772400" cy="320040"/>
          </a:xfrm>
          <a:prstGeom prst="rect">
            <a:avLst/>
          </a:prstGeom>
          <a:noFill/>
        </p:spPr>
        <p:txBody>
          <a:bodyPr wrap="square">
            <a:spAutoFit/>
          </a:bodyPr>
          <a:lstStyle/>
          <a:p>
            <a:pPr algn="l">
              <a:defRPr sz="1400" b="1">
                <a:solidFill>
                  <a:srgbClr val="FF4444"/>
                </a:solidFill>
                <a:latin typeface="Calibri"/>
              </a:defRPr>
            </a:pPr>
            <a:r>
              <a:t>TIF_SECCOMP flag clearing</a:t>
            </a:r>
          </a:p>
          <a:p>
            <a:pPr algn="l">
              <a:spcBef>
                <a:spcPts val="600"/>
              </a:spcBef>
              <a:defRPr sz="1200" b="0">
                <a:solidFill>
                  <a:srgbClr val="BBBBBB"/>
                </a:solidFill>
              </a:defRPr>
            </a:pPr>
            <a:r>
              <a:t>task→thread_info.flags &amp; ~_TIF_SECCOMP → removes seccomp enforcement. Requires arbitrary write to kernel memory (achieved via UAF/overflow exploit).</a:t>
            </a:r>
          </a:p>
        </p:txBody>
      </p:sp>
      <p:sp>
        <p:nvSpPr>
          <p:cNvPr id="6" name="TextBox 5"/>
          <p:cNvSpPr txBox="1"/>
          <p:nvPr/>
        </p:nvSpPr>
        <p:spPr>
          <a:xfrm>
            <a:off x="640080" y="2377440"/>
            <a:ext cx="7772400" cy="320040"/>
          </a:xfrm>
          <a:prstGeom prst="rect">
            <a:avLst/>
          </a:prstGeom>
          <a:noFill/>
        </p:spPr>
        <p:txBody>
          <a:bodyPr wrap="square">
            <a:spAutoFit/>
          </a:bodyPr>
          <a:lstStyle/>
          <a:p>
            <a:pPr algn="l">
              <a:defRPr sz="1400" b="1">
                <a:solidFill>
                  <a:srgbClr val="FF4444"/>
                </a:solidFill>
                <a:latin typeface="Calibri"/>
              </a:defRPr>
            </a:pPr>
            <a:r>
              <a:t>Alternative: modify seccomp filter itself</a:t>
            </a:r>
          </a:p>
          <a:p>
            <a:pPr algn="l">
              <a:spcBef>
                <a:spcPts val="600"/>
              </a:spcBef>
              <a:defRPr sz="1200" b="0">
                <a:solidFill>
                  <a:srgbClr val="BBBBBB"/>
                </a:solidFill>
              </a:defRPr>
            </a:pPr>
            <a:r>
              <a:t>task→seccomp.filter points to a BPF program. Overwriting the filter instructions to always return SECCOMP_RET_ALLOW effectively disables sandboxing.</a:t>
            </a:r>
          </a:p>
        </p:txBody>
      </p:sp>
      <p:sp>
        <p:nvSpPr>
          <p:cNvPr id="7" name="TextBox 6"/>
          <p:cNvSpPr txBox="1"/>
          <p:nvPr/>
        </p:nvSpPr>
        <p:spPr>
          <a:xfrm>
            <a:off x="640080" y="2971800"/>
            <a:ext cx="7772400" cy="320040"/>
          </a:xfrm>
          <a:prstGeom prst="rect">
            <a:avLst/>
          </a:prstGeom>
          <a:noFill/>
        </p:spPr>
        <p:txBody>
          <a:bodyPr wrap="square">
            <a:spAutoFit/>
          </a:bodyPr>
          <a:lstStyle/>
          <a:p>
            <a:pPr algn="l">
              <a:defRPr sz="1400" b="1">
                <a:solidFill>
                  <a:srgbClr val="FF4444"/>
                </a:solidFill>
                <a:latin typeface="Calibri"/>
              </a:defRPr>
            </a:pPr>
            <a:r>
              <a:t>Container escape via seccomp bypass</a:t>
            </a:r>
          </a:p>
          <a:p>
            <a:pPr algn="l">
              <a:spcBef>
                <a:spcPts val="600"/>
              </a:spcBef>
              <a:defRPr sz="1200" b="0">
                <a:solidFill>
                  <a:srgbClr val="BBBBBB"/>
                </a:solidFill>
              </a:defRPr>
            </a:pPr>
            <a:r>
              <a:t>Docker/K8s containers rely on seccomp + capabilities + namespaces. Disabling seccomp and gaining CAP_SYS_ADMIN allows mount namespace escape → host filesystem access.</a:t>
            </a:r>
          </a:p>
        </p:txBody>
      </p:sp>
      <p:sp>
        <p:nvSpPr>
          <p:cNvPr id="8" name="TextBox 7"/>
          <p:cNvSpPr txBox="1"/>
          <p:nvPr/>
        </p:nvSpPr>
        <p:spPr>
          <a:xfrm>
            <a:off x="640080" y="3566160"/>
            <a:ext cx="7772400" cy="320040"/>
          </a:xfrm>
          <a:prstGeom prst="rect">
            <a:avLst/>
          </a:prstGeom>
          <a:noFill/>
        </p:spPr>
        <p:txBody>
          <a:bodyPr wrap="square">
            <a:spAutoFit/>
          </a:bodyPr>
          <a:lstStyle/>
          <a:p>
            <a:pPr algn="l">
              <a:defRPr sz="1400" b="1">
                <a:solidFill>
                  <a:srgbClr val="FF4444"/>
                </a:solidFill>
                <a:latin typeface="Calibri"/>
              </a:defRPr>
            </a:pPr>
            <a:r>
              <a:t>Defense: kernel integrity enforcement</a:t>
            </a:r>
          </a:p>
          <a:p>
            <a:pPr algn="l">
              <a:spcBef>
                <a:spcPts val="600"/>
              </a:spcBef>
              <a:defRPr sz="1200" b="0">
                <a:solidFill>
                  <a:srgbClr val="BBBBBB"/>
                </a:solidFill>
              </a:defRPr>
            </a:pPr>
            <a:r>
              <a:t>Lockdown mode prevents user→kernel modification. VBS/HVCI (Windows) protects kernel structures. LSM hooks provide additional enforcement beyond seccomp. Namespaced seccomp filters are tracked per-namespace to detect tampering.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square">
            <a:spAutoFit/>
          </a:bodyPr>
          <a:lstStyle/>
          <a:p>
            <a:pPr algn="l">
              <a:defRPr sz="2600" b="1">
                <a:solidFill>
                  <a:srgbClr val="FFFFFF"/>
                </a:solidFill>
                <a:latin typeface="Calibri"/>
              </a:defRPr>
            </a:pPr>
            <a:r>
              <a:t>Kernel vs Userspace Exploitation Comparison</a:t>
            </a:r>
          </a:p>
        </p:txBody>
      </p:sp>
      <p:sp>
        <p:nvSpPr>
          <p:cNvPr id="3" name="Rectangle 2"/>
          <p:cNvSpPr/>
          <p:nvPr/>
        </p:nvSpPr>
        <p:spPr>
          <a:xfrm>
            <a:off x="457200" y="82296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3657600" cy="365760"/>
          </a:xfrm>
          <a:prstGeom prst="rect">
            <a:avLst/>
          </a:prstGeom>
          <a:noFill/>
        </p:spPr>
        <p:txBody>
          <a:bodyPr wrap="square">
            <a:spAutoFit/>
          </a:bodyPr>
          <a:lstStyle/>
          <a:p>
            <a:pPr algn="l">
              <a:defRPr sz="1600" b="1">
                <a:solidFill>
                  <a:srgbClr val="FF4444"/>
                </a:solidFill>
                <a:latin typeface="Calibri"/>
              </a:defRPr>
            </a:pPr>
            <a:r>
              <a:t>Kernel Exploitation</a:t>
            </a:r>
          </a:p>
        </p:txBody>
      </p:sp>
      <p:sp>
        <p:nvSpPr>
          <p:cNvPr id="5" name="TextBox 4"/>
          <p:cNvSpPr txBox="1"/>
          <p:nvPr/>
        </p:nvSpPr>
        <p:spPr>
          <a:xfrm>
            <a:off x="4846320" y="914400"/>
            <a:ext cx="3657600" cy="365760"/>
          </a:xfrm>
          <a:prstGeom prst="rect">
            <a:avLst/>
          </a:prstGeom>
          <a:noFill/>
        </p:spPr>
        <p:txBody>
          <a:bodyPr wrap="square">
            <a:spAutoFit/>
          </a:bodyPr>
          <a:lstStyle/>
          <a:p>
            <a:pPr algn="l">
              <a:defRPr sz="1600" b="1">
                <a:solidFill>
                  <a:srgbClr val="00D4FF"/>
                </a:solidFill>
                <a:latin typeface="Calibri"/>
              </a:defRPr>
            </a:pPr>
            <a:r>
              <a:t>Userspace Exploitation</a:t>
            </a:r>
          </a:p>
        </p:txBody>
      </p:sp>
      <p:sp>
        <p:nvSpPr>
          <p:cNvPr id="6" name="Rectangle 5"/>
          <p:cNvSpPr/>
          <p:nvPr/>
        </p:nvSpPr>
        <p:spPr>
          <a:xfrm>
            <a:off x="457200" y="1280160"/>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Single address space (no ASLR per-proc)</a:t>
            </a:r>
          </a:p>
        </p:txBody>
      </p:sp>
      <p:sp>
        <p:nvSpPr>
          <p:cNvPr id="7" name="Rectangle 6"/>
          <p:cNvSpPr/>
          <p:nvPr/>
        </p:nvSpPr>
        <p:spPr>
          <a:xfrm>
            <a:off x="457200" y="1755648"/>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No stack canaries on many paths</a:t>
            </a:r>
          </a:p>
        </p:txBody>
      </p:sp>
      <p:sp>
        <p:nvSpPr>
          <p:cNvPr id="8" name="Rectangle 7"/>
          <p:cNvSpPr/>
          <p:nvPr/>
        </p:nvSpPr>
        <p:spPr>
          <a:xfrm>
            <a:off x="457200" y="2231136"/>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Shared heap (SLUB) — predictable</a:t>
            </a:r>
          </a:p>
        </p:txBody>
      </p:sp>
      <p:sp>
        <p:nvSpPr>
          <p:cNvPr id="9" name="Rectangle 8"/>
          <p:cNvSpPr/>
          <p:nvPr/>
        </p:nvSpPr>
        <p:spPr>
          <a:xfrm>
            <a:off x="457200" y="2706624"/>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One exploit = full system control</a:t>
            </a:r>
          </a:p>
        </p:txBody>
      </p:sp>
      <p:sp>
        <p:nvSpPr>
          <p:cNvPr id="10" name="Rectangle 9"/>
          <p:cNvSpPr/>
          <p:nvPr/>
        </p:nvSpPr>
        <p:spPr>
          <a:xfrm>
            <a:off x="457200" y="3182112"/>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SMEP/SMAP prevent ret2usr</a:t>
            </a:r>
          </a:p>
        </p:txBody>
      </p:sp>
      <p:sp>
        <p:nvSpPr>
          <p:cNvPr id="11" name="Rectangle 10"/>
          <p:cNvSpPr/>
          <p:nvPr/>
        </p:nvSpPr>
        <p:spPr>
          <a:xfrm>
            <a:off x="457200" y="3657600"/>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No FORTIFY_SOURCE by default</a:t>
            </a:r>
          </a:p>
        </p:txBody>
      </p:sp>
      <p:sp>
        <p:nvSpPr>
          <p:cNvPr id="12" name="Rectangle 11"/>
          <p:cNvSpPr/>
          <p:nvPr/>
        </p:nvSpPr>
        <p:spPr>
          <a:xfrm>
            <a:off x="457200" y="4133088"/>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kCFI (Clang) — recent addition</a:t>
            </a:r>
          </a:p>
        </p:txBody>
      </p:sp>
      <p:sp>
        <p:nvSpPr>
          <p:cNvPr id="13" name="Rectangle 12"/>
          <p:cNvSpPr/>
          <p:nvPr/>
        </p:nvSpPr>
        <p:spPr>
          <a:xfrm>
            <a:off x="457200" y="4608576"/>
            <a:ext cx="3931920" cy="411480"/>
          </a:xfrm>
          <a:prstGeom prst="rect">
            <a:avLst/>
          </a:prstGeom>
          <a:solidFill>
            <a:srgbClr val="1E1E38"/>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Root cred overwrite = game over</a:t>
            </a:r>
          </a:p>
        </p:txBody>
      </p:sp>
      <p:sp>
        <p:nvSpPr>
          <p:cNvPr id="14" name="Rectangle 13"/>
          <p:cNvSpPr/>
          <p:nvPr/>
        </p:nvSpPr>
        <p:spPr>
          <a:xfrm>
            <a:off x="4846320" y="1280160"/>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Per-process ASLR (28-bit entropy)</a:t>
            </a:r>
          </a:p>
        </p:txBody>
      </p:sp>
      <p:sp>
        <p:nvSpPr>
          <p:cNvPr id="15" name="Rectangle 14"/>
          <p:cNvSpPr/>
          <p:nvPr/>
        </p:nvSpPr>
        <p:spPr>
          <a:xfrm>
            <a:off x="4846320" y="1755648"/>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Stack canaries standard (-fstack-protector)</a:t>
            </a:r>
          </a:p>
        </p:txBody>
      </p:sp>
      <p:sp>
        <p:nvSpPr>
          <p:cNvPr id="16" name="Rectangle 15"/>
          <p:cNvSpPr/>
          <p:nvPr/>
        </p:nvSpPr>
        <p:spPr>
          <a:xfrm>
            <a:off x="4846320" y="2231136"/>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glibc heap — Safe-Linking, tcache key</a:t>
            </a:r>
          </a:p>
        </p:txBody>
      </p:sp>
      <p:sp>
        <p:nvSpPr>
          <p:cNvPr id="17" name="Rectangle 16"/>
          <p:cNvSpPr/>
          <p:nvPr/>
        </p:nvSpPr>
        <p:spPr>
          <a:xfrm>
            <a:off x="4846320" y="2706624"/>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Process isolation limits blast radius</a:t>
            </a:r>
          </a:p>
        </p:txBody>
      </p:sp>
      <p:sp>
        <p:nvSpPr>
          <p:cNvPr id="18" name="Rectangle 17"/>
          <p:cNvSpPr/>
          <p:nvPr/>
        </p:nvSpPr>
        <p:spPr>
          <a:xfrm>
            <a:off x="4846320" y="3182112"/>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Full RELRO + PIE standard</a:t>
            </a:r>
          </a:p>
        </p:txBody>
      </p:sp>
      <p:sp>
        <p:nvSpPr>
          <p:cNvPr id="19" name="Rectangle 18"/>
          <p:cNvSpPr/>
          <p:nvPr/>
        </p:nvSpPr>
        <p:spPr>
          <a:xfrm>
            <a:off x="4846320" y="3657600"/>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FORTIFY_SOURCE on by default (distros)</a:t>
            </a:r>
          </a:p>
        </p:txBody>
      </p:sp>
      <p:sp>
        <p:nvSpPr>
          <p:cNvPr id="20" name="Rectangle 19"/>
          <p:cNvSpPr/>
          <p:nvPr/>
        </p:nvSpPr>
        <p:spPr>
          <a:xfrm>
            <a:off x="4846320" y="4133088"/>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CFI/CET/PAC maturing</a:t>
            </a:r>
          </a:p>
        </p:txBody>
      </p:sp>
      <p:sp>
        <p:nvSpPr>
          <p:cNvPr id="21" name="Rectangle 20"/>
          <p:cNvSpPr/>
          <p:nvPr/>
        </p:nvSpPr>
        <p:spPr>
          <a:xfrm>
            <a:off x="4846320" y="4608576"/>
            <a:ext cx="3931920" cy="411480"/>
          </a:xfrm>
          <a:prstGeom prst="rect">
            <a:avLst/>
          </a:prstGeom>
          <a:solidFill>
            <a:srgbClr val="1E1E38"/>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BBBBBB"/>
                </a:solidFill>
              </a:defRPr>
            </a:pPr>
            <a:r>
              <a:t>Sandbox escape still needed (Chrome, etc.)</a:t>
            </a:r>
          </a:p>
        </p:txBody>
      </p:sp>
      <p:sp>
        <p:nvSpPr>
          <p:cNvPr id="22" name="TextBox 21"/>
          <p:cNvSpPr txBox="1"/>
          <p:nvPr/>
        </p:nvSpPr>
        <p:spPr>
          <a:xfrm>
            <a:off x="457200" y="5303520"/>
            <a:ext cx="8229600" cy="1097280"/>
          </a:xfrm>
          <a:prstGeom prst="rect">
            <a:avLst/>
          </a:prstGeom>
          <a:noFill/>
        </p:spPr>
        <p:txBody>
          <a:bodyPr wrap="square">
            <a:spAutoFit/>
          </a:bodyPr>
          <a:lstStyle/>
          <a:p>
            <a:pPr algn="l">
              <a:defRPr sz="1100" b="0">
                <a:solidFill>
                  <a:srgbClr val="BBBBBB"/>
                </a:solidFill>
                <a:latin typeface="Calibri"/>
              </a:defRPr>
            </a:pPr>
            <a:r>
              <a:t>Kernel exploitation yields higher impact (full system compromise) but is harder to stabilize (system crashes on failure). Userspace exploitation is more forgiving (process crashes, can retry) but requires additional sandbox escapes for full impact.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l">
              <a:defRPr sz="2600" b="1">
                <a:solidFill>
                  <a:srgbClr val="FFFFFF"/>
                </a:solidFill>
                <a:latin typeface="Calibri"/>
              </a:defRPr>
            </a:pPr>
            <a:r>
              <a:t>Defense &amp; Mitigation Landscape</a:t>
            </a:r>
          </a:p>
        </p:txBody>
      </p:sp>
      <p:sp>
        <p:nvSpPr>
          <p:cNvPr id="3" name="Rectangle 2"/>
          <p:cNvSpPr/>
          <p:nvPr/>
        </p:nvSpPr>
        <p:spPr>
          <a:xfrm>
            <a:off x="457200" y="914400"/>
            <a:ext cx="8229600" cy="254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Stack: canaries + NX + ASLR + Shadow Stack (CET) + SafeStack</a:t>
            </a:r>
          </a:p>
        </p:txBody>
      </p:sp>
      <p:sp>
        <p:nvSpPr>
          <p:cNvPr id="5" name="Rectangle 4"/>
          <p:cNvSpPr/>
          <p:nvPr/>
        </p:nvSpPr>
        <p:spPr>
          <a:xfrm>
            <a:off x="457200" y="201168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Heap: Safe-Linking + tcache key + FORTIFY + jemalloc/PartitionAlloc</a:t>
            </a:r>
          </a:p>
        </p:txBody>
      </p:sp>
      <p:sp>
        <p:nvSpPr>
          <p:cNvPr id="6" name="Rectangle 5"/>
          <p:cNvSpPr/>
          <p:nvPr/>
        </p:nvSpPr>
        <p:spPr>
          <a:xfrm>
            <a:off x="457200" y="274320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Kernel: KASLR + SMEP + SMAP + kCFI + SLAB_FREELIST_HARDENED</a:t>
            </a:r>
          </a:p>
        </p:txBody>
      </p:sp>
      <p:sp>
        <p:nvSpPr>
          <p:cNvPr id="7" name="Rectangle 6"/>
          <p:cNvSpPr/>
          <p:nvPr/>
        </p:nvSpPr>
        <p:spPr>
          <a:xfrm>
            <a:off x="457200" y="347472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Compile: -fstack-protector-strong -D_FORTIFY_SOURCE=3 -fcf-protection</a:t>
            </a:r>
          </a:p>
        </p:txBody>
      </p:sp>
      <p:sp>
        <p:nvSpPr>
          <p:cNvPr id="8" name="Rectangle 7"/>
          <p:cNvSpPr/>
          <p:nvPr/>
        </p:nvSpPr>
        <p:spPr>
          <a:xfrm>
            <a:off x="457200" y="420624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Runtime: seccomp-BPF + namespaces + capabilities + LSM policies</a:t>
            </a:r>
          </a:p>
        </p:txBody>
      </p:sp>
      <p:sp>
        <p:nvSpPr>
          <p:cNvPr id="9" name="Rectangle 8"/>
          <p:cNvSpPr/>
          <p:nvPr/>
        </p:nvSpPr>
        <p:spPr>
          <a:xfrm>
            <a:off x="457200" y="4937760"/>
            <a:ext cx="8229600" cy="640080"/>
          </a:xfrm>
          <a:prstGeom prst="rect">
            <a:avLst/>
          </a:prstGeom>
          <a:solidFill>
            <a:srgbClr val="1A2A1A"/>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FFFFFF"/>
                </a:solidFill>
              </a:defRPr>
            </a:pPr>
            <a:r>
              <a:t>✓  Fuzzing: syzkaller (kernel), AFL++/libFuzzer (userspace) for proactive discovery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24"/>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l">
              <a:defRPr sz="2600" b="1">
                <a:solidFill>
                  <a:srgbClr val="FFFFFF"/>
                </a:solidFill>
                <a:latin typeface="Calibri"/>
              </a:defRPr>
            </a:pPr>
            <a:r>
              <a:t>Cross-Reference Map</a:t>
            </a:r>
          </a:p>
        </p:txBody>
      </p:sp>
      <p:sp>
        <p:nvSpPr>
          <p:cNvPr id="3" name="Rectangle 2"/>
          <p:cNvSpPr/>
          <p:nvPr/>
        </p:nvSpPr>
        <p:spPr>
          <a:xfrm>
            <a:off x="457200" y="914400"/>
            <a:ext cx="8229600" cy="2540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772400" cy="320040"/>
          </a:xfrm>
          <a:prstGeom prst="rect">
            <a:avLst/>
          </a:prstGeom>
          <a:noFill/>
        </p:spPr>
        <p:txBody>
          <a:bodyPr wrap="square">
            <a:spAutoFit/>
          </a:bodyPr>
          <a:lstStyle/>
          <a:p>
            <a:pPr algn="l">
              <a:defRPr sz="1400" b="1">
                <a:solidFill>
                  <a:srgbClr val="BB86FC"/>
                </a:solidFill>
                <a:latin typeface="Calibri"/>
              </a:defRPr>
            </a:pPr>
            <a:r>
              <a:t>Domain 1-2 — Binary Formats &amp; Memory</a:t>
            </a:r>
          </a:p>
          <a:p>
            <a:pPr algn="l">
              <a:spcBef>
                <a:spcPts val="600"/>
              </a:spcBef>
              <a:defRPr sz="1200" b="0">
                <a:solidFill>
                  <a:srgbClr val="BBBBBB"/>
                </a:solidFill>
              </a:defRPr>
            </a:pPr>
            <a:r>
              <a:t>ELF/PE structure, virtual memory layout, and allocator internals are prerequisites.</a:t>
            </a:r>
          </a:p>
        </p:txBody>
      </p:sp>
      <p:sp>
        <p:nvSpPr>
          <p:cNvPr id="5" name="TextBox 4"/>
          <p:cNvSpPr txBox="1"/>
          <p:nvPr/>
        </p:nvSpPr>
        <p:spPr>
          <a:xfrm>
            <a:off x="640080" y="1783080"/>
            <a:ext cx="7772400" cy="320040"/>
          </a:xfrm>
          <a:prstGeom prst="rect">
            <a:avLst/>
          </a:prstGeom>
          <a:noFill/>
        </p:spPr>
        <p:txBody>
          <a:bodyPr wrap="square">
            <a:spAutoFit/>
          </a:bodyPr>
          <a:lstStyle/>
          <a:p>
            <a:pPr algn="l">
              <a:defRPr sz="1400" b="1">
                <a:solidFill>
                  <a:srgbClr val="BB86FC"/>
                </a:solidFill>
                <a:latin typeface="Calibri"/>
              </a:defRPr>
            </a:pPr>
            <a:r>
              <a:t>Domain 4 — Code Reuse Attacks</a:t>
            </a:r>
          </a:p>
          <a:p>
            <a:pPr algn="l">
              <a:spcBef>
                <a:spcPts val="600"/>
              </a:spcBef>
              <a:defRPr sz="1200" b="0">
                <a:solidFill>
                  <a:srgbClr val="BBBBBB"/>
                </a:solidFill>
              </a:defRPr>
            </a:pPr>
            <a:r>
              <a:t>ROP/JOP techniques used to chain kernel exploitation primitives after gaining RIP control.</a:t>
            </a:r>
          </a:p>
        </p:txBody>
      </p:sp>
      <p:sp>
        <p:nvSpPr>
          <p:cNvPr id="6" name="TextBox 5"/>
          <p:cNvSpPr txBox="1"/>
          <p:nvPr/>
        </p:nvSpPr>
        <p:spPr>
          <a:xfrm>
            <a:off x="640080" y="2377440"/>
            <a:ext cx="7772400" cy="320040"/>
          </a:xfrm>
          <a:prstGeom prst="rect">
            <a:avLst/>
          </a:prstGeom>
          <a:noFill/>
        </p:spPr>
        <p:txBody>
          <a:bodyPr wrap="square">
            <a:spAutoFit/>
          </a:bodyPr>
          <a:lstStyle/>
          <a:p>
            <a:pPr algn="l">
              <a:defRPr sz="1400" b="1">
                <a:solidFill>
                  <a:srgbClr val="BB86FC"/>
                </a:solidFill>
                <a:latin typeface="Calibri"/>
              </a:defRPr>
            </a:pPr>
            <a:r>
              <a:t>Domain 6 — Mitigation Bypass</a:t>
            </a:r>
          </a:p>
          <a:p>
            <a:pPr algn="l">
              <a:spcBef>
                <a:spcPts val="600"/>
              </a:spcBef>
              <a:defRPr sz="1200" b="0">
                <a:solidFill>
                  <a:srgbClr val="BBBBBB"/>
                </a:solidFill>
              </a:defRPr>
            </a:pPr>
            <a:r>
              <a:t>KASLR, SMEP, SMAP, KPTI bypass techniques built on top of these primitives.</a:t>
            </a:r>
          </a:p>
        </p:txBody>
      </p:sp>
      <p:sp>
        <p:nvSpPr>
          <p:cNvPr id="7" name="TextBox 6"/>
          <p:cNvSpPr txBox="1"/>
          <p:nvPr/>
        </p:nvSpPr>
        <p:spPr>
          <a:xfrm>
            <a:off x="640080" y="2971800"/>
            <a:ext cx="7772400" cy="320040"/>
          </a:xfrm>
          <a:prstGeom prst="rect">
            <a:avLst/>
          </a:prstGeom>
          <a:noFill/>
        </p:spPr>
        <p:txBody>
          <a:bodyPr wrap="square">
            <a:spAutoFit/>
          </a:bodyPr>
          <a:lstStyle/>
          <a:p>
            <a:pPr algn="l">
              <a:defRPr sz="1400" b="1">
                <a:solidFill>
                  <a:srgbClr val="BB86FC"/>
                </a:solidFill>
                <a:latin typeface="Calibri"/>
              </a:defRPr>
            </a:pPr>
            <a:r>
              <a:t>Domain 7 — Hardware Attacks</a:t>
            </a:r>
          </a:p>
          <a:p>
            <a:pPr algn="l">
              <a:spcBef>
                <a:spcPts val="600"/>
              </a:spcBef>
              <a:defRPr sz="1200" b="0">
                <a:solidFill>
                  <a:srgbClr val="BBBBBB"/>
                </a:solidFill>
              </a:defRPr>
            </a:pPr>
            <a:r>
              <a:t>Spectre/Meltdown provide information leaks; Rowhammer enables physical page corruption.</a:t>
            </a:r>
          </a:p>
        </p:txBody>
      </p:sp>
      <p:sp>
        <p:nvSpPr>
          <p:cNvPr id="8" name="TextBox 7"/>
          <p:cNvSpPr txBox="1"/>
          <p:nvPr/>
        </p:nvSpPr>
        <p:spPr>
          <a:xfrm>
            <a:off x="640080" y="3566160"/>
            <a:ext cx="7772400" cy="320040"/>
          </a:xfrm>
          <a:prstGeom prst="rect">
            <a:avLst/>
          </a:prstGeom>
          <a:noFill/>
        </p:spPr>
        <p:txBody>
          <a:bodyPr wrap="square">
            <a:spAutoFit/>
          </a:bodyPr>
          <a:lstStyle/>
          <a:p>
            <a:pPr algn="l">
              <a:defRPr sz="1400" b="1">
                <a:solidFill>
                  <a:srgbClr val="BB86FC"/>
                </a:solidFill>
                <a:latin typeface="Calibri"/>
              </a:defRPr>
            </a:pPr>
            <a:r>
              <a:t>Domain 10 — Containers</a:t>
            </a:r>
          </a:p>
          <a:p>
            <a:pPr algn="l">
              <a:spcBef>
                <a:spcPts val="600"/>
              </a:spcBef>
              <a:defRPr sz="1200" b="0">
                <a:solidFill>
                  <a:srgbClr val="BBBBBB"/>
                </a:solidFill>
              </a:defRPr>
            </a:pPr>
            <a:r>
              <a:t>Kernel exploits are the primary container escape vector.</a:t>
            </a:r>
          </a:p>
        </p:txBody>
      </p:sp>
      <p:sp>
        <p:nvSpPr>
          <p:cNvPr id="9" name="TextBox 8"/>
          <p:cNvSpPr txBox="1"/>
          <p:nvPr/>
        </p:nvSpPr>
        <p:spPr>
          <a:xfrm>
            <a:off x="640080" y="4160520"/>
            <a:ext cx="7772400" cy="320040"/>
          </a:xfrm>
          <a:prstGeom prst="rect">
            <a:avLst/>
          </a:prstGeom>
          <a:noFill/>
        </p:spPr>
        <p:txBody>
          <a:bodyPr wrap="square">
            <a:spAutoFit/>
          </a:bodyPr>
          <a:lstStyle/>
          <a:p>
            <a:pPr algn="l">
              <a:defRPr sz="1400" b="1">
                <a:solidFill>
                  <a:srgbClr val="BB86FC"/>
                </a:solidFill>
                <a:latin typeface="Calibri"/>
              </a:defRPr>
            </a:pPr>
            <a:r>
              <a:t>Domain 26 — Vulnerability Research</a:t>
            </a:r>
          </a:p>
          <a:p>
            <a:pPr algn="l">
              <a:spcBef>
                <a:spcPts val="600"/>
              </a:spcBef>
              <a:defRPr sz="1200" b="0">
                <a:solidFill>
                  <a:srgbClr val="BBBBBB"/>
                </a:solidFill>
              </a:defRPr>
            </a:pPr>
            <a:r>
              <a:t>Fuzzing (syzkaller) and auditing discover the bugs exploited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